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embeddedFontLst>
    <p:embeddedFont>
      <p:font typeface="Liter" charset="-122" pitchFamily="34"/>
      <p:regular r:id="rId21"/>
    </p:embeddedFont>
    <p:embeddedFont>
      <p:font typeface="Oranienbaum" charset="-122" pitchFamily="3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54183b7bb8c8e1327defd799373c0f4e3f177562.jp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A4A4A">
                  <a:alpha val="85000"/>
                </a:srgbClr>
              </a:gs>
              <a:gs pos="50000">
                <a:srgbClr val="4A4A4A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2809875" cy="342900"/>
          </a:xfrm>
          <a:custGeom>
            <a:avLst/>
            <a:gdLst/>
            <a:ahLst/>
            <a:cxnLst/>
            <a:rect l="l" t="t" r="r" b="b"/>
            <a:pathLst>
              <a:path w="2809875" h="342900">
                <a:moveTo>
                  <a:pt x="0" y="0"/>
                </a:moveTo>
                <a:lnTo>
                  <a:pt x="2809875" y="0"/>
                </a:lnTo>
                <a:lnTo>
                  <a:pt x="28098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5" name="Text 2"/>
          <p:cNvSpPr/>
          <p:nvPr/>
        </p:nvSpPr>
        <p:spPr>
          <a:xfrm>
            <a:off x="381000" y="381000"/>
            <a:ext cx="2876550" cy="3429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spc="210" kern="0" dirty="0">
                <a:solidFill>
                  <a:srgbClr val="F8F5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MVP DEVELOPMENT PROJECT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84260" y="381000"/>
            <a:ext cx="89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5F2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October 2023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317552"/>
            <a:ext cx="7658100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Fashion Boutique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Online Store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05467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321373"/>
            <a:ext cx="7429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8F5F2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Functional &amp; Technical Requirements Overview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00050" y="6315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11" name="Text 8"/>
          <p:cNvSpPr/>
          <p:nvPr/>
        </p:nvSpPr>
        <p:spPr>
          <a:xfrm>
            <a:off x="623888" y="6286500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5F2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40-Hour Timeline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010966" y="6315075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35421" y="6251"/>
                </a:moveTo>
                <a:cubicBezTo>
                  <a:pt x="35421" y="2787"/>
                  <a:pt x="38208" y="0"/>
                  <a:pt x="41672" y="0"/>
                </a:cubicBezTo>
                <a:cubicBezTo>
                  <a:pt x="45136" y="0"/>
                  <a:pt x="47923" y="2787"/>
                  <a:pt x="47923" y="6251"/>
                </a:cubicBezTo>
                <a:lnTo>
                  <a:pt x="47923" y="16669"/>
                </a:lnTo>
                <a:lnTo>
                  <a:pt x="62508" y="16669"/>
                </a:lnTo>
                <a:cubicBezTo>
                  <a:pt x="67118" y="16669"/>
                  <a:pt x="70842" y="20393"/>
                  <a:pt x="70842" y="25003"/>
                </a:cubicBezTo>
                <a:cubicBezTo>
                  <a:pt x="70842" y="29613"/>
                  <a:pt x="67118" y="33337"/>
                  <a:pt x="62508" y="33337"/>
                </a:cubicBezTo>
                <a:lnTo>
                  <a:pt x="32582" y="33337"/>
                </a:lnTo>
                <a:cubicBezTo>
                  <a:pt x="26097" y="33337"/>
                  <a:pt x="20836" y="38599"/>
                  <a:pt x="20836" y="45084"/>
                </a:cubicBezTo>
                <a:cubicBezTo>
                  <a:pt x="20836" y="50944"/>
                  <a:pt x="25133" y="55892"/>
                  <a:pt x="30915" y="56726"/>
                </a:cubicBezTo>
                <a:lnTo>
                  <a:pt x="54772" y="60138"/>
                </a:lnTo>
                <a:cubicBezTo>
                  <a:pt x="68785" y="62143"/>
                  <a:pt x="79177" y="74124"/>
                  <a:pt x="79177" y="88266"/>
                </a:cubicBezTo>
                <a:cubicBezTo>
                  <a:pt x="79177" y="103971"/>
                  <a:pt x="66441" y="116681"/>
                  <a:pt x="50762" y="116681"/>
                </a:cubicBezTo>
                <a:lnTo>
                  <a:pt x="47923" y="116681"/>
                </a:lnTo>
                <a:lnTo>
                  <a:pt x="47923" y="127099"/>
                </a:lnTo>
                <a:cubicBezTo>
                  <a:pt x="47923" y="130563"/>
                  <a:pt x="45136" y="133350"/>
                  <a:pt x="41672" y="133350"/>
                </a:cubicBezTo>
                <a:cubicBezTo>
                  <a:pt x="38208" y="133350"/>
                  <a:pt x="35421" y="130563"/>
                  <a:pt x="35421" y="127099"/>
                </a:cubicBezTo>
                <a:lnTo>
                  <a:pt x="35421" y="116681"/>
                </a:lnTo>
                <a:lnTo>
                  <a:pt x="16669" y="116681"/>
                </a:lnTo>
                <a:cubicBezTo>
                  <a:pt x="12059" y="116681"/>
                  <a:pt x="8334" y="112957"/>
                  <a:pt x="8334" y="108347"/>
                </a:cubicBezTo>
                <a:cubicBezTo>
                  <a:pt x="8334" y="103737"/>
                  <a:pt x="12059" y="100013"/>
                  <a:pt x="16669" y="100013"/>
                </a:cubicBezTo>
                <a:lnTo>
                  <a:pt x="50762" y="100013"/>
                </a:lnTo>
                <a:cubicBezTo>
                  <a:pt x="57247" y="100013"/>
                  <a:pt x="62508" y="94751"/>
                  <a:pt x="62508" y="88266"/>
                </a:cubicBezTo>
                <a:cubicBezTo>
                  <a:pt x="62508" y="82406"/>
                  <a:pt x="58210" y="77458"/>
                  <a:pt x="52428" y="76624"/>
                </a:cubicBezTo>
                <a:lnTo>
                  <a:pt x="28571" y="73212"/>
                </a:lnTo>
                <a:cubicBezTo>
                  <a:pt x="14559" y="71233"/>
                  <a:pt x="4167" y="59226"/>
                  <a:pt x="4167" y="45084"/>
                </a:cubicBezTo>
                <a:cubicBezTo>
                  <a:pt x="4167" y="29405"/>
                  <a:pt x="16903" y="16669"/>
                  <a:pt x="32582" y="16669"/>
                </a:cubicBezTo>
                <a:lnTo>
                  <a:pt x="35421" y="16669"/>
                </a:lnTo>
                <a:lnTo>
                  <a:pt x="35421" y="6251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13" name="Text 10"/>
          <p:cNvSpPr/>
          <p:nvPr/>
        </p:nvSpPr>
        <p:spPr>
          <a:xfrm>
            <a:off x="2209800" y="6286500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5F2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$0 Budget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146227" y="63150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93970" y="313"/>
                </a:moveTo>
                <a:cubicBezTo>
                  <a:pt x="89542" y="-964"/>
                  <a:pt x="84932" y="1615"/>
                  <a:pt x="83656" y="6042"/>
                </a:cubicBezTo>
                <a:lnTo>
                  <a:pt x="50319" y="122724"/>
                </a:lnTo>
                <a:cubicBezTo>
                  <a:pt x="49043" y="127151"/>
                  <a:pt x="51621" y="131761"/>
                  <a:pt x="56049" y="133037"/>
                </a:cubicBezTo>
                <a:cubicBezTo>
                  <a:pt x="60476" y="134314"/>
                  <a:pt x="65086" y="131735"/>
                  <a:pt x="66362" y="127308"/>
                </a:cubicBezTo>
                <a:lnTo>
                  <a:pt x="99700" y="10626"/>
                </a:lnTo>
                <a:cubicBezTo>
                  <a:pt x="100976" y="6199"/>
                  <a:pt x="98398" y="1589"/>
                  <a:pt x="93970" y="313"/>
                </a:cubicBezTo>
                <a:close/>
                <a:moveTo>
                  <a:pt x="110795" y="35760"/>
                </a:moveTo>
                <a:cubicBezTo>
                  <a:pt x="107539" y="39015"/>
                  <a:pt x="107539" y="44302"/>
                  <a:pt x="110795" y="47558"/>
                </a:cubicBezTo>
                <a:lnTo>
                  <a:pt x="129912" y="66675"/>
                </a:lnTo>
                <a:lnTo>
                  <a:pt x="110795" y="85792"/>
                </a:lnTo>
                <a:cubicBezTo>
                  <a:pt x="107539" y="89048"/>
                  <a:pt x="107539" y="94335"/>
                  <a:pt x="110795" y="97590"/>
                </a:cubicBezTo>
                <a:cubicBezTo>
                  <a:pt x="114051" y="100846"/>
                  <a:pt x="119338" y="100846"/>
                  <a:pt x="122593" y="97590"/>
                </a:cubicBezTo>
                <a:lnTo>
                  <a:pt x="147597" y="72587"/>
                </a:lnTo>
                <a:cubicBezTo>
                  <a:pt x="150852" y="69332"/>
                  <a:pt x="150852" y="64044"/>
                  <a:pt x="147597" y="60789"/>
                </a:cubicBezTo>
                <a:lnTo>
                  <a:pt x="122593" y="35786"/>
                </a:lnTo>
                <a:cubicBezTo>
                  <a:pt x="119338" y="32530"/>
                  <a:pt x="114051" y="32530"/>
                  <a:pt x="110795" y="35786"/>
                </a:cubicBezTo>
                <a:close/>
                <a:moveTo>
                  <a:pt x="39250" y="35760"/>
                </a:moveTo>
                <a:cubicBezTo>
                  <a:pt x="35994" y="32504"/>
                  <a:pt x="30707" y="32504"/>
                  <a:pt x="27451" y="35760"/>
                </a:cubicBezTo>
                <a:lnTo>
                  <a:pt x="2448" y="60763"/>
                </a:lnTo>
                <a:cubicBezTo>
                  <a:pt x="-807" y="64018"/>
                  <a:pt x="-807" y="69306"/>
                  <a:pt x="2448" y="72561"/>
                </a:cubicBezTo>
                <a:lnTo>
                  <a:pt x="27451" y="97564"/>
                </a:lnTo>
                <a:cubicBezTo>
                  <a:pt x="30707" y="100820"/>
                  <a:pt x="35994" y="100820"/>
                  <a:pt x="39250" y="97564"/>
                </a:cubicBezTo>
                <a:cubicBezTo>
                  <a:pt x="42505" y="94309"/>
                  <a:pt x="42505" y="89022"/>
                  <a:pt x="39250" y="85766"/>
                </a:cubicBezTo>
                <a:lnTo>
                  <a:pt x="20133" y="66675"/>
                </a:lnTo>
                <a:lnTo>
                  <a:pt x="39224" y="47558"/>
                </a:lnTo>
                <a:cubicBezTo>
                  <a:pt x="42479" y="44302"/>
                  <a:pt x="42479" y="39015"/>
                  <a:pt x="39224" y="35760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15" name="Text 12"/>
          <p:cNvSpPr/>
          <p:nvPr/>
        </p:nvSpPr>
        <p:spPr>
          <a:xfrm>
            <a:off x="3378398" y="6286500"/>
            <a:ext cx="80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5F2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MERN Stack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10" kern="0" dirty="0">
                <a:solidFill>
                  <a:srgbClr val="C8A4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60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6" name="Text 4"/>
          <p:cNvSpPr/>
          <p:nvPr/>
        </p:nvSpPr>
        <p:spPr>
          <a:xfrm>
            <a:off x="333375" y="16002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600" y="1676400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Project Vision &amp; Objectives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90600" y="1981200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vision, primary objective, and success criteria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24600" y="160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10" name="Text 8"/>
          <p:cNvSpPr/>
          <p:nvPr/>
        </p:nvSpPr>
        <p:spPr>
          <a:xfrm>
            <a:off x="6276975" y="16002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34200" y="1676400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Scope Definition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34200" y="1981200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In-scope and out-of-scope features for MVP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000" y="26211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14" name="Text 12"/>
          <p:cNvSpPr/>
          <p:nvPr/>
        </p:nvSpPr>
        <p:spPr>
          <a:xfrm>
            <a:off x="333375" y="2621161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90600" y="2697361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User Roles &amp; Permissions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0600" y="3002161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Three-tier access control system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24600" y="26211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18" name="Text 16"/>
          <p:cNvSpPr/>
          <p:nvPr/>
        </p:nvSpPr>
        <p:spPr>
          <a:xfrm>
            <a:off x="6276975" y="2621161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34200" y="2697361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Project Constraints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34200" y="3002161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Time, budget, hardware, and team limitations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1000" y="364227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2" name="Text 20"/>
          <p:cNvSpPr/>
          <p:nvPr/>
        </p:nvSpPr>
        <p:spPr>
          <a:xfrm>
            <a:off x="333375" y="3642271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0600" y="3718471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0600" y="4023271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MERN stack selection and rationale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24600" y="364227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6" name="Text 24"/>
          <p:cNvSpPr/>
          <p:nvPr/>
        </p:nvSpPr>
        <p:spPr>
          <a:xfrm>
            <a:off x="6276975" y="3642271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34200" y="3718471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34200" y="4023271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Three-tier architecture design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1000" y="46633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30" name="Text 28"/>
          <p:cNvSpPr/>
          <p:nvPr/>
        </p:nvSpPr>
        <p:spPr>
          <a:xfrm>
            <a:off x="333375" y="466338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90600" y="4739580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Functional Requirements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90600" y="5044380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Detailed feature specifications with DoD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24600" y="46633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34" name="Text 32"/>
          <p:cNvSpPr/>
          <p:nvPr/>
        </p:nvSpPr>
        <p:spPr>
          <a:xfrm>
            <a:off x="6276975" y="466338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34200" y="4739580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Security Implementation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34200" y="5044380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Authentication, authorization, and data protection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1000" y="568449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38" name="Text 36"/>
          <p:cNvSpPr/>
          <p:nvPr/>
        </p:nvSpPr>
        <p:spPr>
          <a:xfrm>
            <a:off x="333375" y="568449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09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90600" y="5760690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Development Timeline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90600" y="6065490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40-hour micro-sprint schedule and phasing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24600" y="568449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42" name="Text 40"/>
          <p:cNvSpPr/>
          <p:nvPr/>
        </p:nvSpPr>
        <p:spPr>
          <a:xfrm>
            <a:off x="6276975" y="568449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10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34200" y="5760690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Deployment Strategy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934200" y="6065490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Zero-cost infrastructure and hosting plan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10" kern="0" dirty="0">
                <a:solidFill>
                  <a:srgbClr val="C8A4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FOUNDATION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Vision &amp; Objectives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524000"/>
            <a:ext cx="5238750" cy="2028825"/>
          </a:xfrm>
          <a:custGeom>
            <a:avLst/>
            <a:gdLst/>
            <a:ahLst/>
            <a:cxnLst/>
            <a:rect l="l" t="t" r="r" b="b"/>
            <a:pathLst>
              <a:path w="5238750" h="2028825">
                <a:moveTo>
                  <a:pt x="0" y="0"/>
                </a:moveTo>
                <a:lnTo>
                  <a:pt x="5238750" y="0"/>
                </a:lnTo>
                <a:lnTo>
                  <a:pt x="5238750" y="2028825"/>
                </a:lnTo>
                <a:lnTo>
                  <a:pt x="0" y="20288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524000"/>
            <a:ext cx="38100" cy="2028825"/>
          </a:xfrm>
          <a:custGeom>
            <a:avLst/>
            <a:gdLst/>
            <a:ahLst/>
            <a:cxnLst/>
            <a:rect l="l" t="t" r="r" b="b"/>
            <a:pathLst>
              <a:path w="38100" h="2028825">
                <a:moveTo>
                  <a:pt x="0" y="0"/>
                </a:moveTo>
                <a:lnTo>
                  <a:pt x="38100" y="0"/>
                </a:lnTo>
                <a:lnTo>
                  <a:pt x="38100" y="2028825"/>
                </a:lnTo>
                <a:lnTo>
                  <a:pt x="0" y="2028825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7" name="Shape 5"/>
          <p:cNvSpPr/>
          <p:nvPr/>
        </p:nvSpPr>
        <p:spPr>
          <a:xfrm>
            <a:off x="661988" y="17907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14288"/>
                </a:moveTo>
                <a:cubicBezTo>
                  <a:pt x="92512" y="14288"/>
                  <a:pt x="63624" y="30718"/>
                  <a:pt x="42595" y="50274"/>
                </a:cubicBezTo>
                <a:cubicBezTo>
                  <a:pt x="21699" y="69696"/>
                  <a:pt x="7724" y="92869"/>
                  <a:pt x="1072" y="108808"/>
                </a:cubicBezTo>
                <a:cubicBezTo>
                  <a:pt x="-402" y="112335"/>
                  <a:pt x="-402" y="116265"/>
                  <a:pt x="1072" y="119792"/>
                </a:cubicBezTo>
                <a:cubicBezTo>
                  <a:pt x="7724" y="135731"/>
                  <a:pt x="21699" y="158948"/>
                  <a:pt x="42595" y="178326"/>
                </a:cubicBezTo>
                <a:cubicBezTo>
                  <a:pt x="63624" y="197837"/>
                  <a:pt x="92512" y="214313"/>
                  <a:pt x="128588" y="214313"/>
                </a:cubicBezTo>
                <a:cubicBezTo>
                  <a:pt x="164663" y="214313"/>
                  <a:pt x="193551" y="197882"/>
                  <a:pt x="214580" y="178326"/>
                </a:cubicBezTo>
                <a:cubicBezTo>
                  <a:pt x="235476" y="158904"/>
                  <a:pt x="249451" y="135731"/>
                  <a:pt x="256103" y="119792"/>
                </a:cubicBezTo>
                <a:cubicBezTo>
                  <a:pt x="257577" y="116265"/>
                  <a:pt x="257577" y="112335"/>
                  <a:pt x="256103" y="108808"/>
                </a:cubicBezTo>
                <a:cubicBezTo>
                  <a:pt x="249451" y="92869"/>
                  <a:pt x="235476" y="69652"/>
                  <a:pt x="214580" y="50274"/>
                </a:cubicBezTo>
                <a:cubicBezTo>
                  <a:pt x="193551" y="30763"/>
                  <a:pt x="164663" y="14287"/>
                  <a:pt x="128588" y="14287"/>
                </a:cubicBezTo>
                <a:close/>
                <a:moveTo>
                  <a:pt x="64294" y="114300"/>
                </a:moveTo>
                <a:cubicBezTo>
                  <a:pt x="64294" y="78815"/>
                  <a:pt x="93103" y="50006"/>
                  <a:pt x="128588" y="50006"/>
                </a:cubicBezTo>
                <a:cubicBezTo>
                  <a:pt x="164072" y="50006"/>
                  <a:pt x="192881" y="78815"/>
                  <a:pt x="192881" y="114300"/>
                </a:cubicBezTo>
                <a:cubicBezTo>
                  <a:pt x="192881" y="149785"/>
                  <a:pt x="164072" y="178594"/>
                  <a:pt x="128588" y="178594"/>
                </a:cubicBezTo>
                <a:cubicBezTo>
                  <a:pt x="93103" y="178594"/>
                  <a:pt x="64294" y="149785"/>
                  <a:pt x="64294" y="114300"/>
                </a:cubicBezTo>
                <a:close/>
                <a:moveTo>
                  <a:pt x="128588" y="85725"/>
                </a:moveTo>
                <a:cubicBezTo>
                  <a:pt x="128588" y="101486"/>
                  <a:pt x="115773" y="114300"/>
                  <a:pt x="100013" y="114300"/>
                </a:cubicBezTo>
                <a:cubicBezTo>
                  <a:pt x="94878" y="114300"/>
                  <a:pt x="90056" y="112961"/>
                  <a:pt x="85859" y="110550"/>
                </a:cubicBezTo>
                <a:cubicBezTo>
                  <a:pt x="85412" y="115416"/>
                  <a:pt x="85814" y="120417"/>
                  <a:pt x="87154" y="125373"/>
                </a:cubicBezTo>
                <a:cubicBezTo>
                  <a:pt x="93271" y="148233"/>
                  <a:pt x="116800" y="161806"/>
                  <a:pt x="139660" y="155689"/>
                </a:cubicBezTo>
                <a:cubicBezTo>
                  <a:pt x="162520" y="149572"/>
                  <a:pt x="176093" y="126043"/>
                  <a:pt x="169977" y="103183"/>
                </a:cubicBezTo>
                <a:cubicBezTo>
                  <a:pt x="164529" y="82778"/>
                  <a:pt x="145197" y="69786"/>
                  <a:pt x="124837" y="71571"/>
                </a:cubicBezTo>
                <a:cubicBezTo>
                  <a:pt x="127203" y="75724"/>
                  <a:pt x="128588" y="80546"/>
                  <a:pt x="128588" y="85725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1752600"/>
            <a:ext cx="66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Vision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7700" y="2209800"/>
            <a:ext cx="4848225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 create a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simple, elegant, and secure online storefront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extends the boutique's brand presence and enables 24/7 sales, delivering a seamless shopping experience that reflects the sophistication of our physical boutique.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3781425"/>
            <a:ext cx="5238750" cy="1752600"/>
          </a:xfrm>
          <a:custGeom>
            <a:avLst/>
            <a:gdLst/>
            <a:ahLst/>
            <a:cxnLst/>
            <a:rect l="l" t="t" r="r" b="b"/>
            <a:pathLst>
              <a:path w="5238750" h="1752600">
                <a:moveTo>
                  <a:pt x="0" y="0"/>
                </a:moveTo>
                <a:lnTo>
                  <a:pt x="5238750" y="0"/>
                </a:lnTo>
                <a:lnTo>
                  <a:pt x="5238750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00050" y="3781425"/>
            <a:ext cx="38100" cy="1752600"/>
          </a:xfrm>
          <a:custGeom>
            <a:avLst/>
            <a:gdLst/>
            <a:ahLst/>
            <a:cxnLst/>
            <a:rect l="l" t="t" r="r" b="b"/>
            <a:pathLst>
              <a:path w="38100" h="1752600">
                <a:moveTo>
                  <a:pt x="0" y="0"/>
                </a:moveTo>
                <a:lnTo>
                  <a:pt x="38100" y="0"/>
                </a:lnTo>
                <a:lnTo>
                  <a:pt x="38100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12" name="Shape 10"/>
          <p:cNvSpPr/>
          <p:nvPr/>
        </p:nvSpPr>
        <p:spPr>
          <a:xfrm>
            <a:off x="676275" y="40481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4010025"/>
            <a:ext cx="1733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Primary Objective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7700" y="4467225"/>
            <a:ext cx="48482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Launch a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Minimum Viable Product (MVP)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within severe time and budget constraints—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C8A4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 core hours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C8A4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 monetary budget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—while maintaining quality and security standards.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43600" y="1524000"/>
            <a:ext cx="5867400" cy="4953000"/>
          </a:xfrm>
          <a:custGeom>
            <a:avLst/>
            <a:gdLst/>
            <a:ahLst/>
            <a:cxnLst/>
            <a:rect l="l" t="t" r="r" b="b"/>
            <a:pathLst>
              <a:path w="5867400" h="4953000">
                <a:moveTo>
                  <a:pt x="0" y="0"/>
                </a:moveTo>
                <a:lnTo>
                  <a:pt x="5867400" y="0"/>
                </a:lnTo>
                <a:lnTo>
                  <a:pt x="5867400" y="4953000"/>
                </a:lnTo>
                <a:lnTo>
                  <a:pt x="0" y="4953000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6286500" y="18573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89979" y="118709"/>
                </a:moveTo>
                <a:lnTo>
                  <a:pt x="145331" y="190147"/>
                </a:lnTo>
                <a:cubicBezTo>
                  <a:pt x="142987" y="193886"/>
                  <a:pt x="138968" y="196230"/>
                  <a:pt x="134559" y="196453"/>
                </a:cubicBezTo>
                <a:cubicBezTo>
                  <a:pt x="130150" y="196676"/>
                  <a:pt x="125909" y="194667"/>
                  <a:pt x="123285" y="191095"/>
                </a:cubicBezTo>
                <a:lnTo>
                  <a:pt x="96496" y="155377"/>
                </a:lnTo>
                <a:cubicBezTo>
                  <a:pt x="92032" y="149461"/>
                  <a:pt x="93259" y="141089"/>
                  <a:pt x="99175" y="136624"/>
                </a:cubicBezTo>
                <a:cubicBezTo>
                  <a:pt x="105091" y="132159"/>
                  <a:pt x="113463" y="133387"/>
                  <a:pt x="117928" y="139303"/>
                </a:cubicBezTo>
                <a:lnTo>
                  <a:pt x="132997" y="159395"/>
                </a:lnTo>
                <a:lnTo>
                  <a:pt x="167264" y="104533"/>
                </a:lnTo>
                <a:cubicBezTo>
                  <a:pt x="171171" y="98282"/>
                  <a:pt x="179431" y="96329"/>
                  <a:pt x="185738" y="100292"/>
                </a:cubicBezTo>
                <a:cubicBezTo>
                  <a:pt x="192044" y="104254"/>
                  <a:pt x="193942" y="112458"/>
                  <a:pt x="189979" y="118765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17" name="Text 15"/>
          <p:cNvSpPr/>
          <p:nvPr/>
        </p:nvSpPr>
        <p:spPr>
          <a:xfrm>
            <a:off x="6719888" y="1828800"/>
            <a:ext cx="1952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Success Criteria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48400" y="2400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19" name="Text 17"/>
          <p:cNvSpPr/>
          <p:nvPr/>
        </p:nvSpPr>
        <p:spPr>
          <a:xfrm>
            <a:off x="6205538" y="24003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81800" y="2400300"/>
            <a:ext cx="481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Deployable System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81800" y="27432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5F2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fully functional e-commerce platform delivered within the 40-hour timeline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48400" y="3429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23" name="Text 21"/>
          <p:cNvSpPr/>
          <p:nvPr/>
        </p:nvSpPr>
        <p:spPr>
          <a:xfrm>
            <a:off x="6205538" y="34290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81800" y="3429000"/>
            <a:ext cx="481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Owner Independence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81800" y="37719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5F2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Boutique owner can independently manage all core operations without technical assistance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48400" y="4457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27" name="Text 25"/>
          <p:cNvSpPr/>
          <p:nvPr/>
        </p:nvSpPr>
        <p:spPr>
          <a:xfrm>
            <a:off x="6205538" y="44577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81800" y="4457700"/>
            <a:ext cx="481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Secure Transactions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81800" y="48006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5F2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Customers can browse, purchase, and complete transactions securely with confidence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780" y="361780"/>
            <a:ext cx="11531751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spc="199" kern="0" dirty="0">
                <a:solidFill>
                  <a:srgbClr val="C8A4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SCOPE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1780" y="615027"/>
            <a:ext cx="11685507" cy="4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18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In-Scope Features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1780" y="1121519"/>
            <a:ext cx="11549840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2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MVP functionality focused on essential e-commerce capabilities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1780" y="1519478"/>
            <a:ext cx="723561" cy="36178"/>
          </a:xfrm>
          <a:custGeom>
            <a:avLst/>
            <a:gdLst/>
            <a:ahLst/>
            <a:cxnLst/>
            <a:rect l="l" t="t" r="r" b="b"/>
            <a:pathLst>
              <a:path w="723561" h="36178">
                <a:moveTo>
                  <a:pt x="0" y="0"/>
                </a:moveTo>
                <a:lnTo>
                  <a:pt x="723561" y="0"/>
                </a:lnTo>
                <a:lnTo>
                  <a:pt x="723561" y="36178"/>
                </a:lnTo>
                <a:lnTo>
                  <a:pt x="0" y="36178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6" name="Shape 4"/>
          <p:cNvSpPr/>
          <p:nvPr/>
        </p:nvSpPr>
        <p:spPr>
          <a:xfrm>
            <a:off x="361780" y="1790813"/>
            <a:ext cx="5625685" cy="1971703"/>
          </a:xfrm>
          <a:custGeom>
            <a:avLst/>
            <a:gdLst/>
            <a:ahLst/>
            <a:cxnLst/>
            <a:rect l="l" t="t" r="r" b="b"/>
            <a:pathLst>
              <a:path w="5625685" h="1971703">
                <a:moveTo>
                  <a:pt x="0" y="0"/>
                </a:moveTo>
                <a:lnTo>
                  <a:pt x="5625685" y="0"/>
                </a:lnTo>
                <a:lnTo>
                  <a:pt x="5625685" y="1971703"/>
                </a:lnTo>
                <a:lnTo>
                  <a:pt x="0" y="19717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361780" y="1790813"/>
            <a:ext cx="5625685" cy="36178"/>
          </a:xfrm>
          <a:custGeom>
            <a:avLst/>
            <a:gdLst/>
            <a:ahLst/>
            <a:cxnLst/>
            <a:rect l="l" t="t" r="r" b="b"/>
            <a:pathLst>
              <a:path w="5625685" h="36178">
                <a:moveTo>
                  <a:pt x="0" y="0"/>
                </a:moveTo>
                <a:lnTo>
                  <a:pt x="5625685" y="0"/>
                </a:lnTo>
                <a:lnTo>
                  <a:pt x="5625685" y="36178"/>
                </a:lnTo>
                <a:lnTo>
                  <a:pt x="0" y="36178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8" name="Shape 6"/>
          <p:cNvSpPr/>
          <p:nvPr/>
        </p:nvSpPr>
        <p:spPr>
          <a:xfrm>
            <a:off x="578849" y="2025970"/>
            <a:ext cx="506493" cy="506493"/>
          </a:xfrm>
          <a:custGeom>
            <a:avLst/>
            <a:gdLst/>
            <a:ahLst/>
            <a:cxnLst/>
            <a:rect l="l" t="t" r="r" b="b"/>
            <a:pathLst>
              <a:path w="506493" h="506493">
                <a:moveTo>
                  <a:pt x="0" y="0"/>
                </a:moveTo>
                <a:lnTo>
                  <a:pt x="506493" y="0"/>
                </a:lnTo>
                <a:lnTo>
                  <a:pt x="506493" y="506493"/>
                </a:lnTo>
                <a:lnTo>
                  <a:pt x="0" y="506493"/>
                </a:lnTo>
                <a:lnTo>
                  <a:pt x="0" y="0"/>
                </a:lnTo>
                <a:close/>
              </a:path>
            </a:pathLst>
          </a:custGeom>
          <a:solidFill>
            <a:srgbClr val="C8A48C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23561" y="2170682"/>
            <a:ext cx="217068" cy="217068"/>
          </a:xfrm>
          <a:custGeom>
            <a:avLst/>
            <a:gdLst/>
            <a:ahLst/>
            <a:cxnLst/>
            <a:rect l="l" t="t" r="r" b="b"/>
            <a:pathLst>
              <a:path w="217068" h="217068">
                <a:moveTo>
                  <a:pt x="13016" y="30652"/>
                </a:moveTo>
                <a:cubicBezTo>
                  <a:pt x="15941" y="20520"/>
                  <a:pt x="25226" y="13567"/>
                  <a:pt x="35782" y="13567"/>
                </a:cubicBezTo>
                <a:lnTo>
                  <a:pt x="181625" y="13567"/>
                </a:lnTo>
                <a:cubicBezTo>
                  <a:pt x="192182" y="13567"/>
                  <a:pt x="201466" y="20520"/>
                  <a:pt x="204434" y="30652"/>
                </a:cubicBezTo>
                <a:lnTo>
                  <a:pt x="214355" y="64654"/>
                </a:lnTo>
                <a:cubicBezTo>
                  <a:pt x="219782" y="83181"/>
                  <a:pt x="205833" y="101751"/>
                  <a:pt x="186543" y="101751"/>
                </a:cubicBezTo>
                <a:cubicBezTo>
                  <a:pt x="175393" y="101751"/>
                  <a:pt x="165599" y="95434"/>
                  <a:pt x="160766" y="86022"/>
                </a:cubicBezTo>
                <a:cubicBezTo>
                  <a:pt x="155848" y="95307"/>
                  <a:pt x="146097" y="101751"/>
                  <a:pt x="134735" y="101751"/>
                </a:cubicBezTo>
                <a:cubicBezTo>
                  <a:pt x="123458" y="101751"/>
                  <a:pt x="113664" y="95391"/>
                  <a:pt x="108746" y="86064"/>
                </a:cubicBezTo>
                <a:cubicBezTo>
                  <a:pt x="103828" y="95391"/>
                  <a:pt x="94035" y="101751"/>
                  <a:pt x="82757" y="101751"/>
                </a:cubicBezTo>
                <a:cubicBezTo>
                  <a:pt x="71395" y="101751"/>
                  <a:pt x="61644" y="95349"/>
                  <a:pt x="56726" y="86022"/>
                </a:cubicBezTo>
                <a:cubicBezTo>
                  <a:pt x="51893" y="95391"/>
                  <a:pt x="42099" y="101751"/>
                  <a:pt x="30949" y="101751"/>
                </a:cubicBezTo>
                <a:cubicBezTo>
                  <a:pt x="11617" y="101751"/>
                  <a:pt x="-2289" y="83224"/>
                  <a:pt x="3137" y="64654"/>
                </a:cubicBezTo>
                <a:lnTo>
                  <a:pt x="13016" y="30652"/>
                </a:lnTo>
                <a:close/>
                <a:moveTo>
                  <a:pt x="40870" y="149234"/>
                </a:moveTo>
                <a:lnTo>
                  <a:pt x="176538" y="149234"/>
                </a:lnTo>
                <a:lnTo>
                  <a:pt x="176538" y="121083"/>
                </a:lnTo>
                <a:cubicBezTo>
                  <a:pt x="179760" y="121762"/>
                  <a:pt x="183109" y="122101"/>
                  <a:pt x="186501" y="122101"/>
                </a:cubicBezTo>
                <a:cubicBezTo>
                  <a:pt x="192563" y="122101"/>
                  <a:pt x="198372" y="120999"/>
                  <a:pt x="203671" y="119048"/>
                </a:cubicBezTo>
                <a:lnTo>
                  <a:pt x="203671" y="183151"/>
                </a:lnTo>
                <a:cubicBezTo>
                  <a:pt x="203671" y="194386"/>
                  <a:pt x="194556" y="203501"/>
                  <a:pt x="183321" y="203501"/>
                </a:cubicBezTo>
                <a:lnTo>
                  <a:pt x="34086" y="203501"/>
                </a:lnTo>
                <a:cubicBezTo>
                  <a:pt x="22852" y="203501"/>
                  <a:pt x="13736" y="194386"/>
                  <a:pt x="13736" y="183151"/>
                </a:cubicBezTo>
                <a:lnTo>
                  <a:pt x="13736" y="119048"/>
                </a:lnTo>
                <a:cubicBezTo>
                  <a:pt x="19036" y="120999"/>
                  <a:pt x="24802" y="122101"/>
                  <a:pt x="30907" y="122101"/>
                </a:cubicBezTo>
                <a:cubicBezTo>
                  <a:pt x="34341" y="122101"/>
                  <a:pt x="37648" y="121762"/>
                  <a:pt x="40870" y="121083"/>
                </a:cubicBezTo>
                <a:lnTo>
                  <a:pt x="40870" y="149234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10" name="Text 8"/>
          <p:cNvSpPr/>
          <p:nvPr/>
        </p:nvSpPr>
        <p:spPr>
          <a:xfrm>
            <a:off x="1230053" y="2134504"/>
            <a:ext cx="1483300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Product Catalog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8849" y="2677175"/>
            <a:ext cx="5263905" cy="470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9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Public-facing product catalog with intuitive browsing capabilities, enabling customers to discover and explore the boutique's collection effortlessly.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8849" y="3292202"/>
            <a:ext cx="1003941" cy="253246"/>
          </a:xfrm>
          <a:custGeom>
            <a:avLst/>
            <a:gdLst/>
            <a:ahLst/>
            <a:cxnLst/>
            <a:rect l="l" t="t" r="r" b="b"/>
            <a:pathLst>
              <a:path w="1003941" h="253246">
                <a:moveTo>
                  <a:pt x="0" y="0"/>
                </a:moveTo>
                <a:lnTo>
                  <a:pt x="1003941" y="0"/>
                </a:lnTo>
                <a:lnTo>
                  <a:pt x="1003941" y="253246"/>
                </a:lnTo>
                <a:lnTo>
                  <a:pt x="0" y="253246"/>
                </a:lnTo>
                <a:lnTo>
                  <a:pt x="0" y="0"/>
                </a:lnTo>
                <a:close/>
              </a:path>
            </a:pathLst>
          </a:custGeom>
          <a:solidFill>
            <a:srgbClr val="C8A48C">
              <a:alpha val="1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78849" y="3292202"/>
            <a:ext cx="1067252" cy="253246"/>
          </a:xfrm>
          <a:prstGeom prst="rect">
            <a:avLst/>
          </a:prstGeom>
          <a:noFill/>
          <a:ln/>
        </p:spPr>
        <p:txBody>
          <a:bodyPr wrap="square" lIns="108534" tIns="36178" rIns="108534" bIns="36178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List/Grid View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658254" y="3292202"/>
            <a:ext cx="1040119" cy="253246"/>
          </a:xfrm>
          <a:custGeom>
            <a:avLst/>
            <a:gdLst/>
            <a:ahLst/>
            <a:cxnLst/>
            <a:rect l="l" t="t" r="r" b="b"/>
            <a:pathLst>
              <a:path w="1040119" h="253246">
                <a:moveTo>
                  <a:pt x="0" y="0"/>
                </a:moveTo>
                <a:lnTo>
                  <a:pt x="1040119" y="0"/>
                </a:lnTo>
                <a:lnTo>
                  <a:pt x="1040119" y="253246"/>
                </a:lnTo>
                <a:lnTo>
                  <a:pt x="0" y="253246"/>
                </a:lnTo>
                <a:lnTo>
                  <a:pt x="0" y="0"/>
                </a:lnTo>
                <a:close/>
              </a:path>
            </a:pathLst>
          </a:custGeom>
          <a:solidFill>
            <a:srgbClr val="C8A48C">
              <a:alpha val="1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658254" y="3292202"/>
            <a:ext cx="1103430" cy="253246"/>
          </a:xfrm>
          <a:prstGeom prst="rect">
            <a:avLst/>
          </a:prstGeom>
          <a:noFill/>
          <a:ln/>
        </p:spPr>
        <p:txBody>
          <a:bodyPr wrap="square" lIns="108534" tIns="36178" rIns="108534" bIns="36178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Category Filter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74969" y="3292202"/>
            <a:ext cx="759739" cy="253246"/>
          </a:xfrm>
          <a:custGeom>
            <a:avLst/>
            <a:gdLst/>
            <a:ahLst/>
            <a:cxnLst/>
            <a:rect l="l" t="t" r="r" b="b"/>
            <a:pathLst>
              <a:path w="759739" h="253246">
                <a:moveTo>
                  <a:pt x="0" y="0"/>
                </a:moveTo>
                <a:lnTo>
                  <a:pt x="759739" y="0"/>
                </a:lnTo>
                <a:lnTo>
                  <a:pt x="759739" y="253246"/>
                </a:lnTo>
                <a:lnTo>
                  <a:pt x="0" y="253246"/>
                </a:lnTo>
                <a:lnTo>
                  <a:pt x="0" y="0"/>
                </a:lnTo>
                <a:close/>
              </a:path>
            </a:pathLst>
          </a:custGeom>
          <a:solidFill>
            <a:srgbClr val="C8A48C">
              <a:alpha val="1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774969" y="3292202"/>
            <a:ext cx="823050" cy="253246"/>
          </a:xfrm>
          <a:prstGeom prst="rect">
            <a:avLst/>
          </a:prstGeom>
          <a:noFill/>
          <a:ln/>
        </p:spPr>
        <p:txBody>
          <a:bodyPr wrap="square" lIns="108534" tIns="36178" rIns="108534" bIns="36178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Price Sort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02414" y="1790813"/>
            <a:ext cx="5625685" cy="1971703"/>
          </a:xfrm>
          <a:custGeom>
            <a:avLst/>
            <a:gdLst/>
            <a:ahLst/>
            <a:cxnLst/>
            <a:rect l="l" t="t" r="r" b="b"/>
            <a:pathLst>
              <a:path w="5625685" h="1971703">
                <a:moveTo>
                  <a:pt x="0" y="0"/>
                </a:moveTo>
                <a:lnTo>
                  <a:pt x="5625685" y="0"/>
                </a:lnTo>
                <a:lnTo>
                  <a:pt x="5625685" y="1971703"/>
                </a:lnTo>
                <a:lnTo>
                  <a:pt x="0" y="19717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6202414" y="1790813"/>
            <a:ext cx="5625685" cy="36178"/>
          </a:xfrm>
          <a:custGeom>
            <a:avLst/>
            <a:gdLst/>
            <a:ahLst/>
            <a:cxnLst/>
            <a:rect l="l" t="t" r="r" b="b"/>
            <a:pathLst>
              <a:path w="5625685" h="36178">
                <a:moveTo>
                  <a:pt x="0" y="0"/>
                </a:moveTo>
                <a:lnTo>
                  <a:pt x="5625685" y="0"/>
                </a:lnTo>
                <a:lnTo>
                  <a:pt x="5625685" y="36178"/>
                </a:lnTo>
                <a:lnTo>
                  <a:pt x="0" y="36178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19483" y="2025970"/>
            <a:ext cx="506493" cy="506493"/>
          </a:xfrm>
          <a:custGeom>
            <a:avLst/>
            <a:gdLst/>
            <a:ahLst/>
            <a:cxnLst/>
            <a:rect l="l" t="t" r="r" b="b"/>
            <a:pathLst>
              <a:path w="506493" h="506493">
                <a:moveTo>
                  <a:pt x="0" y="0"/>
                </a:moveTo>
                <a:lnTo>
                  <a:pt x="506493" y="0"/>
                </a:lnTo>
                <a:lnTo>
                  <a:pt x="506493" y="506493"/>
                </a:lnTo>
                <a:lnTo>
                  <a:pt x="0" y="506493"/>
                </a:lnTo>
                <a:lnTo>
                  <a:pt x="0" y="0"/>
                </a:lnTo>
                <a:close/>
              </a:path>
            </a:pathLst>
          </a:custGeom>
          <a:solidFill>
            <a:srgbClr val="4A4A4A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550628" y="2170682"/>
            <a:ext cx="244202" cy="217068"/>
          </a:xfrm>
          <a:custGeom>
            <a:avLst/>
            <a:gdLst/>
            <a:ahLst/>
            <a:cxnLst/>
            <a:rect l="l" t="t" r="r" b="b"/>
            <a:pathLst>
              <a:path w="244202" h="217068">
                <a:moveTo>
                  <a:pt x="94967" y="105142"/>
                </a:moveTo>
                <a:cubicBezTo>
                  <a:pt x="123046" y="105142"/>
                  <a:pt x="145843" y="82346"/>
                  <a:pt x="145843" y="54267"/>
                </a:cubicBezTo>
                <a:cubicBezTo>
                  <a:pt x="145843" y="26188"/>
                  <a:pt x="123046" y="3392"/>
                  <a:pt x="94967" y="3392"/>
                </a:cubicBezTo>
                <a:cubicBezTo>
                  <a:pt x="66888" y="3392"/>
                  <a:pt x="44092" y="26188"/>
                  <a:pt x="44092" y="54267"/>
                </a:cubicBezTo>
                <a:cubicBezTo>
                  <a:pt x="44092" y="82346"/>
                  <a:pt x="66888" y="105142"/>
                  <a:pt x="94967" y="105142"/>
                </a:cubicBezTo>
                <a:close/>
                <a:moveTo>
                  <a:pt x="82376" y="128884"/>
                </a:moveTo>
                <a:cubicBezTo>
                  <a:pt x="40616" y="128884"/>
                  <a:pt x="6783" y="162716"/>
                  <a:pt x="6783" y="204477"/>
                </a:cubicBezTo>
                <a:cubicBezTo>
                  <a:pt x="6783" y="211430"/>
                  <a:pt x="12422" y="217068"/>
                  <a:pt x="19375" y="217068"/>
                </a:cubicBezTo>
                <a:lnTo>
                  <a:pt x="126001" y="217068"/>
                </a:lnTo>
                <a:cubicBezTo>
                  <a:pt x="110654" y="199007"/>
                  <a:pt x="101751" y="175732"/>
                  <a:pt x="101751" y="151100"/>
                </a:cubicBezTo>
                <a:lnTo>
                  <a:pt x="101751" y="137915"/>
                </a:lnTo>
                <a:cubicBezTo>
                  <a:pt x="101751" y="134820"/>
                  <a:pt x="102175" y="131767"/>
                  <a:pt x="102980" y="128884"/>
                </a:cubicBezTo>
                <a:lnTo>
                  <a:pt x="82376" y="128884"/>
                </a:lnTo>
                <a:close/>
                <a:moveTo>
                  <a:pt x="188790" y="207105"/>
                </a:moveTo>
                <a:lnTo>
                  <a:pt x="183151" y="209776"/>
                </a:lnTo>
                <a:lnTo>
                  <a:pt x="183151" y="130029"/>
                </a:lnTo>
                <a:lnTo>
                  <a:pt x="223852" y="143596"/>
                </a:lnTo>
                <a:lnTo>
                  <a:pt x="223852" y="151905"/>
                </a:lnTo>
                <a:cubicBezTo>
                  <a:pt x="223852" y="175562"/>
                  <a:pt x="210200" y="197057"/>
                  <a:pt x="188790" y="207148"/>
                </a:cubicBezTo>
                <a:close/>
                <a:moveTo>
                  <a:pt x="178869" y="110018"/>
                </a:moveTo>
                <a:lnTo>
                  <a:pt x="131386" y="125832"/>
                </a:lnTo>
                <a:cubicBezTo>
                  <a:pt x="125832" y="127697"/>
                  <a:pt x="122101" y="132870"/>
                  <a:pt x="122101" y="138720"/>
                </a:cubicBezTo>
                <a:lnTo>
                  <a:pt x="122101" y="151905"/>
                </a:lnTo>
                <a:cubicBezTo>
                  <a:pt x="122101" y="183448"/>
                  <a:pt x="140331" y="212150"/>
                  <a:pt x="168821" y="225547"/>
                </a:cubicBezTo>
                <a:lnTo>
                  <a:pt x="176665" y="229236"/>
                </a:lnTo>
                <a:cubicBezTo>
                  <a:pt x="178700" y="230169"/>
                  <a:pt x="180904" y="230677"/>
                  <a:pt x="183109" y="230677"/>
                </a:cubicBezTo>
                <a:cubicBezTo>
                  <a:pt x="185314" y="230677"/>
                  <a:pt x="187561" y="230169"/>
                  <a:pt x="189553" y="229236"/>
                </a:cubicBezTo>
                <a:lnTo>
                  <a:pt x="197396" y="225547"/>
                </a:lnTo>
                <a:cubicBezTo>
                  <a:pt x="225971" y="212108"/>
                  <a:pt x="244202" y="183406"/>
                  <a:pt x="244202" y="151863"/>
                </a:cubicBezTo>
                <a:lnTo>
                  <a:pt x="244202" y="138678"/>
                </a:lnTo>
                <a:cubicBezTo>
                  <a:pt x="244202" y="132827"/>
                  <a:pt x="240471" y="127655"/>
                  <a:pt x="234917" y="125789"/>
                </a:cubicBezTo>
                <a:lnTo>
                  <a:pt x="187433" y="109976"/>
                </a:lnTo>
                <a:cubicBezTo>
                  <a:pt x="184635" y="109043"/>
                  <a:pt x="181625" y="109043"/>
                  <a:pt x="178869" y="109976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2" name="Text 20"/>
          <p:cNvSpPr/>
          <p:nvPr/>
        </p:nvSpPr>
        <p:spPr>
          <a:xfrm>
            <a:off x="7070687" y="2134504"/>
            <a:ext cx="1845080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User Authentication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19483" y="2677175"/>
            <a:ext cx="5263905" cy="470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9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user registration and authentication system with JWT-based session management, ensuring protected access to personal accounts and order history.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19483" y="3292202"/>
            <a:ext cx="895407" cy="253246"/>
          </a:xfrm>
          <a:custGeom>
            <a:avLst/>
            <a:gdLst/>
            <a:ahLst/>
            <a:cxnLst/>
            <a:rect l="l" t="t" r="r" b="b"/>
            <a:pathLst>
              <a:path w="895407" h="253246">
                <a:moveTo>
                  <a:pt x="0" y="0"/>
                </a:moveTo>
                <a:lnTo>
                  <a:pt x="895407" y="0"/>
                </a:lnTo>
                <a:lnTo>
                  <a:pt x="895407" y="253246"/>
                </a:lnTo>
                <a:lnTo>
                  <a:pt x="0" y="253246"/>
                </a:lnTo>
                <a:lnTo>
                  <a:pt x="0" y="0"/>
                </a:lnTo>
                <a:close/>
              </a:path>
            </a:pathLst>
          </a:custGeom>
          <a:solidFill>
            <a:srgbClr val="4A4A4A">
              <a:alpha val="1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19483" y="3292202"/>
            <a:ext cx="958718" cy="253246"/>
          </a:xfrm>
          <a:prstGeom prst="rect">
            <a:avLst/>
          </a:prstGeom>
          <a:noFill/>
          <a:ln/>
        </p:spPr>
        <p:txBody>
          <a:bodyPr wrap="square" lIns="108534" tIns="36178" rIns="108534" bIns="36178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Registration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384560" y="3292202"/>
            <a:ext cx="976807" cy="253246"/>
          </a:xfrm>
          <a:custGeom>
            <a:avLst/>
            <a:gdLst/>
            <a:ahLst/>
            <a:cxnLst/>
            <a:rect l="l" t="t" r="r" b="b"/>
            <a:pathLst>
              <a:path w="976807" h="253246">
                <a:moveTo>
                  <a:pt x="0" y="0"/>
                </a:moveTo>
                <a:lnTo>
                  <a:pt x="976807" y="0"/>
                </a:lnTo>
                <a:lnTo>
                  <a:pt x="976807" y="253246"/>
                </a:lnTo>
                <a:lnTo>
                  <a:pt x="0" y="253246"/>
                </a:lnTo>
                <a:lnTo>
                  <a:pt x="0" y="0"/>
                </a:lnTo>
                <a:close/>
              </a:path>
            </a:pathLst>
          </a:custGeom>
          <a:solidFill>
            <a:srgbClr val="4A4A4A">
              <a:alpha val="1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384560" y="3292202"/>
            <a:ext cx="1040119" cy="253246"/>
          </a:xfrm>
          <a:prstGeom prst="rect">
            <a:avLst/>
          </a:prstGeom>
          <a:noFill/>
          <a:ln/>
        </p:spPr>
        <p:txBody>
          <a:bodyPr wrap="square" lIns="108534" tIns="36178" rIns="108534" bIns="36178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Login/Logout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429342" y="3292202"/>
            <a:ext cx="1022030" cy="253246"/>
          </a:xfrm>
          <a:custGeom>
            <a:avLst/>
            <a:gdLst/>
            <a:ahLst/>
            <a:cxnLst/>
            <a:rect l="l" t="t" r="r" b="b"/>
            <a:pathLst>
              <a:path w="1022030" h="253246">
                <a:moveTo>
                  <a:pt x="0" y="0"/>
                </a:moveTo>
                <a:lnTo>
                  <a:pt x="1022030" y="0"/>
                </a:lnTo>
                <a:lnTo>
                  <a:pt x="1022030" y="253246"/>
                </a:lnTo>
                <a:lnTo>
                  <a:pt x="0" y="253246"/>
                </a:lnTo>
                <a:lnTo>
                  <a:pt x="0" y="0"/>
                </a:lnTo>
                <a:close/>
              </a:path>
            </a:pathLst>
          </a:custGeom>
          <a:solidFill>
            <a:srgbClr val="4A4A4A">
              <a:alpha val="1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429342" y="3292202"/>
            <a:ext cx="1085341" cy="253246"/>
          </a:xfrm>
          <a:prstGeom prst="rect">
            <a:avLst/>
          </a:prstGeom>
          <a:noFill/>
          <a:ln/>
        </p:spPr>
        <p:txBody>
          <a:bodyPr wrap="square" lIns="108534" tIns="36178" rIns="108534" bIns="36178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 Mgmt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1780" y="3997674"/>
            <a:ext cx="5625685" cy="1971703"/>
          </a:xfrm>
          <a:custGeom>
            <a:avLst/>
            <a:gdLst/>
            <a:ahLst/>
            <a:cxnLst/>
            <a:rect l="l" t="t" r="r" b="b"/>
            <a:pathLst>
              <a:path w="5625685" h="1971703">
                <a:moveTo>
                  <a:pt x="0" y="0"/>
                </a:moveTo>
                <a:lnTo>
                  <a:pt x="5625685" y="0"/>
                </a:lnTo>
                <a:lnTo>
                  <a:pt x="5625685" y="1971703"/>
                </a:lnTo>
                <a:lnTo>
                  <a:pt x="0" y="19717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361780" y="3997674"/>
            <a:ext cx="5625685" cy="36178"/>
          </a:xfrm>
          <a:custGeom>
            <a:avLst/>
            <a:gdLst/>
            <a:ahLst/>
            <a:cxnLst/>
            <a:rect l="l" t="t" r="r" b="b"/>
            <a:pathLst>
              <a:path w="5625685" h="36178">
                <a:moveTo>
                  <a:pt x="0" y="0"/>
                </a:moveTo>
                <a:lnTo>
                  <a:pt x="5625685" y="0"/>
                </a:lnTo>
                <a:lnTo>
                  <a:pt x="5625685" y="36178"/>
                </a:lnTo>
                <a:lnTo>
                  <a:pt x="0" y="36178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32" name="Shape 30"/>
          <p:cNvSpPr/>
          <p:nvPr/>
        </p:nvSpPr>
        <p:spPr>
          <a:xfrm>
            <a:off x="578849" y="4232831"/>
            <a:ext cx="506493" cy="506493"/>
          </a:xfrm>
          <a:custGeom>
            <a:avLst/>
            <a:gdLst/>
            <a:ahLst/>
            <a:cxnLst/>
            <a:rect l="l" t="t" r="r" b="b"/>
            <a:pathLst>
              <a:path w="506493" h="506493">
                <a:moveTo>
                  <a:pt x="0" y="0"/>
                </a:moveTo>
                <a:lnTo>
                  <a:pt x="506493" y="0"/>
                </a:lnTo>
                <a:lnTo>
                  <a:pt x="506493" y="506493"/>
                </a:lnTo>
                <a:lnTo>
                  <a:pt x="0" y="506493"/>
                </a:lnTo>
                <a:lnTo>
                  <a:pt x="0" y="0"/>
                </a:lnTo>
                <a:close/>
              </a:path>
            </a:pathLst>
          </a:custGeom>
          <a:solidFill>
            <a:srgbClr val="C8A48C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96427" y="4377543"/>
            <a:ext cx="271335" cy="217068"/>
          </a:xfrm>
          <a:custGeom>
            <a:avLst/>
            <a:gdLst/>
            <a:ahLst/>
            <a:cxnLst/>
            <a:rect l="l" t="t" r="r" b="b"/>
            <a:pathLst>
              <a:path w="271335" h="217068">
                <a:moveTo>
                  <a:pt x="10175" y="-6783"/>
                </a:moveTo>
                <a:cubicBezTo>
                  <a:pt x="4536" y="-6783"/>
                  <a:pt x="0" y="-2247"/>
                  <a:pt x="0" y="3392"/>
                </a:cubicBezTo>
                <a:cubicBezTo>
                  <a:pt x="0" y="9030"/>
                  <a:pt x="4536" y="13567"/>
                  <a:pt x="10175" y="13567"/>
                </a:cubicBezTo>
                <a:lnTo>
                  <a:pt x="29381" y="13567"/>
                </a:lnTo>
                <a:cubicBezTo>
                  <a:pt x="31034" y="13567"/>
                  <a:pt x="32433" y="14754"/>
                  <a:pt x="32730" y="16365"/>
                </a:cubicBezTo>
                <a:lnTo>
                  <a:pt x="54818" y="137745"/>
                </a:lnTo>
                <a:cubicBezTo>
                  <a:pt x="57447" y="152245"/>
                  <a:pt x="70081" y="162801"/>
                  <a:pt x="84835" y="162801"/>
                </a:cubicBezTo>
                <a:lnTo>
                  <a:pt x="193326" y="162801"/>
                </a:lnTo>
                <a:cubicBezTo>
                  <a:pt x="198965" y="162801"/>
                  <a:pt x="203501" y="158265"/>
                  <a:pt x="203501" y="152626"/>
                </a:cubicBezTo>
                <a:cubicBezTo>
                  <a:pt x="203501" y="146987"/>
                  <a:pt x="198965" y="142451"/>
                  <a:pt x="193326" y="142451"/>
                </a:cubicBezTo>
                <a:lnTo>
                  <a:pt x="84835" y="142451"/>
                </a:lnTo>
                <a:cubicBezTo>
                  <a:pt x="79917" y="142451"/>
                  <a:pt x="75720" y="138932"/>
                  <a:pt x="74829" y="134099"/>
                </a:cubicBezTo>
                <a:lnTo>
                  <a:pt x="72667" y="122101"/>
                </a:lnTo>
                <a:lnTo>
                  <a:pt x="201382" y="122101"/>
                </a:lnTo>
                <a:cubicBezTo>
                  <a:pt x="214440" y="122101"/>
                  <a:pt x="225632" y="112816"/>
                  <a:pt x="228049" y="99970"/>
                </a:cubicBezTo>
                <a:lnTo>
                  <a:pt x="241192" y="29635"/>
                </a:lnTo>
                <a:cubicBezTo>
                  <a:pt x="242760" y="21283"/>
                  <a:pt x="236358" y="13567"/>
                  <a:pt x="227837" y="13567"/>
                </a:cubicBezTo>
                <a:lnTo>
                  <a:pt x="52868" y="13567"/>
                </a:lnTo>
                <a:lnTo>
                  <a:pt x="52698" y="12719"/>
                </a:lnTo>
                <a:cubicBezTo>
                  <a:pt x="50663" y="1441"/>
                  <a:pt x="40827" y="-6783"/>
                  <a:pt x="29338" y="-6783"/>
                </a:cubicBezTo>
                <a:lnTo>
                  <a:pt x="10175" y="-6783"/>
                </a:lnTo>
                <a:close/>
                <a:moveTo>
                  <a:pt x="88184" y="217068"/>
                </a:moveTo>
                <a:cubicBezTo>
                  <a:pt x="99416" y="217068"/>
                  <a:pt x="108534" y="207950"/>
                  <a:pt x="108534" y="196718"/>
                </a:cubicBezTo>
                <a:cubicBezTo>
                  <a:pt x="108534" y="185487"/>
                  <a:pt x="99416" y="176368"/>
                  <a:pt x="88184" y="176368"/>
                </a:cubicBezTo>
                <a:cubicBezTo>
                  <a:pt x="76952" y="176368"/>
                  <a:pt x="67834" y="185487"/>
                  <a:pt x="67834" y="196718"/>
                </a:cubicBezTo>
                <a:cubicBezTo>
                  <a:pt x="67834" y="207950"/>
                  <a:pt x="76952" y="217068"/>
                  <a:pt x="88184" y="217068"/>
                </a:cubicBezTo>
                <a:close/>
                <a:moveTo>
                  <a:pt x="183151" y="217068"/>
                </a:moveTo>
                <a:cubicBezTo>
                  <a:pt x="194383" y="217068"/>
                  <a:pt x="203501" y="207950"/>
                  <a:pt x="203501" y="196718"/>
                </a:cubicBezTo>
                <a:cubicBezTo>
                  <a:pt x="203501" y="185487"/>
                  <a:pt x="194383" y="176368"/>
                  <a:pt x="183151" y="176368"/>
                </a:cubicBezTo>
                <a:cubicBezTo>
                  <a:pt x="171920" y="176368"/>
                  <a:pt x="162801" y="185487"/>
                  <a:pt x="162801" y="196718"/>
                </a:cubicBezTo>
                <a:cubicBezTo>
                  <a:pt x="162801" y="207950"/>
                  <a:pt x="171920" y="217068"/>
                  <a:pt x="183151" y="217068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34" name="Text 32"/>
          <p:cNvSpPr/>
          <p:nvPr/>
        </p:nvSpPr>
        <p:spPr>
          <a:xfrm>
            <a:off x="1230053" y="4341365"/>
            <a:ext cx="1329543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Shopping Cart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78849" y="4884036"/>
            <a:ext cx="5263905" cy="470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9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Full-featured shopping cart with CRUD operations, persistent storage for logged-in users, and real-time subtotal calculations for seamless purchasing.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78849" y="5499062"/>
            <a:ext cx="949674" cy="253246"/>
          </a:xfrm>
          <a:custGeom>
            <a:avLst/>
            <a:gdLst/>
            <a:ahLst/>
            <a:cxnLst/>
            <a:rect l="l" t="t" r="r" b="b"/>
            <a:pathLst>
              <a:path w="949674" h="253246">
                <a:moveTo>
                  <a:pt x="0" y="0"/>
                </a:moveTo>
                <a:lnTo>
                  <a:pt x="949674" y="0"/>
                </a:lnTo>
                <a:lnTo>
                  <a:pt x="949674" y="253246"/>
                </a:lnTo>
                <a:lnTo>
                  <a:pt x="0" y="253246"/>
                </a:lnTo>
                <a:lnTo>
                  <a:pt x="0" y="0"/>
                </a:lnTo>
                <a:close/>
              </a:path>
            </a:pathLst>
          </a:custGeom>
          <a:solidFill>
            <a:srgbClr val="C8A48C">
              <a:alpha val="1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78849" y="5499062"/>
            <a:ext cx="1012985" cy="253246"/>
          </a:xfrm>
          <a:prstGeom prst="rect">
            <a:avLst/>
          </a:prstGeom>
          <a:noFill/>
          <a:ln/>
        </p:spPr>
        <p:txBody>
          <a:bodyPr wrap="square" lIns="108534" tIns="36178" rIns="108534" bIns="36178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Add/Remove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599889" y="5499062"/>
            <a:ext cx="1130564" cy="253246"/>
          </a:xfrm>
          <a:custGeom>
            <a:avLst/>
            <a:gdLst/>
            <a:ahLst/>
            <a:cxnLst/>
            <a:rect l="l" t="t" r="r" b="b"/>
            <a:pathLst>
              <a:path w="1130564" h="253246">
                <a:moveTo>
                  <a:pt x="0" y="0"/>
                </a:moveTo>
                <a:lnTo>
                  <a:pt x="1130564" y="0"/>
                </a:lnTo>
                <a:lnTo>
                  <a:pt x="1130564" y="253246"/>
                </a:lnTo>
                <a:lnTo>
                  <a:pt x="0" y="253246"/>
                </a:lnTo>
                <a:lnTo>
                  <a:pt x="0" y="0"/>
                </a:lnTo>
                <a:close/>
              </a:path>
            </a:pathLst>
          </a:custGeom>
          <a:solidFill>
            <a:srgbClr val="C8A48C">
              <a:alpha val="1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599889" y="5499062"/>
            <a:ext cx="1193875" cy="253246"/>
          </a:xfrm>
          <a:prstGeom prst="rect">
            <a:avLst/>
          </a:prstGeom>
          <a:noFill/>
          <a:ln/>
        </p:spPr>
        <p:txBody>
          <a:bodyPr wrap="square" lIns="108534" tIns="36178" rIns="108534" bIns="36178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Quantity Update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2803657" y="5499062"/>
            <a:ext cx="877318" cy="253246"/>
          </a:xfrm>
          <a:custGeom>
            <a:avLst/>
            <a:gdLst/>
            <a:ahLst/>
            <a:cxnLst/>
            <a:rect l="l" t="t" r="r" b="b"/>
            <a:pathLst>
              <a:path w="877318" h="253246">
                <a:moveTo>
                  <a:pt x="0" y="0"/>
                </a:moveTo>
                <a:lnTo>
                  <a:pt x="877318" y="0"/>
                </a:lnTo>
                <a:lnTo>
                  <a:pt x="877318" y="253246"/>
                </a:lnTo>
                <a:lnTo>
                  <a:pt x="0" y="253246"/>
                </a:lnTo>
                <a:lnTo>
                  <a:pt x="0" y="0"/>
                </a:lnTo>
                <a:close/>
              </a:path>
            </a:pathLst>
          </a:custGeom>
          <a:solidFill>
            <a:srgbClr val="C8A48C">
              <a:alpha val="1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2803657" y="5499062"/>
            <a:ext cx="940629" cy="253246"/>
          </a:xfrm>
          <a:prstGeom prst="rect">
            <a:avLst/>
          </a:prstGeom>
          <a:noFill/>
          <a:ln/>
        </p:spPr>
        <p:txBody>
          <a:bodyPr wrap="square" lIns="108534" tIns="36178" rIns="108534" bIns="36178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Persistence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202414" y="3997674"/>
            <a:ext cx="5625685" cy="1971703"/>
          </a:xfrm>
          <a:custGeom>
            <a:avLst/>
            <a:gdLst/>
            <a:ahLst/>
            <a:cxnLst/>
            <a:rect l="l" t="t" r="r" b="b"/>
            <a:pathLst>
              <a:path w="5625685" h="1971703">
                <a:moveTo>
                  <a:pt x="0" y="0"/>
                </a:moveTo>
                <a:lnTo>
                  <a:pt x="5625685" y="0"/>
                </a:lnTo>
                <a:lnTo>
                  <a:pt x="5625685" y="1971703"/>
                </a:lnTo>
                <a:lnTo>
                  <a:pt x="0" y="19717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6202414" y="3997674"/>
            <a:ext cx="5625685" cy="36178"/>
          </a:xfrm>
          <a:custGeom>
            <a:avLst/>
            <a:gdLst/>
            <a:ahLst/>
            <a:cxnLst/>
            <a:rect l="l" t="t" r="r" b="b"/>
            <a:pathLst>
              <a:path w="5625685" h="36178">
                <a:moveTo>
                  <a:pt x="0" y="0"/>
                </a:moveTo>
                <a:lnTo>
                  <a:pt x="5625685" y="0"/>
                </a:lnTo>
                <a:lnTo>
                  <a:pt x="5625685" y="36178"/>
                </a:lnTo>
                <a:lnTo>
                  <a:pt x="0" y="36178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44" name="Shape 42"/>
          <p:cNvSpPr/>
          <p:nvPr/>
        </p:nvSpPr>
        <p:spPr>
          <a:xfrm>
            <a:off x="6419483" y="4232831"/>
            <a:ext cx="506493" cy="506493"/>
          </a:xfrm>
          <a:custGeom>
            <a:avLst/>
            <a:gdLst/>
            <a:ahLst/>
            <a:cxnLst/>
            <a:rect l="l" t="t" r="r" b="b"/>
            <a:pathLst>
              <a:path w="506493" h="506493">
                <a:moveTo>
                  <a:pt x="0" y="0"/>
                </a:moveTo>
                <a:lnTo>
                  <a:pt x="506493" y="0"/>
                </a:lnTo>
                <a:lnTo>
                  <a:pt x="506493" y="506493"/>
                </a:lnTo>
                <a:lnTo>
                  <a:pt x="0" y="506493"/>
                </a:lnTo>
                <a:lnTo>
                  <a:pt x="0" y="0"/>
                </a:lnTo>
                <a:close/>
              </a:path>
            </a:pathLst>
          </a:custGeom>
          <a:solidFill>
            <a:srgbClr val="4A4A4A">
              <a:alpha val="1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564195" y="4377543"/>
            <a:ext cx="217068" cy="217068"/>
          </a:xfrm>
          <a:custGeom>
            <a:avLst/>
            <a:gdLst/>
            <a:ahLst/>
            <a:cxnLst/>
            <a:rect l="l" t="t" r="r" b="b"/>
            <a:pathLst>
              <a:path w="217068" h="217068">
                <a:moveTo>
                  <a:pt x="0" y="54267"/>
                </a:moveTo>
                <a:lnTo>
                  <a:pt x="0" y="67834"/>
                </a:lnTo>
                <a:lnTo>
                  <a:pt x="217068" y="67834"/>
                </a:lnTo>
                <a:lnTo>
                  <a:pt x="217068" y="54267"/>
                </a:lnTo>
                <a:cubicBezTo>
                  <a:pt x="217068" y="39301"/>
                  <a:pt x="204901" y="27134"/>
                  <a:pt x="189935" y="27134"/>
                </a:cubicBezTo>
                <a:lnTo>
                  <a:pt x="27134" y="27134"/>
                </a:lnTo>
                <a:cubicBezTo>
                  <a:pt x="12168" y="27134"/>
                  <a:pt x="0" y="39301"/>
                  <a:pt x="0" y="54267"/>
                </a:cubicBezTo>
                <a:close/>
                <a:moveTo>
                  <a:pt x="0" y="88184"/>
                </a:moveTo>
                <a:lnTo>
                  <a:pt x="0" y="162801"/>
                </a:lnTo>
                <a:cubicBezTo>
                  <a:pt x="0" y="177767"/>
                  <a:pt x="12168" y="189935"/>
                  <a:pt x="27134" y="189935"/>
                </a:cubicBezTo>
                <a:lnTo>
                  <a:pt x="189935" y="189935"/>
                </a:lnTo>
                <a:cubicBezTo>
                  <a:pt x="204901" y="189935"/>
                  <a:pt x="217068" y="177767"/>
                  <a:pt x="217068" y="162801"/>
                </a:cubicBezTo>
                <a:lnTo>
                  <a:pt x="217068" y="88184"/>
                </a:lnTo>
                <a:lnTo>
                  <a:pt x="0" y="88184"/>
                </a:lnTo>
                <a:close/>
                <a:moveTo>
                  <a:pt x="27134" y="152626"/>
                </a:moveTo>
                <a:cubicBezTo>
                  <a:pt x="27134" y="146987"/>
                  <a:pt x="31670" y="142451"/>
                  <a:pt x="37309" y="142451"/>
                </a:cubicBezTo>
                <a:lnTo>
                  <a:pt x="57659" y="142451"/>
                </a:lnTo>
                <a:cubicBezTo>
                  <a:pt x="63297" y="142451"/>
                  <a:pt x="67834" y="146987"/>
                  <a:pt x="67834" y="152626"/>
                </a:cubicBezTo>
                <a:cubicBezTo>
                  <a:pt x="67834" y="158265"/>
                  <a:pt x="63297" y="162801"/>
                  <a:pt x="57659" y="162801"/>
                </a:cubicBezTo>
                <a:lnTo>
                  <a:pt x="37309" y="162801"/>
                </a:lnTo>
                <a:cubicBezTo>
                  <a:pt x="31670" y="162801"/>
                  <a:pt x="27134" y="158265"/>
                  <a:pt x="27134" y="152626"/>
                </a:cubicBezTo>
                <a:close/>
                <a:moveTo>
                  <a:pt x="88184" y="152626"/>
                </a:moveTo>
                <a:cubicBezTo>
                  <a:pt x="88184" y="146987"/>
                  <a:pt x="92720" y="142451"/>
                  <a:pt x="98359" y="142451"/>
                </a:cubicBezTo>
                <a:lnTo>
                  <a:pt x="125493" y="142451"/>
                </a:lnTo>
                <a:cubicBezTo>
                  <a:pt x="131131" y="142451"/>
                  <a:pt x="135668" y="146987"/>
                  <a:pt x="135668" y="152626"/>
                </a:cubicBezTo>
                <a:cubicBezTo>
                  <a:pt x="135668" y="158265"/>
                  <a:pt x="131131" y="162801"/>
                  <a:pt x="125493" y="162801"/>
                </a:cubicBezTo>
                <a:lnTo>
                  <a:pt x="98359" y="162801"/>
                </a:lnTo>
                <a:cubicBezTo>
                  <a:pt x="92720" y="162801"/>
                  <a:pt x="88184" y="158265"/>
                  <a:pt x="88184" y="152626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46" name="Text 44"/>
          <p:cNvSpPr/>
          <p:nvPr/>
        </p:nvSpPr>
        <p:spPr>
          <a:xfrm>
            <a:off x="7070687" y="4341365"/>
            <a:ext cx="1528522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Secure Checkout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19483" y="4884036"/>
            <a:ext cx="5263905" cy="470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9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Streamlined 5-step checkout process with inventory validation and automatic stock updates upon successful order completion.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19483" y="5499062"/>
            <a:ext cx="895407" cy="253246"/>
          </a:xfrm>
          <a:custGeom>
            <a:avLst/>
            <a:gdLst/>
            <a:ahLst/>
            <a:cxnLst/>
            <a:rect l="l" t="t" r="r" b="b"/>
            <a:pathLst>
              <a:path w="895407" h="253246">
                <a:moveTo>
                  <a:pt x="0" y="0"/>
                </a:moveTo>
                <a:lnTo>
                  <a:pt x="895407" y="0"/>
                </a:lnTo>
                <a:lnTo>
                  <a:pt x="895407" y="253246"/>
                </a:lnTo>
                <a:lnTo>
                  <a:pt x="0" y="253246"/>
                </a:lnTo>
                <a:lnTo>
                  <a:pt x="0" y="0"/>
                </a:lnTo>
                <a:close/>
              </a:path>
            </a:pathLst>
          </a:custGeom>
          <a:solidFill>
            <a:srgbClr val="4A4A4A">
              <a:alpha val="1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419483" y="5499062"/>
            <a:ext cx="958718" cy="253246"/>
          </a:xfrm>
          <a:prstGeom prst="rect">
            <a:avLst/>
          </a:prstGeom>
          <a:noFill/>
          <a:ln/>
        </p:spPr>
        <p:txBody>
          <a:bodyPr wrap="square" lIns="108534" tIns="36178" rIns="108534" bIns="36178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5-Step Flow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387669" y="5499062"/>
            <a:ext cx="1049163" cy="253246"/>
          </a:xfrm>
          <a:custGeom>
            <a:avLst/>
            <a:gdLst/>
            <a:ahLst/>
            <a:cxnLst/>
            <a:rect l="l" t="t" r="r" b="b"/>
            <a:pathLst>
              <a:path w="1049163" h="253246">
                <a:moveTo>
                  <a:pt x="0" y="0"/>
                </a:moveTo>
                <a:lnTo>
                  <a:pt x="1049163" y="0"/>
                </a:lnTo>
                <a:lnTo>
                  <a:pt x="1049163" y="253246"/>
                </a:lnTo>
                <a:lnTo>
                  <a:pt x="0" y="253246"/>
                </a:lnTo>
                <a:lnTo>
                  <a:pt x="0" y="0"/>
                </a:lnTo>
                <a:close/>
              </a:path>
            </a:pathLst>
          </a:custGeom>
          <a:solidFill>
            <a:srgbClr val="4A4A4A">
              <a:alpha val="1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7387669" y="5499062"/>
            <a:ext cx="1112475" cy="253246"/>
          </a:xfrm>
          <a:prstGeom prst="rect">
            <a:avLst/>
          </a:prstGeom>
          <a:noFill/>
          <a:ln/>
        </p:spPr>
        <p:txBody>
          <a:bodyPr wrap="square" lIns="108534" tIns="36178" rIns="108534" bIns="36178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Inventory Sync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508482" y="5499062"/>
            <a:ext cx="1040119" cy="253246"/>
          </a:xfrm>
          <a:custGeom>
            <a:avLst/>
            <a:gdLst/>
            <a:ahLst/>
            <a:cxnLst/>
            <a:rect l="l" t="t" r="r" b="b"/>
            <a:pathLst>
              <a:path w="1040119" h="253246">
                <a:moveTo>
                  <a:pt x="0" y="0"/>
                </a:moveTo>
                <a:lnTo>
                  <a:pt x="1040119" y="0"/>
                </a:lnTo>
                <a:lnTo>
                  <a:pt x="1040119" y="253246"/>
                </a:lnTo>
                <a:lnTo>
                  <a:pt x="0" y="253246"/>
                </a:lnTo>
                <a:lnTo>
                  <a:pt x="0" y="0"/>
                </a:lnTo>
                <a:close/>
              </a:path>
            </a:pathLst>
          </a:custGeom>
          <a:solidFill>
            <a:srgbClr val="4A4A4A">
              <a:alpha val="1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8508482" y="5499062"/>
            <a:ext cx="1103430" cy="253246"/>
          </a:xfrm>
          <a:prstGeom prst="rect">
            <a:avLst/>
          </a:prstGeom>
          <a:noFill/>
          <a:ln/>
        </p:spPr>
        <p:txBody>
          <a:bodyPr wrap="square" lIns="108534" tIns="36178" rIns="108534" bIns="36178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Order Creation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61780" y="6114089"/>
            <a:ext cx="11468439" cy="506493"/>
          </a:xfrm>
          <a:custGeom>
            <a:avLst/>
            <a:gdLst/>
            <a:ahLst/>
            <a:cxnLst/>
            <a:rect l="l" t="t" r="r" b="b"/>
            <a:pathLst>
              <a:path w="11468439" h="506493">
                <a:moveTo>
                  <a:pt x="0" y="0"/>
                </a:moveTo>
                <a:lnTo>
                  <a:pt x="11468439" y="0"/>
                </a:lnTo>
                <a:lnTo>
                  <a:pt x="11468439" y="506493"/>
                </a:lnTo>
                <a:lnTo>
                  <a:pt x="0" y="506493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55" name="Shape 53"/>
          <p:cNvSpPr/>
          <p:nvPr/>
        </p:nvSpPr>
        <p:spPr>
          <a:xfrm>
            <a:off x="506493" y="6276890"/>
            <a:ext cx="226113" cy="180890"/>
          </a:xfrm>
          <a:custGeom>
            <a:avLst/>
            <a:gdLst/>
            <a:ahLst/>
            <a:cxnLst/>
            <a:rect l="l" t="t" r="r" b="b"/>
            <a:pathLst>
              <a:path w="226113" h="180890">
                <a:moveTo>
                  <a:pt x="146938" y="74370"/>
                </a:moveTo>
                <a:cubicBezTo>
                  <a:pt x="151248" y="73204"/>
                  <a:pt x="155770" y="75253"/>
                  <a:pt x="157714" y="79245"/>
                </a:cubicBezTo>
                <a:lnTo>
                  <a:pt x="164285" y="92530"/>
                </a:lnTo>
                <a:cubicBezTo>
                  <a:pt x="167924" y="93024"/>
                  <a:pt x="171492" y="94013"/>
                  <a:pt x="174849" y="95391"/>
                </a:cubicBezTo>
                <a:lnTo>
                  <a:pt x="187214" y="87159"/>
                </a:lnTo>
                <a:cubicBezTo>
                  <a:pt x="190924" y="84686"/>
                  <a:pt x="195835" y="85181"/>
                  <a:pt x="198979" y="88325"/>
                </a:cubicBezTo>
                <a:lnTo>
                  <a:pt x="205763" y="95109"/>
                </a:lnTo>
                <a:cubicBezTo>
                  <a:pt x="208907" y="98253"/>
                  <a:pt x="209402" y="103199"/>
                  <a:pt x="206929" y="106874"/>
                </a:cubicBezTo>
                <a:lnTo>
                  <a:pt x="198697" y="119204"/>
                </a:lnTo>
                <a:cubicBezTo>
                  <a:pt x="199368" y="120864"/>
                  <a:pt x="199968" y="122596"/>
                  <a:pt x="200463" y="124397"/>
                </a:cubicBezTo>
                <a:cubicBezTo>
                  <a:pt x="200958" y="126199"/>
                  <a:pt x="201276" y="127966"/>
                  <a:pt x="201523" y="129768"/>
                </a:cubicBezTo>
                <a:lnTo>
                  <a:pt x="214842" y="136339"/>
                </a:lnTo>
                <a:cubicBezTo>
                  <a:pt x="218835" y="138317"/>
                  <a:pt x="220884" y="142840"/>
                  <a:pt x="219718" y="147115"/>
                </a:cubicBezTo>
                <a:lnTo>
                  <a:pt x="217245" y="156371"/>
                </a:lnTo>
                <a:cubicBezTo>
                  <a:pt x="216079" y="160646"/>
                  <a:pt x="212087" y="163543"/>
                  <a:pt x="207635" y="163260"/>
                </a:cubicBezTo>
                <a:lnTo>
                  <a:pt x="192796" y="162307"/>
                </a:lnTo>
                <a:cubicBezTo>
                  <a:pt x="190571" y="165168"/>
                  <a:pt x="187992" y="167818"/>
                  <a:pt x="185059" y="170079"/>
                </a:cubicBezTo>
                <a:lnTo>
                  <a:pt x="186013" y="184883"/>
                </a:lnTo>
                <a:cubicBezTo>
                  <a:pt x="186296" y="189334"/>
                  <a:pt x="183399" y="193362"/>
                  <a:pt x="179124" y="194492"/>
                </a:cubicBezTo>
                <a:lnTo>
                  <a:pt x="169867" y="196965"/>
                </a:lnTo>
                <a:cubicBezTo>
                  <a:pt x="165557" y="198131"/>
                  <a:pt x="161070" y="196082"/>
                  <a:pt x="159092" y="192090"/>
                </a:cubicBezTo>
                <a:lnTo>
                  <a:pt x="152520" y="178806"/>
                </a:lnTo>
                <a:cubicBezTo>
                  <a:pt x="148881" y="178311"/>
                  <a:pt x="145313" y="177322"/>
                  <a:pt x="141956" y="175944"/>
                </a:cubicBezTo>
                <a:lnTo>
                  <a:pt x="129591" y="184176"/>
                </a:lnTo>
                <a:cubicBezTo>
                  <a:pt x="125881" y="186649"/>
                  <a:pt x="120970" y="186154"/>
                  <a:pt x="117826" y="183010"/>
                </a:cubicBezTo>
                <a:lnTo>
                  <a:pt x="111043" y="176227"/>
                </a:lnTo>
                <a:cubicBezTo>
                  <a:pt x="107898" y="173082"/>
                  <a:pt x="107404" y="168171"/>
                  <a:pt x="109877" y="164462"/>
                </a:cubicBezTo>
                <a:lnTo>
                  <a:pt x="118109" y="152096"/>
                </a:lnTo>
                <a:cubicBezTo>
                  <a:pt x="117437" y="150436"/>
                  <a:pt x="116837" y="148704"/>
                  <a:pt x="116342" y="146903"/>
                </a:cubicBezTo>
                <a:cubicBezTo>
                  <a:pt x="115847" y="145101"/>
                  <a:pt x="115529" y="143299"/>
                  <a:pt x="115282" y="141532"/>
                </a:cubicBezTo>
                <a:lnTo>
                  <a:pt x="101963" y="134961"/>
                </a:lnTo>
                <a:cubicBezTo>
                  <a:pt x="97970" y="132983"/>
                  <a:pt x="95957" y="128460"/>
                  <a:pt x="97087" y="124185"/>
                </a:cubicBezTo>
                <a:lnTo>
                  <a:pt x="99560" y="114929"/>
                </a:lnTo>
                <a:cubicBezTo>
                  <a:pt x="100726" y="110654"/>
                  <a:pt x="104718" y="107757"/>
                  <a:pt x="109170" y="108040"/>
                </a:cubicBezTo>
                <a:lnTo>
                  <a:pt x="123973" y="108993"/>
                </a:lnTo>
                <a:cubicBezTo>
                  <a:pt x="126199" y="106132"/>
                  <a:pt x="128778" y="103482"/>
                  <a:pt x="131711" y="101221"/>
                </a:cubicBezTo>
                <a:lnTo>
                  <a:pt x="130757" y="86453"/>
                </a:lnTo>
                <a:cubicBezTo>
                  <a:pt x="130474" y="82001"/>
                  <a:pt x="133371" y="77974"/>
                  <a:pt x="137646" y="76843"/>
                </a:cubicBezTo>
                <a:lnTo>
                  <a:pt x="146903" y="74370"/>
                </a:lnTo>
                <a:close/>
                <a:moveTo>
                  <a:pt x="158420" y="120122"/>
                </a:moveTo>
                <a:cubicBezTo>
                  <a:pt x="149841" y="120132"/>
                  <a:pt x="142883" y="127106"/>
                  <a:pt x="142893" y="135685"/>
                </a:cubicBezTo>
                <a:cubicBezTo>
                  <a:pt x="142902" y="144265"/>
                  <a:pt x="149876" y="151223"/>
                  <a:pt x="158456" y="151213"/>
                </a:cubicBezTo>
                <a:cubicBezTo>
                  <a:pt x="167035" y="151203"/>
                  <a:pt x="173993" y="144230"/>
                  <a:pt x="173983" y="135650"/>
                </a:cubicBezTo>
                <a:cubicBezTo>
                  <a:pt x="173973" y="127070"/>
                  <a:pt x="167000" y="120113"/>
                  <a:pt x="158420" y="120122"/>
                </a:cubicBezTo>
                <a:close/>
                <a:moveTo>
                  <a:pt x="79457" y="-16075"/>
                </a:moveTo>
                <a:lnTo>
                  <a:pt x="88714" y="-13602"/>
                </a:lnTo>
                <a:cubicBezTo>
                  <a:pt x="92989" y="-12436"/>
                  <a:pt x="95886" y="-8409"/>
                  <a:pt x="95603" y="-3992"/>
                </a:cubicBezTo>
                <a:lnTo>
                  <a:pt x="94649" y="10776"/>
                </a:lnTo>
                <a:cubicBezTo>
                  <a:pt x="97582" y="13037"/>
                  <a:pt x="100161" y="15651"/>
                  <a:pt x="102387" y="18548"/>
                </a:cubicBezTo>
                <a:lnTo>
                  <a:pt x="117225" y="17594"/>
                </a:lnTo>
                <a:cubicBezTo>
                  <a:pt x="121642" y="17312"/>
                  <a:pt x="125669" y="20209"/>
                  <a:pt x="126835" y="24484"/>
                </a:cubicBezTo>
                <a:lnTo>
                  <a:pt x="129308" y="33740"/>
                </a:lnTo>
                <a:cubicBezTo>
                  <a:pt x="130439" y="38015"/>
                  <a:pt x="128425" y="42537"/>
                  <a:pt x="124433" y="44516"/>
                </a:cubicBezTo>
                <a:lnTo>
                  <a:pt x="111113" y="51087"/>
                </a:lnTo>
                <a:cubicBezTo>
                  <a:pt x="110866" y="52889"/>
                  <a:pt x="110513" y="54691"/>
                  <a:pt x="110053" y="56458"/>
                </a:cubicBezTo>
                <a:cubicBezTo>
                  <a:pt x="109594" y="58224"/>
                  <a:pt x="108958" y="59991"/>
                  <a:pt x="108287" y="61651"/>
                </a:cubicBezTo>
                <a:lnTo>
                  <a:pt x="116519" y="74017"/>
                </a:lnTo>
                <a:cubicBezTo>
                  <a:pt x="118992" y="77726"/>
                  <a:pt x="118497" y="82637"/>
                  <a:pt x="115353" y="85782"/>
                </a:cubicBezTo>
                <a:lnTo>
                  <a:pt x="108569" y="92565"/>
                </a:lnTo>
                <a:cubicBezTo>
                  <a:pt x="105425" y="95709"/>
                  <a:pt x="100514" y="96204"/>
                  <a:pt x="96805" y="93731"/>
                </a:cubicBezTo>
                <a:lnTo>
                  <a:pt x="84439" y="85499"/>
                </a:lnTo>
                <a:cubicBezTo>
                  <a:pt x="81083" y="86877"/>
                  <a:pt x="77514" y="87866"/>
                  <a:pt x="73875" y="88361"/>
                </a:cubicBezTo>
                <a:lnTo>
                  <a:pt x="67304" y="101645"/>
                </a:lnTo>
                <a:cubicBezTo>
                  <a:pt x="65325" y="105637"/>
                  <a:pt x="60803" y="107651"/>
                  <a:pt x="56528" y="106520"/>
                </a:cubicBezTo>
                <a:lnTo>
                  <a:pt x="47272" y="104047"/>
                </a:lnTo>
                <a:cubicBezTo>
                  <a:pt x="42961" y="102881"/>
                  <a:pt x="40100" y="98854"/>
                  <a:pt x="40382" y="94437"/>
                </a:cubicBezTo>
                <a:lnTo>
                  <a:pt x="41336" y="79634"/>
                </a:lnTo>
                <a:cubicBezTo>
                  <a:pt x="38404" y="77373"/>
                  <a:pt x="35825" y="74759"/>
                  <a:pt x="33599" y="71861"/>
                </a:cubicBezTo>
                <a:lnTo>
                  <a:pt x="18760" y="72815"/>
                </a:lnTo>
                <a:cubicBezTo>
                  <a:pt x="14344" y="73098"/>
                  <a:pt x="10316" y="70201"/>
                  <a:pt x="9151" y="65926"/>
                </a:cubicBezTo>
                <a:lnTo>
                  <a:pt x="6677" y="56670"/>
                </a:lnTo>
                <a:cubicBezTo>
                  <a:pt x="5547" y="52395"/>
                  <a:pt x="7561" y="47872"/>
                  <a:pt x="11553" y="45894"/>
                </a:cubicBezTo>
                <a:lnTo>
                  <a:pt x="24872" y="39322"/>
                </a:lnTo>
                <a:cubicBezTo>
                  <a:pt x="25120" y="37521"/>
                  <a:pt x="25473" y="35754"/>
                  <a:pt x="25932" y="33952"/>
                </a:cubicBezTo>
                <a:cubicBezTo>
                  <a:pt x="26427" y="32150"/>
                  <a:pt x="26992" y="30419"/>
                  <a:pt x="27699" y="28759"/>
                </a:cubicBezTo>
                <a:lnTo>
                  <a:pt x="19467" y="16429"/>
                </a:lnTo>
                <a:cubicBezTo>
                  <a:pt x="16994" y="12719"/>
                  <a:pt x="17488" y="7808"/>
                  <a:pt x="20633" y="4664"/>
                </a:cubicBezTo>
                <a:lnTo>
                  <a:pt x="27416" y="-2120"/>
                </a:lnTo>
                <a:cubicBezTo>
                  <a:pt x="30561" y="-5264"/>
                  <a:pt x="35471" y="-5759"/>
                  <a:pt x="39181" y="-3286"/>
                </a:cubicBezTo>
                <a:lnTo>
                  <a:pt x="51547" y="4946"/>
                </a:lnTo>
                <a:cubicBezTo>
                  <a:pt x="54903" y="3568"/>
                  <a:pt x="58471" y="2579"/>
                  <a:pt x="62110" y="2084"/>
                </a:cubicBezTo>
                <a:lnTo>
                  <a:pt x="68682" y="-11200"/>
                </a:lnTo>
                <a:cubicBezTo>
                  <a:pt x="70660" y="-15192"/>
                  <a:pt x="75147" y="-17206"/>
                  <a:pt x="79457" y="-16075"/>
                </a:cubicBezTo>
                <a:close/>
                <a:moveTo>
                  <a:pt x="67975" y="29677"/>
                </a:moveTo>
                <a:cubicBezTo>
                  <a:pt x="59395" y="29677"/>
                  <a:pt x="52430" y="36643"/>
                  <a:pt x="52430" y="45223"/>
                </a:cubicBezTo>
                <a:cubicBezTo>
                  <a:pt x="52430" y="53802"/>
                  <a:pt x="59395" y="60768"/>
                  <a:pt x="67975" y="60768"/>
                </a:cubicBezTo>
                <a:cubicBezTo>
                  <a:pt x="76555" y="60768"/>
                  <a:pt x="83520" y="53802"/>
                  <a:pt x="83520" y="45223"/>
                </a:cubicBezTo>
                <a:cubicBezTo>
                  <a:pt x="83520" y="36643"/>
                  <a:pt x="76555" y="29677"/>
                  <a:pt x="67975" y="29677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56" name="Text 54"/>
          <p:cNvSpPr/>
          <p:nvPr/>
        </p:nvSpPr>
        <p:spPr>
          <a:xfrm>
            <a:off x="841139" y="6258801"/>
            <a:ext cx="8610374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F8F5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Order Management:</a:t>
            </a:r>
            <a:pPr>
              <a:lnSpc>
                <a:spcPct val="130000"/>
              </a:lnSpc>
            </a:pPr>
            <a:r>
              <a:rPr lang="en-US" sz="1139" dirty="0">
                <a:solidFill>
                  <a:srgbClr val="F8F5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Basic order management dashboard for the boutique owner to view, process, and fulfill customer orders efficiently.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992" y="341992"/>
            <a:ext cx="11567865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2" b="1" spc="188" kern="0" dirty="0">
                <a:solidFill>
                  <a:srgbClr val="C8A4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SCOPE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1992" y="581386"/>
            <a:ext cx="11713212" cy="41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31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Out-of-Scope Features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1992" y="1060174"/>
            <a:ext cx="11584965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2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Intentionally excluded from MVP to maintain focus and deliver within constraints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1992" y="1436365"/>
            <a:ext cx="683983" cy="34199"/>
          </a:xfrm>
          <a:custGeom>
            <a:avLst/>
            <a:gdLst/>
            <a:ahLst/>
            <a:cxnLst/>
            <a:rect l="l" t="t" r="r" b="b"/>
            <a:pathLst>
              <a:path w="683983" h="34199">
                <a:moveTo>
                  <a:pt x="0" y="0"/>
                </a:moveTo>
                <a:lnTo>
                  <a:pt x="683983" y="0"/>
                </a:lnTo>
                <a:lnTo>
                  <a:pt x="683983" y="34199"/>
                </a:lnTo>
                <a:lnTo>
                  <a:pt x="0" y="34199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6" name="Shape 4"/>
          <p:cNvSpPr/>
          <p:nvPr/>
        </p:nvSpPr>
        <p:spPr>
          <a:xfrm>
            <a:off x="359091" y="1675759"/>
            <a:ext cx="5600112" cy="1692858"/>
          </a:xfrm>
          <a:custGeom>
            <a:avLst/>
            <a:gdLst/>
            <a:ahLst/>
            <a:cxnLst/>
            <a:rect l="l" t="t" r="r" b="b"/>
            <a:pathLst>
              <a:path w="5600112" h="1692858">
                <a:moveTo>
                  <a:pt x="0" y="0"/>
                </a:moveTo>
                <a:lnTo>
                  <a:pt x="5600112" y="0"/>
                </a:lnTo>
                <a:lnTo>
                  <a:pt x="5600112" y="1692858"/>
                </a:lnTo>
                <a:lnTo>
                  <a:pt x="0" y="16928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359091" y="1675759"/>
            <a:ext cx="34199" cy="1692858"/>
          </a:xfrm>
          <a:custGeom>
            <a:avLst/>
            <a:gdLst/>
            <a:ahLst/>
            <a:cxnLst/>
            <a:rect l="l" t="t" r="r" b="b"/>
            <a:pathLst>
              <a:path w="34199" h="1692858">
                <a:moveTo>
                  <a:pt x="0" y="0"/>
                </a:moveTo>
                <a:lnTo>
                  <a:pt x="34199" y="0"/>
                </a:lnTo>
                <a:lnTo>
                  <a:pt x="34199" y="1692858"/>
                </a:lnTo>
                <a:lnTo>
                  <a:pt x="0" y="1692858"/>
                </a:lnTo>
                <a:lnTo>
                  <a:pt x="0" y="0"/>
                </a:lnTo>
                <a:close/>
              </a:path>
            </a:pathLst>
          </a:custGeom>
          <a:solidFill>
            <a:srgbClr val="A9A9A9"/>
          </a:solidFill>
          <a:ln/>
        </p:spPr>
      </p:sp>
      <p:sp>
        <p:nvSpPr>
          <p:cNvPr id="8" name="Shape 6"/>
          <p:cNvSpPr/>
          <p:nvPr/>
        </p:nvSpPr>
        <p:spPr>
          <a:xfrm>
            <a:off x="581386" y="1880954"/>
            <a:ext cx="478788" cy="478788"/>
          </a:xfrm>
          <a:custGeom>
            <a:avLst/>
            <a:gdLst/>
            <a:ahLst/>
            <a:cxnLst/>
            <a:rect l="l" t="t" r="r" b="b"/>
            <a:pathLst>
              <a:path w="478788" h="478788">
                <a:moveTo>
                  <a:pt x="0" y="0"/>
                </a:moveTo>
                <a:lnTo>
                  <a:pt x="478788" y="0"/>
                </a:lnTo>
                <a:lnTo>
                  <a:pt x="478788" y="478788"/>
                </a:lnTo>
                <a:lnTo>
                  <a:pt x="0" y="478788"/>
                </a:lnTo>
                <a:lnTo>
                  <a:pt x="0" y="0"/>
                </a:lnTo>
                <a:close/>
              </a:path>
            </a:pathLst>
          </a:custGeom>
          <a:solidFill>
            <a:srgbClr val="A9A9A9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18182" y="2017750"/>
            <a:ext cx="205195" cy="205195"/>
          </a:xfrm>
          <a:custGeom>
            <a:avLst/>
            <a:gdLst/>
            <a:ahLst/>
            <a:cxnLst/>
            <a:rect l="l" t="t" r="r" b="b"/>
            <a:pathLst>
              <a:path w="205195" h="205195">
                <a:moveTo>
                  <a:pt x="128848" y="27573"/>
                </a:moveTo>
                <a:cubicBezTo>
                  <a:pt x="131894" y="22403"/>
                  <a:pt x="137425" y="19237"/>
                  <a:pt x="143396" y="19237"/>
                </a:cubicBezTo>
                <a:lnTo>
                  <a:pt x="144278" y="19237"/>
                </a:lnTo>
                <a:cubicBezTo>
                  <a:pt x="153135" y="19237"/>
                  <a:pt x="160309" y="26411"/>
                  <a:pt x="160309" y="35268"/>
                </a:cubicBezTo>
                <a:cubicBezTo>
                  <a:pt x="160309" y="44125"/>
                  <a:pt x="153135" y="51299"/>
                  <a:pt x="144278" y="51299"/>
                </a:cubicBezTo>
                <a:lnTo>
                  <a:pt x="114901" y="51299"/>
                </a:lnTo>
                <a:lnTo>
                  <a:pt x="128848" y="27573"/>
                </a:lnTo>
                <a:close/>
                <a:moveTo>
                  <a:pt x="76347" y="27573"/>
                </a:moveTo>
                <a:lnTo>
                  <a:pt x="90294" y="51299"/>
                </a:lnTo>
                <a:lnTo>
                  <a:pt x="60917" y="51299"/>
                </a:lnTo>
                <a:cubicBezTo>
                  <a:pt x="52060" y="51299"/>
                  <a:pt x="44886" y="44125"/>
                  <a:pt x="44886" y="35268"/>
                </a:cubicBezTo>
                <a:cubicBezTo>
                  <a:pt x="44886" y="26411"/>
                  <a:pt x="52060" y="19237"/>
                  <a:pt x="60917" y="19237"/>
                </a:cubicBezTo>
                <a:lnTo>
                  <a:pt x="61799" y="19237"/>
                </a:lnTo>
                <a:cubicBezTo>
                  <a:pt x="67770" y="19237"/>
                  <a:pt x="73341" y="22403"/>
                  <a:pt x="76347" y="27573"/>
                </a:cubicBezTo>
                <a:close/>
                <a:moveTo>
                  <a:pt x="112256" y="17834"/>
                </a:moveTo>
                <a:lnTo>
                  <a:pt x="102597" y="34266"/>
                </a:lnTo>
                <a:lnTo>
                  <a:pt x="92939" y="17834"/>
                </a:lnTo>
                <a:cubicBezTo>
                  <a:pt x="86446" y="6773"/>
                  <a:pt x="74584" y="0"/>
                  <a:pt x="61799" y="0"/>
                </a:cubicBezTo>
                <a:lnTo>
                  <a:pt x="60917" y="0"/>
                </a:lnTo>
                <a:cubicBezTo>
                  <a:pt x="41440" y="0"/>
                  <a:pt x="25649" y="15790"/>
                  <a:pt x="25649" y="35268"/>
                </a:cubicBezTo>
                <a:cubicBezTo>
                  <a:pt x="25649" y="41039"/>
                  <a:pt x="27052" y="46489"/>
                  <a:pt x="29497" y="51299"/>
                </a:cubicBezTo>
                <a:lnTo>
                  <a:pt x="12825" y="51299"/>
                </a:lnTo>
                <a:cubicBezTo>
                  <a:pt x="5731" y="51299"/>
                  <a:pt x="0" y="57030"/>
                  <a:pt x="0" y="64123"/>
                </a:cubicBezTo>
                <a:lnTo>
                  <a:pt x="0" y="76948"/>
                </a:lnTo>
                <a:cubicBezTo>
                  <a:pt x="0" y="84042"/>
                  <a:pt x="5731" y="89773"/>
                  <a:pt x="12825" y="89773"/>
                </a:cubicBezTo>
                <a:lnTo>
                  <a:pt x="192370" y="89773"/>
                </a:lnTo>
                <a:cubicBezTo>
                  <a:pt x="199464" y="89773"/>
                  <a:pt x="205195" y="84042"/>
                  <a:pt x="205195" y="76948"/>
                </a:cubicBezTo>
                <a:lnTo>
                  <a:pt x="205195" y="64123"/>
                </a:lnTo>
                <a:cubicBezTo>
                  <a:pt x="205195" y="57030"/>
                  <a:pt x="199464" y="51299"/>
                  <a:pt x="192370" y="51299"/>
                </a:cubicBezTo>
                <a:lnTo>
                  <a:pt x="175698" y="51299"/>
                </a:lnTo>
                <a:cubicBezTo>
                  <a:pt x="178143" y="46489"/>
                  <a:pt x="179546" y="41039"/>
                  <a:pt x="179546" y="35268"/>
                </a:cubicBezTo>
                <a:cubicBezTo>
                  <a:pt x="179546" y="15790"/>
                  <a:pt x="163755" y="0"/>
                  <a:pt x="144278" y="0"/>
                </a:cubicBezTo>
                <a:lnTo>
                  <a:pt x="143396" y="0"/>
                </a:lnTo>
                <a:cubicBezTo>
                  <a:pt x="130611" y="0"/>
                  <a:pt x="118749" y="6773"/>
                  <a:pt x="112256" y="17794"/>
                </a:cubicBezTo>
                <a:close/>
                <a:moveTo>
                  <a:pt x="192370" y="109010"/>
                </a:moveTo>
                <a:lnTo>
                  <a:pt x="112216" y="109010"/>
                </a:lnTo>
                <a:lnTo>
                  <a:pt x="112216" y="192370"/>
                </a:lnTo>
                <a:lnTo>
                  <a:pt x="166721" y="192370"/>
                </a:lnTo>
                <a:cubicBezTo>
                  <a:pt x="180868" y="192370"/>
                  <a:pt x="192370" y="180868"/>
                  <a:pt x="192370" y="166721"/>
                </a:cubicBezTo>
                <a:lnTo>
                  <a:pt x="192370" y="109010"/>
                </a:lnTo>
                <a:close/>
                <a:moveTo>
                  <a:pt x="92979" y="109010"/>
                </a:moveTo>
                <a:lnTo>
                  <a:pt x="12825" y="109010"/>
                </a:lnTo>
                <a:lnTo>
                  <a:pt x="12825" y="166721"/>
                </a:lnTo>
                <a:cubicBezTo>
                  <a:pt x="12825" y="180868"/>
                  <a:pt x="24327" y="192370"/>
                  <a:pt x="38474" y="192370"/>
                </a:cubicBezTo>
                <a:lnTo>
                  <a:pt x="92979" y="192370"/>
                </a:lnTo>
                <a:lnTo>
                  <a:pt x="92979" y="109010"/>
                </a:lnTo>
                <a:close/>
              </a:path>
            </a:pathLst>
          </a:custGeom>
          <a:solidFill>
            <a:srgbClr val="A9A9A9"/>
          </a:solidFill>
          <a:ln/>
        </p:spPr>
      </p:sp>
      <p:sp>
        <p:nvSpPr>
          <p:cNvPr id="10" name="Text 8"/>
          <p:cNvSpPr/>
          <p:nvPr/>
        </p:nvSpPr>
        <p:spPr>
          <a:xfrm>
            <a:off x="1196971" y="1983551"/>
            <a:ext cx="1530412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6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Loyalty Programs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1386" y="2496539"/>
            <a:ext cx="5241021" cy="66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loyalty programs &amp; advanced promotions</a:t>
            </a:r>
            <a:pPr>
              <a:lnSpc>
                <a:spcPct val="140000"/>
              </a:lnSpc>
            </a:pPr>
            <a:r>
              <a:rPr lang="en-US" sz="1077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are excluded from MVP. These features require complex backend logic and extensive testing that exceeds our 40-hour timeline.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9091" y="3573812"/>
            <a:ext cx="5600112" cy="1692858"/>
          </a:xfrm>
          <a:custGeom>
            <a:avLst/>
            <a:gdLst/>
            <a:ahLst/>
            <a:cxnLst/>
            <a:rect l="l" t="t" r="r" b="b"/>
            <a:pathLst>
              <a:path w="5600112" h="1692858">
                <a:moveTo>
                  <a:pt x="0" y="0"/>
                </a:moveTo>
                <a:lnTo>
                  <a:pt x="5600112" y="0"/>
                </a:lnTo>
                <a:lnTo>
                  <a:pt x="5600112" y="1692858"/>
                </a:lnTo>
                <a:lnTo>
                  <a:pt x="0" y="16928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59091" y="3573812"/>
            <a:ext cx="34199" cy="1692858"/>
          </a:xfrm>
          <a:custGeom>
            <a:avLst/>
            <a:gdLst/>
            <a:ahLst/>
            <a:cxnLst/>
            <a:rect l="l" t="t" r="r" b="b"/>
            <a:pathLst>
              <a:path w="34199" h="1692858">
                <a:moveTo>
                  <a:pt x="0" y="0"/>
                </a:moveTo>
                <a:lnTo>
                  <a:pt x="34199" y="0"/>
                </a:lnTo>
                <a:lnTo>
                  <a:pt x="34199" y="1692858"/>
                </a:lnTo>
                <a:lnTo>
                  <a:pt x="0" y="1692858"/>
                </a:lnTo>
                <a:lnTo>
                  <a:pt x="0" y="0"/>
                </a:lnTo>
                <a:close/>
              </a:path>
            </a:pathLst>
          </a:custGeom>
          <a:solidFill>
            <a:srgbClr val="A9A9A9"/>
          </a:solidFill>
          <a:ln/>
        </p:spPr>
      </p:sp>
      <p:sp>
        <p:nvSpPr>
          <p:cNvPr id="14" name="Shape 12"/>
          <p:cNvSpPr/>
          <p:nvPr/>
        </p:nvSpPr>
        <p:spPr>
          <a:xfrm>
            <a:off x="581386" y="3779007"/>
            <a:ext cx="478788" cy="478788"/>
          </a:xfrm>
          <a:custGeom>
            <a:avLst/>
            <a:gdLst/>
            <a:ahLst/>
            <a:cxnLst/>
            <a:rect l="l" t="t" r="r" b="b"/>
            <a:pathLst>
              <a:path w="478788" h="478788">
                <a:moveTo>
                  <a:pt x="0" y="0"/>
                </a:moveTo>
                <a:lnTo>
                  <a:pt x="478788" y="0"/>
                </a:lnTo>
                <a:lnTo>
                  <a:pt x="478788" y="478788"/>
                </a:lnTo>
                <a:lnTo>
                  <a:pt x="0" y="478788"/>
                </a:lnTo>
                <a:lnTo>
                  <a:pt x="0" y="0"/>
                </a:lnTo>
                <a:close/>
              </a:path>
            </a:pathLst>
          </a:custGeom>
          <a:solidFill>
            <a:srgbClr val="A9A9A9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18182" y="3915804"/>
            <a:ext cx="205195" cy="205195"/>
          </a:xfrm>
          <a:custGeom>
            <a:avLst/>
            <a:gdLst/>
            <a:ahLst/>
            <a:cxnLst/>
            <a:rect l="l" t="t" r="r" b="b"/>
            <a:pathLst>
              <a:path w="205195" h="205195">
                <a:moveTo>
                  <a:pt x="48093" y="22443"/>
                </a:moveTo>
                <a:cubicBezTo>
                  <a:pt x="48093" y="10059"/>
                  <a:pt x="58152" y="0"/>
                  <a:pt x="70536" y="0"/>
                </a:cubicBezTo>
                <a:lnTo>
                  <a:pt x="80154" y="0"/>
                </a:lnTo>
                <a:cubicBezTo>
                  <a:pt x="87248" y="0"/>
                  <a:pt x="92979" y="5731"/>
                  <a:pt x="92979" y="12825"/>
                </a:cubicBezTo>
                <a:lnTo>
                  <a:pt x="92979" y="192370"/>
                </a:lnTo>
                <a:cubicBezTo>
                  <a:pt x="92979" y="199464"/>
                  <a:pt x="87248" y="205195"/>
                  <a:pt x="80154" y="205195"/>
                </a:cubicBezTo>
                <a:lnTo>
                  <a:pt x="67330" y="205195"/>
                </a:lnTo>
                <a:cubicBezTo>
                  <a:pt x="55387" y="205195"/>
                  <a:pt x="45327" y="197019"/>
                  <a:pt x="42482" y="185958"/>
                </a:cubicBezTo>
                <a:cubicBezTo>
                  <a:pt x="42201" y="185958"/>
                  <a:pt x="41961" y="185958"/>
                  <a:pt x="41680" y="185958"/>
                </a:cubicBezTo>
                <a:cubicBezTo>
                  <a:pt x="23966" y="185958"/>
                  <a:pt x="9619" y="171610"/>
                  <a:pt x="9619" y="153896"/>
                </a:cubicBezTo>
                <a:cubicBezTo>
                  <a:pt x="9619" y="146682"/>
                  <a:pt x="12023" y="140030"/>
                  <a:pt x="16031" y="134659"/>
                </a:cubicBezTo>
                <a:cubicBezTo>
                  <a:pt x="8256" y="128808"/>
                  <a:pt x="3206" y="119510"/>
                  <a:pt x="3206" y="109010"/>
                </a:cubicBezTo>
                <a:cubicBezTo>
                  <a:pt x="3206" y="96626"/>
                  <a:pt x="10260" y="85845"/>
                  <a:pt x="20519" y="80515"/>
                </a:cubicBezTo>
                <a:cubicBezTo>
                  <a:pt x="17674" y="75706"/>
                  <a:pt x="16031" y="70095"/>
                  <a:pt x="16031" y="64123"/>
                </a:cubicBezTo>
                <a:cubicBezTo>
                  <a:pt x="16031" y="46409"/>
                  <a:pt x="30378" y="32062"/>
                  <a:pt x="48093" y="32062"/>
                </a:cubicBezTo>
                <a:lnTo>
                  <a:pt x="48093" y="22443"/>
                </a:lnTo>
                <a:close/>
                <a:moveTo>
                  <a:pt x="157102" y="22443"/>
                </a:moveTo>
                <a:lnTo>
                  <a:pt x="157102" y="32062"/>
                </a:lnTo>
                <a:cubicBezTo>
                  <a:pt x="174816" y="32062"/>
                  <a:pt x="189164" y="46409"/>
                  <a:pt x="189164" y="64123"/>
                </a:cubicBezTo>
                <a:cubicBezTo>
                  <a:pt x="189164" y="70135"/>
                  <a:pt x="187521" y="75746"/>
                  <a:pt x="184675" y="80515"/>
                </a:cubicBezTo>
                <a:cubicBezTo>
                  <a:pt x="194975" y="85845"/>
                  <a:pt x="201989" y="96586"/>
                  <a:pt x="201989" y="109010"/>
                </a:cubicBezTo>
                <a:cubicBezTo>
                  <a:pt x="201989" y="119510"/>
                  <a:pt x="196939" y="128808"/>
                  <a:pt x="189164" y="134659"/>
                </a:cubicBezTo>
                <a:cubicBezTo>
                  <a:pt x="193172" y="140030"/>
                  <a:pt x="195576" y="146682"/>
                  <a:pt x="195576" y="153896"/>
                </a:cubicBezTo>
                <a:cubicBezTo>
                  <a:pt x="195576" y="171610"/>
                  <a:pt x="181229" y="185958"/>
                  <a:pt x="163515" y="185958"/>
                </a:cubicBezTo>
                <a:cubicBezTo>
                  <a:pt x="163234" y="185958"/>
                  <a:pt x="162994" y="185958"/>
                  <a:pt x="162713" y="185958"/>
                </a:cubicBezTo>
                <a:cubicBezTo>
                  <a:pt x="159868" y="197019"/>
                  <a:pt x="149808" y="205195"/>
                  <a:pt x="137865" y="205195"/>
                </a:cubicBezTo>
                <a:lnTo>
                  <a:pt x="125041" y="205195"/>
                </a:lnTo>
                <a:cubicBezTo>
                  <a:pt x="117947" y="205195"/>
                  <a:pt x="112216" y="199464"/>
                  <a:pt x="112216" y="192370"/>
                </a:cubicBezTo>
                <a:lnTo>
                  <a:pt x="112216" y="12825"/>
                </a:lnTo>
                <a:cubicBezTo>
                  <a:pt x="112216" y="5731"/>
                  <a:pt x="117947" y="0"/>
                  <a:pt x="125041" y="0"/>
                </a:cubicBezTo>
                <a:lnTo>
                  <a:pt x="134659" y="0"/>
                </a:lnTo>
                <a:cubicBezTo>
                  <a:pt x="147043" y="0"/>
                  <a:pt x="157102" y="10059"/>
                  <a:pt x="157102" y="22443"/>
                </a:cubicBezTo>
                <a:close/>
              </a:path>
            </a:pathLst>
          </a:custGeom>
          <a:solidFill>
            <a:srgbClr val="A9A9A9"/>
          </a:solidFill>
          <a:ln/>
        </p:spPr>
      </p:sp>
      <p:sp>
        <p:nvSpPr>
          <p:cNvPr id="16" name="Text 14"/>
          <p:cNvSpPr/>
          <p:nvPr/>
        </p:nvSpPr>
        <p:spPr>
          <a:xfrm>
            <a:off x="1196971" y="3881604"/>
            <a:ext cx="2222945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6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Recommendation Engines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1386" y="4394592"/>
            <a:ext cx="5241021" cy="66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recommendation engines</a:t>
            </a:r>
            <a:pPr>
              <a:lnSpc>
                <a:spcPct val="140000"/>
              </a:lnSpc>
            </a:pPr>
            <a:r>
              <a:rPr lang="en-US" sz="1077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using AI/ML algorithms are out of scope. Implementing collaborative filtering or content-based recommendations requires significant development time and data accumulation.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48827" y="1675759"/>
            <a:ext cx="5600112" cy="1692858"/>
          </a:xfrm>
          <a:custGeom>
            <a:avLst/>
            <a:gdLst/>
            <a:ahLst/>
            <a:cxnLst/>
            <a:rect l="l" t="t" r="r" b="b"/>
            <a:pathLst>
              <a:path w="5600112" h="1692858">
                <a:moveTo>
                  <a:pt x="0" y="0"/>
                </a:moveTo>
                <a:lnTo>
                  <a:pt x="5600112" y="0"/>
                </a:lnTo>
                <a:lnTo>
                  <a:pt x="5600112" y="1692858"/>
                </a:lnTo>
                <a:lnTo>
                  <a:pt x="0" y="16928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6248827" y="1675759"/>
            <a:ext cx="34199" cy="1692858"/>
          </a:xfrm>
          <a:custGeom>
            <a:avLst/>
            <a:gdLst/>
            <a:ahLst/>
            <a:cxnLst/>
            <a:rect l="l" t="t" r="r" b="b"/>
            <a:pathLst>
              <a:path w="34199" h="1692858">
                <a:moveTo>
                  <a:pt x="0" y="0"/>
                </a:moveTo>
                <a:lnTo>
                  <a:pt x="34199" y="0"/>
                </a:lnTo>
                <a:lnTo>
                  <a:pt x="34199" y="1692858"/>
                </a:lnTo>
                <a:lnTo>
                  <a:pt x="0" y="1692858"/>
                </a:lnTo>
                <a:lnTo>
                  <a:pt x="0" y="0"/>
                </a:lnTo>
                <a:close/>
              </a:path>
            </a:pathLst>
          </a:custGeom>
          <a:solidFill>
            <a:srgbClr val="A9A9A9"/>
          </a:solidFill>
          <a:ln/>
        </p:spPr>
      </p:sp>
      <p:sp>
        <p:nvSpPr>
          <p:cNvPr id="20" name="Shape 18"/>
          <p:cNvSpPr/>
          <p:nvPr/>
        </p:nvSpPr>
        <p:spPr>
          <a:xfrm>
            <a:off x="6471122" y="1880954"/>
            <a:ext cx="478788" cy="478788"/>
          </a:xfrm>
          <a:custGeom>
            <a:avLst/>
            <a:gdLst/>
            <a:ahLst/>
            <a:cxnLst/>
            <a:rect l="l" t="t" r="r" b="b"/>
            <a:pathLst>
              <a:path w="478788" h="478788">
                <a:moveTo>
                  <a:pt x="0" y="0"/>
                </a:moveTo>
                <a:lnTo>
                  <a:pt x="478788" y="0"/>
                </a:lnTo>
                <a:lnTo>
                  <a:pt x="478788" y="478788"/>
                </a:lnTo>
                <a:lnTo>
                  <a:pt x="0" y="478788"/>
                </a:lnTo>
                <a:lnTo>
                  <a:pt x="0" y="0"/>
                </a:lnTo>
                <a:close/>
              </a:path>
            </a:pathLst>
          </a:custGeom>
          <a:solidFill>
            <a:srgbClr val="A9A9A9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607919" y="2017750"/>
            <a:ext cx="205195" cy="205195"/>
          </a:xfrm>
          <a:custGeom>
            <a:avLst/>
            <a:gdLst/>
            <a:ahLst/>
            <a:cxnLst/>
            <a:rect l="l" t="t" r="r" b="b"/>
            <a:pathLst>
              <a:path w="205195" h="205195">
                <a:moveTo>
                  <a:pt x="38474" y="0"/>
                </a:moveTo>
                <a:cubicBezTo>
                  <a:pt x="24327" y="0"/>
                  <a:pt x="12825" y="11502"/>
                  <a:pt x="12825" y="25649"/>
                </a:cubicBezTo>
                <a:cubicBezTo>
                  <a:pt x="12825" y="39797"/>
                  <a:pt x="24327" y="51299"/>
                  <a:pt x="38474" y="51299"/>
                </a:cubicBezTo>
                <a:lnTo>
                  <a:pt x="57711" y="51299"/>
                </a:lnTo>
                <a:lnTo>
                  <a:pt x="57711" y="64123"/>
                </a:lnTo>
                <a:lnTo>
                  <a:pt x="34867" y="64123"/>
                </a:lnTo>
                <a:cubicBezTo>
                  <a:pt x="22203" y="64123"/>
                  <a:pt x="11422" y="73381"/>
                  <a:pt x="9498" y="85925"/>
                </a:cubicBezTo>
                <a:lnTo>
                  <a:pt x="441" y="145921"/>
                </a:lnTo>
                <a:cubicBezTo>
                  <a:pt x="160" y="147804"/>
                  <a:pt x="0" y="149728"/>
                  <a:pt x="0" y="151652"/>
                </a:cubicBezTo>
                <a:lnTo>
                  <a:pt x="0" y="179546"/>
                </a:lnTo>
                <a:cubicBezTo>
                  <a:pt x="0" y="193693"/>
                  <a:pt x="11502" y="205195"/>
                  <a:pt x="25649" y="205195"/>
                </a:cubicBezTo>
                <a:lnTo>
                  <a:pt x="179546" y="205195"/>
                </a:lnTo>
                <a:cubicBezTo>
                  <a:pt x="193693" y="205195"/>
                  <a:pt x="205195" y="193693"/>
                  <a:pt x="205195" y="179546"/>
                </a:cubicBezTo>
                <a:lnTo>
                  <a:pt x="205195" y="151652"/>
                </a:lnTo>
                <a:cubicBezTo>
                  <a:pt x="205195" y="149728"/>
                  <a:pt x="205035" y="147804"/>
                  <a:pt x="204754" y="145881"/>
                </a:cubicBezTo>
                <a:lnTo>
                  <a:pt x="195657" y="85925"/>
                </a:lnTo>
                <a:cubicBezTo>
                  <a:pt x="193773" y="73381"/>
                  <a:pt x="182992" y="64123"/>
                  <a:pt x="170328" y="64123"/>
                </a:cubicBezTo>
                <a:lnTo>
                  <a:pt x="83360" y="64123"/>
                </a:lnTo>
                <a:lnTo>
                  <a:pt x="83360" y="51299"/>
                </a:lnTo>
                <a:lnTo>
                  <a:pt x="102597" y="51299"/>
                </a:lnTo>
                <a:cubicBezTo>
                  <a:pt x="116745" y="51299"/>
                  <a:pt x="128247" y="39797"/>
                  <a:pt x="128247" y="25649"/>
                </a:cubicBezTo>
                <a:cubicBezTo>
                  <a:pt x="128247" y="11502"/>
                  <a:pt x="116745" y="0"/>
                  <a:pt x="102597" y="0"/>
                </a:cubicBezTo>
                <a:lnTo>
                  <a:pt x="38474" y="0"/>
                </a:lnTo>
                <a:close/>
                <a:moveTo>
                  <a:pt x="38474" y="19237"/>
                </a:moveTo>
                <a:lnTo>
                  <a:pt x="102597" y="19237"/>
                </a:lnTo>
                <a:cubicBezTo>
                  <a:pt x="106124" y="19237"/>
                  <a:pt x="109010" y="22123"/>
                  <a:pt x="109010" y="25649"/>
                </a:cubicBezTo>
                <a:cubicBezTo>
                  <a:pt x="109010" y="29176"/>
                  <a:pt x="106124" y="32062"/>
                  <a:pt x="102597" y="32062"/>
                </a:cubicBezTo>
                <a:lnTo>
                  <a:pt x="38474" y="32062"/>
                </a:lnTo>
                <a:cubicBezTo>
                  <a:pt x="34947" y="32062"/>
                  <a:pt x="32062" y="29176"/>
                  <a:pt x="32062" y="25649"/>
                </a:cubicBezTo>
                <a:cubicBezTo>
                  <a:pt x="32062" y="22123"/>
                  <a:pt x="34947" y="19237"/>
                  <a:pt x="38474" y="19237"/>
                </a:cubicBezTo>
                <a:close/>
                <a:moveTo>
                  <a:pt x="25649" y="169927"/>
                </a:moveTo>
                <a:cubicBezTo>
                  <a:pt x="25649" y="164597"/>
                  <a:pt x="29938" y="160309"/>
                  <a:pt x="35268" y="160309"/>
                </a:cubicBezTo>
                <a:lnTo>
                  <a:pt x="169927" y="160309"/>
                </a:lnTo>
                <a:cubicBezTo>
                  <a:pt x="175257" y="160309"/>
                  <a:pt x="179546" y="164597"/>
                  <a:pt x="179546" y="169927"/>
                </a:cubicBezTo>
                <a:cubicBezTo>
                  <a:pt x="179546" y="175257"/>
                  <a:pt x="175257" y="179546"/>
                  <a:pt x="169927" y="179546"/>
                </a:cubicBezTo>
                <a:lnTo>
                  <a:pt x="35268" y="179546"/>
                </a:lnTo>
                <a:cubicBezTo>
                  <a:pt x="29938" y="179546"/>
                  <a:pt x="25649" y="175257"/>
                  <a:pt x="25649" y="169927"/>
                </a:cubicBezTo>
                <a:close/>
                <a:moveTo>
                  <a:pt x="44886" y="105804"/>
                </a:moveTo>
                <a:cubicBezTo>
                  <a:pt x="39578" y="105804"/>
                  <a:pt x="35268" y="101494"/>
                  <a:pt x="35268" y="96185"/>
                </a:cubicBezTo>
                <a:cubicBezTo>
                  <a:pt x="35268" y="90877"/>
                  <a:pt x="39578" y="86567"/>
                  <a:pt x="44886" y="86567"/>
                </a:cubicBezTo>
                <a:cubicBezTo>
                  <a:pt x="50195" y="86567"/>
                  <a:pt x="54505" y="90877"/>
                  <a:pt x="54505" y="96185"/>
                </a:cubicBezTo>
                <a:cubicBezTo>
                  <a:pt x="54505" y="101494"/>
                  <a:pt x="50195" y="105804"/>
                  <a:pt x="44886" y="105804"/>
                </a:cubicBezTo>
                <a:close/>
                <a:moveTo>
                  <a:pt x="92979" y="96185"/>
                </a:moveTo>
                <a:cubicBezTo>
                  <a:pt x="92979" y="101494"/>
                  <a:pt x="88669" y="105804"/>
                  <a:pt x="83360" y="105804"/>
                </a:cubicBezTo>
                <a:cubicBezTo>
                  <a:pt x="78052" y="105804"/>
                  <a:pt x="73742" y="101494"/>
                  <a:pt x="73742" y="96185"/>
                </a:cubicBezTo>
                <a:cubicBezTo>
                  <a:pt x="73742" y="90877"/>
                  <a:pt x="78052" y="86567"/>
                  <a:pt x="83360" y="86567"/>
                </a:cubicBezTo>
                <a:cubicBezTo>
                  <a:pt x="88669" y="86567"/>
                  <a:pt x="92979" y="90877"/>
                  <a:pt x="92979" y="96185"/>
                </a:cubicBezTo>
                <a:close/>
                <a:moveTo>
                  <a:pt x="64123" y="137865"/>
                </a:moveTo>
                <a:cubicBezTo>
                  <a:pt x="58815" y="137865"/>
                  <a:pt x="54505" y="133555"/>
                  <a:pt x="54505" y="128247"/>
                </a:cubicBezTo>
                <a:cubicBezTo>
                  <a:pt x="54505" y="122938"/>
                  <a:pt x="58815" y="118628"/>
                  <a:pt x="64123" y="118628"/>
                </a:cubicBezTo>
                <a:cubicBezTo>
                  <a:pt x="69432" y="118628"/>
                  <a:pt x="73742" y="122938"/>
                  <a:pt x="73742" y="128247"/>
                </a:cubicBezTo>
                <a:cubicBezTo>
                  <a:pt x="73742" y="133555"/>
                  <a:pt x="69432" y="137865"/>
                  <a:pt x="64123" y="137865"/>
                </a:cubicBezTo>
                <a:close/>
                <a:moveTo>
                  <a:pt x="131453" y="96185"/>
                </a:moveTo>
                <a:cubicBezTo>
                  <a:pt x="131453" y="101494"/>
                  <a:pt x="127143" y="105804"/>
                  <a:pt x="121835" y="105804"/>
                </a:cubicBezTo>
                <a:cubicBezTo>
                  <a:pt x="116526" y="105804"/>
                  <a:pt x="112216" y="101494"/>
                  <a:pt x="112216" y="96185"/>
                </a:cubicBezTo>
                <a:cubicBezTo>
                  <a:pt x="112216" y="90877"/>
                  <a:pt x="116526" y="86567"/>
                  <a:pt x="121835" y="86567"/>
                </a:cubicBezTo>
                <a:cubicBezTo>
                  <a:pt x="127143" y="86567"/>
                  <a:pt x="131453" y="90877"/>
                  <a:pt x="131453" y="96185"/>
                </a:cubicBezTo>
                <a:close/>
                <a:moveTo>
                  <a:pt x="102597" y="137865"/>
                </a:moveTo>
                <a:cubicBezTo>
                  <a:pt x="97289" y="137865"/>
                  <a:pt x="92979" y="133555"/>
                  <a:pt x="92979" y="128247"/>
                </a:cubicBezTo>
                <a:cubicBezTo>
                  <a:pt x="92979" y="122938"/>
                  <a:pt x="97289" y="118628"/>
                  <a:pt x="102597" y="118628"/>
                </a:cubicBezTo>
                <a:cubicBezTo>
                  <a:pt x="107906" y="118628"/>
                  <a:pt x="112216" y="122938"/>
                  <a:pt x="112216" y="128247"/>
                </a:cubicBezTo>
                <a:cubicBezTo>
                  <a:pt x="112216" y="133555"/>
                  <a:pt x="107906" y="137865"/>
                  <a:pt x="102597" y="137865"/>
                </a:cubicBezTo>
                <a:close/>
                <a:moveTo>
                  <a:pt x="169927" y="96185"/>
                </a:moveTo>
                <a:cubicBezTo>
                  <a:pt x="169927" y="101494"/>
                  <a:pt x="165617" y="105804"/>
                  <a:pt x="160309" y="105804"/>
                </a:cubicBezTo>
                <a:cubicBezTo>
                  <a:pt x="155000" y="105804"/>
                  <a:pt x="150690" y="101494"/>
                  <a:pt x="150690" y="96185"/>
                </a:cubicBezTo>
                <a:cubicBezTo>
                  <a:pt x="150690" y="90877"/>
                  <a:pt x="155000" y="86567"/>
                  <a:pt x="160309" y="86567"/>
                </a:cubicBezTo>
                <a:cubicBezTo>
                  <a:pt x="165617" y="86567"/>
                  <a:pt x="169927" y="90877"/>
                  <a:pt x="169927" y="96185"/>
                </a:cubicBezTo>
                <a:close/>
                <a:moveTo>
                  <a:pt x="141072" y="137865"/>
                </a:moveTo>
                <a:cubicBezTo>
                  <a:pt x="135763" y="137865"/>
                  <a:pt x="131453" y="133555"/>
                  <a:pt x="131453" y="128247"/>
                </a:cubicBezTo>
                <a:cubicBezTo>
                  <a:pt x="131453" y="122938"/>
                  <a:pt x="135763" y="118628"/>
                  <a:pt x="141072" y="118628"/>
                </a:cubicBezTo>
                <a:cubicBezTo>
                  <a:pt x="146380" y="118628"/>
                  <a:pt x="150690" y="122938"/>
                  <a:pt x="150690" y="128247"/>
                </a:cubicBezTo>
                <a:cubicBezTo>
                  <a:pt x="150690" y="133555"/>
                  <a:pt x="146380" y="137865"/>
                  <a:pt x="141072" y="137865"/>
                </a:cubicBezTo>
                <a:close/>
              </a:path>
            </a:pathLst>
          </a:custGeom>
          <a:solidFill>
            <a:srgbClr val="A9A9A9"/>
          </a:solidFill>
          <a:ln/>
        </p:spPr>
      </p:sp>
      <p:sp>
        <p:nvSpPr>
          <p:cNvPr id="22" name="Text 20"/>
          <p:cNvSpPr/>
          <p:nvPr/>
        </p:nvSpPr>
        <p:spPr>
          <a:xfrm>
            <a:off x="7086707" y="1983551"/>
            <a:ext cx="1393616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6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POS Integration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71122" y="2496539"/>
            <a:ext cx="5241021" cy="66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with physical POS systems</a:t>
            </a:r>
            <a:pPr>
              <a:lnSpc>
                <a:spcPct val="140000"/>
              </a:lnSpc>
            </a:pPr>
            <a:r>
              <a:rPr lang="en-US" sz="1077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not included. Connecting online and offline inventory/sales systems requires third-party API integrations and hardware compatibility testing.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48827" y="3573812"/>
            <a:ext cx="5600112" cy="1470564"/>
          </a:xfrm>
          <a:custGeom>
            <a:avLst/>
            <a:gdLst/>
            <a:ahLst/>
            <a:cxnLst/>
            <a:rect l="l" t="t" r="r" b="b"/>
            <a:pathLst>
              <a:path w="5600112" h="1470564">
                <a:moveTo>
                  <a:pt x="0" y="0"/>
                </a:moveTo>
                <a:lnTo>
                  <a:pt x="5600112" y="0"/>
                </a:lnTo>
                <a:lnTo>
                  <a:pt x="5600112" y="1470564"/>
                </a:lnTo>
                <a:lnTo>
                  <a:pt x="0" y="147056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248827" y="3573812"/>
            <a:ext cx="34199" cy="1470564"/>
          </a:xfrm>
          <a:custGeom>
            <a:avLst/>
            <a:gdLst/>
            <a:ahLst/>
            <a:cxnLst/>
            <a:rect l="l" t="t" r="r" b="b"/>
            <a:pathLst>
              <a:path w="34199" h="1470564">
                <a:moveTo>
                  <a:pt x="0" y="0"/>
                </a:moveTo>
                <a:lnTo>
                  <a:pt x="34199" y="0"/>
                </a:lnTo>
                <a:lnTo>
                  <a:pt x="34199" y="1470564"/>
                </a:lnTo>
                <a:lnTo>
                  <a:pt x="0" y="1470564"/>
                </a:lnTo>
                <a:lnTo>
                  <a:pt x="0" y="0"/>
                </a:lnTo>
                <a:close/>
              </a:path>
            </a:pathLst>
          </a:custGeom>
          <a:solidFill>
            <a:srgbClr val="A9A9A9"/>
          </a:solidFill>
          <a:ln/>
        </p:spPr>
      </p:sp>
      <p:sp>
        <p:nvSpPr>
          <p:cNvPr id="26" name="Shape 24"/>
          <p:cNvSpPr/>
          <p:nvPr/>
        </p:nvSpPr>
        <p:spPr>
          <a:xfrm>
            <a:off x="6471122" y="3779007"/>
            <a:ext cx="478788" cy="478788"/>
          </a:xfrm>
          <a:custGeom>
            <a:avLst/>
            <a:gdLst/>
            <a:ahLst/>
            <a:cxnLst/>
            <a:rect l="l" t="t" r="r" b="b"/>
            <a:pathLst>
              <a:path w="478788" h="478788">
                <a:moveTo>
                  <a:pt x="0" y="0"/>
                </a:moveTo>
                <a:lnTo>
                  <a:pt x="478788" y="0"/>
                </a:lnTo>
                <a:lnTo>
                  <a:pt x="478788" y="478788"/>
                </a:lnTo>
                <a:lnTo>
                  <a:pt x="0" y="478788"/>
                </a:lnTo>
                <a:lnTo>
                  <a:pt x="0" y="0"/>
                </a:lnTo>
                <a:close/>
              </a:path>
            </a:pathLst>
          </a:custGeom>
          <a:solidFill>
            <a:srgbClr val="A9A9A9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633568" y="3915804"/>
            <a:ext cx="153896" cy="205195"/>
          </a:xfrm>
          <a:custGeom>
            <a:avLst/>
            <a:gdLst/>
            <a:ahLst/>
            <a:cxnLst/>
            <a:rect l="l" t="t" r="r" b="b"/>
            <a:pathLst>
              <a:path w="153896" h="205195">
                <a:moveTo>
                  <a:pt x="6412" y="25649"/>
                </a:moveTo>
                <a:cubicBezTo>
                  <a:pt x="6412" y="11502"/>
                  <a:pt x="17914" y="0"/>
                  <a:pt x="32062" y="0"/>
                </a:cubicBezTo>
                <a:lnTo>
                  <a:pt x="121835" y="0"/>
                </a:lnTo>
                <a:cubicBezTo>
                  <a:pt x="135982" y="0"/>
                  <a:pt x="147484" y="11502"/>
                  <a:pt x="147484" y="25649"/>
                </a:cubicBezTo>
                <a:lnTo>
                  <a:pt x="147484" y="179546"/>
                </a:lnTo>
                <a:cubicBezTo>
                  <a:pt x="147484" y="193693"/>
                  <a:pt x="135982" y="205195"/>
                  <a:pt x="121835" y="205195"/>
                </a:cubicBezTo>
                <a:lnTo>
                  <a:pt x="32062" y="205195"/>
                </a:lnTo>
                <a:cubicBezTo>
                  <a:pt x="17914" y="205195"/>
                  <a:pt x="6412" y="193693"/>
                  <a:pt x="6412" y="179546"/>
                </a:cubicBezTo>
                <a:lnTo>
                  <a:pt x="6412" y="25649"/>
                </a:lnTo>
                <a:close/>
                <a:moveTo>
                  <a:pt x="32062" y="25649"/>
                </a:moveTo>
                <a:lnTo>
                  <a:pt x="32062" y="147484"/>
                </a:lnTo>
                <a:lnTo>
                  <a:pt x="121835" y="147484"/>
                </a:lnTo>
                <a:lnTo>
                  <a:pt x="121835" y="25649"/>
                </a:lnTo>
                <a:lnTo>
                  <a:pt x="32062" y="25649"/>
                </a:lnTo>
                <a:close/>
                <a:moveTo>
                  <a:pt x="76948" y="189164"/>
                </a:moveTo>
                <a:cubicBezTo>
                  <a:pt x="84042" y="189164"/>
                  <a:pt x="89773" y="183433"/>
                  <a:pt x="89773" y="176339"/>
                </a:cubicBezTo>
                <a:cubicBezTo>
                  <a:pt x="89773" y="169246"/>
                  <a:pt x="84042" y="163515"/>
                  <a:pt x="76948" y="163515"/>
                </a:cubicBezTo>
                <a:cubicBezTo>
                  <a:pt x="69854" y="163515"/>
                  <a:pt x="64123" y="169246"/>
                  <a:pt x="64123" y="176339"/>
                </a:cubicBezTo>
                <a:cubicBezTo>
                  <a:pt x="64123" y="183433"/>
                  <a:pt x="69854" y="189164"/>
                  <a:pt x="76948" y="189164"/>
                </a:cubicBezTo>
                <a:close/>
              </a:path>
            </a:pathLst>
          </a:custGeom>
          <a:solidFill>
            <a:srgbClr val="A9A9A9"/>
          </a:solidFill>
          <a:ln/>
        </p:spPr>
      </p:sp>
      <p:sp>
        <p:nvSpPr>
          <p:cNvPr id="28" name="Text 26"/>
          <p:cNvSpPr/>
          <p:nvPr/>
        </p:nvSpPr>
        <p:spPr>
          <a:xfrm>
            <a:off x="7086707" y="3881604"/>
            <a:ext cx="1675759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6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Native Mobile Apps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71122" y="4394592"/>
            <a:ext cx="5241021" cy="44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Native mobile applications</a:t>
            </a:r>
            <a:pPr>
              <a:lnSpc>
                <a:spcPct val="140000"/>
              </a:lnSpc>
            </a:pPr>
            <a:r>
              <a:rPr lang="en-US" sz="1077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iOS/Android are excluded. Development would require separate codebases, platform-specific expertise, and app store approval processes.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59091" y="5471865"/>
            <a:ext cx="11490917" cy="1162771"/>
          </a:xfrm>
          <a:custGeom>
            <a:avLst/>
            <a:gdLst/>
            <a:ahLst/>
            <a:cxnLst/>
            <a:rect l="l" t="t" r="r" b="b"/>
            <a:pathLst>
              <a:path w="11490917" h="1162771">
                <a:moveTo>
                  <a:pt x="0" y="0"/>
                </a:moveTo>
                <a:lnTo>
                  <a:pt x="11490917" y="0"/>
                </a:lnTo>
                <a:lnTo>
                  <a:pt x="11490917" y="1162771"/>
                </a:lnTo>
                <a:lnTo>
                  <a:pt x="0" y="1162771"/>
                </a:lnTo>
                <a:lnTo>
                  <a:pt x="0" y="0"/>
                </a:lnTo>
                <a:close/>
              </a:path>
            </a:pathLst>
          </a:custGeom>
          <a:solidFill>
            <a:srgbClr val="C8A48C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9091" y="5471865"/>
            <a:ext cx="34199" cy="1162771"/>
          </a:xfrm>
          <a:custGeom>
            <a:avLst/>
            <a:gdLst/>
            <a:ahLst/>
            <a:cxnLst/>
            <a:rect l="l" t="t" r="r" b="b"/>
            <a:pathLst>
              <a:path w="34199" h="1162771">
                <a:moveTo>
                  <a:pt x="0" y="0"/>
                </a:moveTo>
                <a:lnTo>
                  <a:pt x="34199" y="0"/>
                </a:lnTo>
                <a:lnTo>
                  <a:pt x="34199" y="1162771"/>
                </a:lnTo>
                <a:lnTo>
                  <a:pt x="0" y="1162771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32" name="Shape 30"/>
          <p:cNvSpPr/>
          <p:nvPr/>
        </p:nvSpPr>
        <p:spPr>
          <a:xfrm>
            <a:off x="583523" y="5677060"/>
            <a:ext cx="192370" cy="256494"/>
          </a:xfrm>
          <a:custGeom>
            <a:avLst/>
            <a:gdLst/>
            <a:ahLst/>
            <a:cxnLst/>
            <a:rect l="l" t="t" r="r" b="b"/>
            <a:pathLst>
              <a:path w="192370" h="256494">
                <a:moveTo>
                  <a:pt x="146732" y="192370"/>
                </a:moveTo>
                <a:cubicBezTo>
                  <a:pt x="150389" y="181199"/>
                  <a:pt x="157704" y="171079"/>
                  <a:pt x="165969" y="162363"/>
                </a:cubicBezTo>
                <a:cubicBezTo>
                  <a:pt x="182351" y="145129"/>
                  <a:pt x="192370" y="121835"/>
                  <a:pt x="192370" y="96185"/>
                </a:cubicBezTo>
                <a:cubicBezTo>
                  <a:pt x="192370" y="43083"/>
                  <a:pt x="149287" y="0"/>
                  <a:pt x="96185" y="0"/>
                </a:cubicBezTo>
                <a:cubicBezTo>
                  <a:pt x="43083" y="0"/>
                  <a:pt x="0" y="43083"/>
                  <a:pt x="0" y="96185"/>
                </a:cubicBezTo>
                <a:cubicBezTo>
                  <a:pt x="0" y="121835"/>
                  <a:pt x="10019" y="145129"/>
                  <a:pt x="26401" y="162363"/>
                </a:cubicBezTo>
                <a:cubicBezTo>
                  <a:pt x="34667" y="171079"/>
                  <a:pt x="42031" y="181199"/>
                  <a:pt x="45638" y="192370"/>
                </a:cubicBezTo>
                <a:lnTo>
                  <a:pt x="146682" y="192370"/>
                </a:lnTo>
                <a:close/>
                <a:moveTo>
                  <a:pt x="144278" y="216417"/>
                </a:moveTo>
                <a:lnTo>
                  <a:pt x="48093" y="216417"/>
                </a:lnTo>
                <a:lnTo>
                  <a:pt x="48093" y="224432"/>
                </a:lnTo>
                <a:cubicBezTo>
                  <a:pt x="48093" y="246575"/>
                  <a:pt x="66027" y="264509"/>
                  <a:pt x="88170" y="264509"/>
                </a:cubicBezTo>
                <a:lnTo>
                  <a:pt x="104201" y="264509"/>
                </a:lnTo>
                <a:cubicBezTo>
                  <a:pt x="126343" y="264509"/>
                  <a:pt x="144278" y="246575"/>
                  <a:pt x="144278" y="224432"/>
                </a:cubicBezTo>
                <a:lnTo>
                  <a:pt x="144278" y="216417"/>
                </a:lnTo>
                <a:close/>
                <a:moveTo>
                  <a:pt x="92177" y="56108"/>
                </a:moveTo>
                <a:cubicBezTo>
                  <a:pt x="72239" y="56108"/>
                  <a:pt x="56108" y="72239"/>
                  <a:pt x="56108" y="92177"/>
                </a:cubicBezTo>
                <a:cubicBezTo>
                  <a:pt x="56108" y="98840"/>
                  <a:pt x="50748" y="104201"/>
                  <a:pt x="44085" y="104201"/>
                </a:cubicBezTo>
                <a:cubicBezTo>
                  <a:pt x="37422" y="104201"/>
                  <a:pt x="32062" y="98840"/>
                  <a:pt x="32062" y="92177"/>
                </a:cubicBezTo>
                <a:cubicBezTo>
                  <a:pt x="32062" y="58963"/>
                  <a:pt x="58963" y="32062"/>
                  <a:pt x="92177" y="32062"/>
                </a:cubicBezTo>
                <a:cubicBezTo>
                  <a:pt x="98840" y="32062"/>
                  <a:pt x="104201" y="37422"/>
                  <a:pt x="104201" y="44085"/>
                </a:cubicBezTo>
                <a:cubicBezTo>
                  <a:pt x="104201" y="50748"/>
                  <a:pt x="98840" y="56108"/>
                  <a:pt x="92177" y="56108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33" name="Text 31"/>
          <p:cNvSpPr/>
          <p:nvPr/>
        </p:nvSpPr>
        <p:spPr>
          <a:xfrm>
            <a:off x="917766" y="5677060"/>
            <a:ext cx="10806934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6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Strategic Rationale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7766" y="5984853"/>
            <a:ext cx="10789835" cy="44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These features represent valuable future enhancements but are not essential for validating the core e-commerce concept. By focusing on a responsive web application, we can reach all customers regardless of device while maintaining a single codebase. Post-MVP iterations can incorporate these features based on user feedback and business growth.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175" kern="0" dirty="0">
                <a:solidFill>
                  <a:srgbClr val="C8A4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CONTROL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User Roles &amp; Permissions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84250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Three-tier role-based access control system ensuring data security and appropriate functionality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33350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6" name="Shape 4"/>
          <p:cNvSpPr/>
          <p:nvPr/>
        </p:nvSpPr>
        <p:spPr>
          <a:xfrm>
            <a:off x="317500" y="1571625"/>
            <a:ext cx="3746500" cy="1984375"/>
          </a:xfrm>
          <a:custGeom>
            <a:avLst/>
            <a:gdLst/>
            <a:ahLst/>
            <a:cxnLst/>
            <a:rect l="l" t="t" r="r" b="b"/>
            <a:pathLst>
              <a:path w="3746500" h="1984375">
                <a:moveTo>
                  <a:pt x="0" y="0"/>
                </a:moveTo>
                <a:lnTo>
                  <a:pt x="3746500" y="0"/>
                </a:lnTo>
                <a:lnTo>
                  <a:pt x="3746500" y="1984375"/>
                </a:lnTo>
                <a:lnTo>
                  <a:pt x="0" y="1984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317500" y="1571625"/>
            <a:ext cx="3746500" cy="31750"/>
          </a:xfrm>
          <a:custGeom>
            <a:avLst/>
            <a:gdLst/>
            <a:ahLst/>
            <a:cxnLst/>
            <a:rect l="l" t="t" r="r" b="b"/>
            <a:pathLst>
              <a:path w="3746500" h="31750">
                <a:moveTo>
                  <a:pt x="0" y="0"/>
                </a:moveTo>
                <a:lnTo>
                  <a:pt x="3746500" y="0"/>
                </a:lnTo>
                <a:lnTo>
                  <a:pt x="37465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A9A9A9"/>
          </a:solidFill>
          <a:ln/>
        </p:spPr>
      </p:sp>
      <p:sp>
        <p:nvSpPr>
          <p:cNvPr id="8" name="Shape 6"/>
          <p:cNvSpPr/>
          <p:nvPr/>
        </p:nvSpPr>
        <p:spPr>
          <a:xfrm>
            <a:off x="476250" y="1746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A9A9A9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97297" y="1857375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69453" y="76895"/>
                </a:moveTo>
                <a:cubicBezTo>
                  <a:pt x="89988" y="76895"/>
                  <a:pt x="106660" y="60223"/>
                  <a:pt x="106660" y="39688"/>
                </a:cubicBezTo>
                <a:cubicBezTo>
                  <a:pt x="106660" y="19152"/>
                  <a:pt x="89988" y="2480"/>
                  <a:pt x="69453" y="2480"/>
                </a:cubicBezTo>
                <a:cubicBezTo>
                  <a:pt x="48918" y="2480"/>
                  <a:pt x="32246" y="19152"/>
                  <a:pt x="32246" y="39688"/>
                </a:cubicBezTo>
                <a:cubicBezTo>
                  <a:pt x="32246" y="60223"/>
                  <a:pt x="48918" y="76895"/>
                  <a:pt x="69453" y="76895"/>
                </a:cubicBezTo>
                <a:close/>
                <a:moveTo>
                  <a:pt x="60244" y="94258"/>
                </a:moveTo>
                <a:cubicBezTo>
                  <a:pt x="29704" y="94258"/>
                  <a:pt x="4961" y="119000"/>
                  <a:pt x="4961" y="149541"/>
                </a:cubicBezTo>
                <a:cubicBezTo>
                  <a:pt x="4961" y="154626"/>
                  <a:pt x="9085" y="158750"/>
                  <a:pt x="14170" y="158750"/>
                </a:cubicBezTo>
                <a:lnTo>
                  <a:pt x="124737" y="158750"/>
                </a:lnTo>
                <a:cubicBezTo>
                  <a:pt x="129822" y="158750"/>
                  <a:pt x="133945" y="154626"/>
                  <a:pt x="133945" y="149541"/>
                </a:cubicBezTo>
                <a:cubicBezTo>
                  <a:pt x="133945" y="119000"/>
                  <a:pt x="109203" y="94258"/>
                  <a:pt x="78662" y="94258"/>
                </a:cubicBezTo>
                <a:lnTo>
                  <a:pt x="60244" y="94258"/>
                </a:lnTo>
                <a:close/>
              </a:path>
            </a:pathLst>
          </a:custGeom>
          <a:solidFill>
            <a:srgbClr val="A9A9A9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1746250"/>
            <a:ext cx="1262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Anonymous Visitor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2500" y="1968500"/>
            <a:ext cx="1238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"Casual Browser"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6250" y="2254250"/>
            <a:ext cx="3484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22" kern="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Goals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6250" y="2476500"/>
            <a:ext cx="349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Browse products, view details, explore catalog without commitment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6250" y="2952750"/>
            <a:ext cx="3484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22" kern="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Permissions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6250" y="3175000"/>
            <a:ext cx="1214438" cy="222250"/>
          </a:xfrm>
          <a:custGeom>
            <a:avLst/>
            <a:gdLst/>
            <a:ahLst/>
            <a:cxnLst/>
            <a:rect l="l" t="t" r="r" b="b"/>
            <a:pathLst>
              <a:path w="1214438" h="222250">
                <a:moveTo>
                  <a:pt x="0" y="0"/>
                </a:moveTo>
                <a:lnTo>
                  <a:pt x="1214438" y="0"/>
                </a:lnTo>
                <a:lnTo>
                  <a:pt x="1214438" y="222250"/>
                </a:lnTo>
                <a:lnTo>
                  <a:pt x="0" y="222250"/>
                </a:lnTo>
                <a:lnTo>
                  <a:pt x="0" y="0"/>
                </a:lnTo>
                <a:close/>
              </a:path>
            </a:pathLst>
          </a:custGeom>
          <a:solidFill>
            <a:srgbClr val="A9A9A9">
              <a:alpha val="1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76250" y="3175000"/>
            <a:ext cx="1270000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READ: Public catalog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22750" y="1571625"/>
            <a:ext cx="3746500" cy="1984375"/>
          </a:xfrm>
          <a:custGeom>
            <a:avLst/>
            <a:gdLst/>
            <a:ahLst/>
            <a:cxnLst/>
            <a:rect l="l" t="t" r="r" b="b"/>
            <a:pathLst>
              <a:path w="3746500" h="1984375">
                <a:moveTo>
                  <a:pt x="0" y="0"/>
                </a:moveTo>
                <a:lnTo>
                  <a:pt x="3746500" y="0"/>
                </a:lnTo>
                <a:lnTo>
                  <a:pt x="3746500" y="1984375"/>
                </a:lnTo>
                <a:lnTo>
                  <a:pt x="0" y="1984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222750" y="1571625"/>
            <a:ext cx="3746500" cy="31750"/>
          </a:xfrm>
          <a:custGeom>
            <a:avLst/>
            <a:gdLst/>
            <a:ahLst/>
            <a:cxnLst/>
            <a:rect l="l" t="t" r="r" b="b"/>
            <a:pathLst>
              <a:path w="3746500" h="31750">
                <a:moveTo>
                  <a:pt x="0" y="0"/>
                </a:moveTo>
                <a:lnTo>
                  <a:pt x="3746500" y="0"/>
                </a:lnTo>
                <a:lnTo>
                  <a:pt x="37465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19" name="Shape 17"/>
          <p:cNvSpPr/>
          <p:nvPr/>
        </p:nvSpPr>
        <p:spPr>
          <a:xfrm>
            <a:off x="4381500" y="1746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8A48C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472781" y="1857375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42168" y="39688"/>
                </a:moveTo>
                <a:cubicBezTo>
                  <a:pt x="42168" y="19152"/>
                  <a:pt x="58840" y="2480"/>
                  <a:pt x="79375" y="2480"/>
                </a:cubicBezTo>
                <a:cubicBezTo>
                  <a:pt x="99910" y="2480"/>
                  <a:pt x="116582" y="19152"/>
                  <a:pt x="116582" y="39687"/>
                </a:cubicBezTo>
                <a:cubicBezTo>
                  <a:pt x="116582" y="60223"/>
                  <a:pt x="99910" y="76895"/>
                  <a:pt x="79375" y="76895"/>
                </a:cubicBezTo>
                <a:cubicBezTo>
                  <a:pt x="58840" y="76895"/>
                  <a:pt x="42168" y="60223"/>
                  <a:pt x="42168" y="39688"/>
                </a:cubicBezTo>
                <a:close/>
                <a:moveTo>
                  <a:pt x="14883" y="149541"/>
                </a:moveTo>
                <a:cubicBezTo>
                  <a:pt x="14883" y="119000"/>
                  <a:pt x="39625" y="94258"/>
                  <a:pt x="70166" y="94258"/>
                </a:cubicBezTo>
                <a:lnTo>
                  <a:pt x="88584" y="94258"/>
                </a:lnTo>
                <a:cubicBezTo>
                  <a:pt x="119125" y="94258"/>
                  <a:pt x="143867" y="119000"/>
                  <a:pt x="143867" y="149541"/>
                </a:cubicBezTo>
                <a:cubicBezTo>
                  <a:pt x="143867" y="154626"/>
                  <a:pt x="139743" y="158750"/>
                  <a:pt x="134658" y="158750"/>
                </a:cubicBezTo>
                <a:lnTo>
                  <a:pt x="24092" y="158750"/>
                </a:lnTo>
                <a:cubicBezTo>
                  <a:pt x="19007" y="158750"/>
                  <a:pt x="14883" y="154626"/>
                  <a:pt x="14883" y="149541"/>
                </a:cubicBezTo>
                <a:close/>
                <a:moveTo>
                  <a:pt x="189880" y="41145"/>
                </a:moveTo>
                <a:lnTo>
                  <a:pt x="165075" y="80832"/>
                </a:lnTo>
                <a:cubicBezTo>
                  <a:pt x="163773" y="82910"/>
                  <a:pt x="161541" y="84212"/>
                  <a:pt x="159091" y="84336"/>
                </a:cubicBezTo>
                <a:cubicBezTo>
                  <a:pt x="156642" y="84460"/>
                  <a:pt x="154285" y="83344"/>
                  <a:pt x="152828" y="81359"/>
                </a:cubicBezTo>
                <a:lnTo>
                  <a:pt x="137945" y="61516"/>
                </a:lnTo>
                <a:cubicBezTo>
                  <a:pt x="135465" y="58229"/>
                  <a:pt x="136147" y="53578"/>
                  <a:pt x="139433" y="51098"/>
                </a:cubicBezTo>
                <a:cubicBezTo>
                  <a:pt x="142720" y="48617"/>
                  <a:pt x="147371" y="49299"/>
                  <a:pt x="149851" y="52586"/>
                </a:cubicBezTo>
                <a:lnTo>
                  <a:pt x="158223" y="63748"/>
                </a:lnTo>
                <a:lnTo>
                  <a:pt x="177260" y="33269"/>
                </a:lnTo>
                <a:cubicBezTo>
                  <a:pt x="179431" y="29797"/>
                  <a:pt x="184020" y="28711"/>
                  <a:pt x="187523" y="30913"/>
                </a:cubicBezTo>
                <a:cubicBezTo>
                  <a:pt x="191027" y="33114"/>
                  <a:pt x="192081" y="37672"/>
                  <a:pt x="189880" y="41176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21" name="Text 19"/>
          <p:cNvSpPr/>
          <p:nvPr/>
        </p:nvSpPr>
        <p:spPr>
          <a:xfrm>
            <a:off x="4857750" y="1746250"/>
            <a:ext cx="1397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Registered Customer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57750" y="1968500"/>
            <a:ext cx="1373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"Loyal Client"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81500" y="2254250"/>
            <a:ext cx="3484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22" kern="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Goals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81500" y="2476500"/>
            <a:ext cx="349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Purchase products, track orders, save shipping details for faster checkout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381500" y="2952750"/>
            <a:ext cx="3484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22" kern="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Permissions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381500" y="3175000"/>
            <a:ext cx="992188" cy="222250"/>
          </a:xfrm>
          <a:custGeom>
            <a:avLst/>
            <a:gdLst/>
            <a:ahLst/>
            <a:cxnLst/>
            <a:rect l="l" t="t" r="r" b="b"/>
            <a:pathLst>
              <a:path w="992188" h="222250">
                <a:moveTo>
                  <a:pt x="0" y="0"/>
                </a:moveTo>
                <a:lnTo>
                  <a:pt x="992188" y="0"/>
                </a:lnTo>
                <a:lnTo>
                  <a:pt x="992188" y="222250"/>
                </a:lnTo>
                <a:lnTo>
                  <a:pt x="0" y="222250"/>
                </a:lnTo>
                <a:lnTo>
                  <a:pt x="0" y="0"/>
                </a:lnTo>
                <a:close/>
              </a:path>
            </a:pathLst>
          </a:custGeom>
          <a:solidFill>
            <a:srgbClr val="C8A48C">
              <a:alpha val="1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381500" y="3175000"/>
            <a:ext cx="1047750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READ: Own data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33839" y="3175000"/>
            <a:ext cx="992188" cy="222250"/>
          </a:xfrm>
          <a:custGeom>
            <a:avLst/>
            <a:gdLst/>
            <a:ahLst/>
            <a:cxnLst/>
            <a:rect l="l" t="t" r="r" b="b"/>
            <a:pathLst>
              <a:path w="992188" h="222250">
                <a:moveTo>
                  <a:pt x="0" y="0"/>
                </a:moveTo>
                <a:lnTo>
                  <a:pt x="992188" y="0"/>
                </a:lnTo>
                <a:lnTo>
                  <a:pt x="992188" y="222250"/>
                </a:lnTo>
                <a:lnTo>
                  <a:pt x="0" y="222250"/>
                </a:lnTo>
                <a:lnTo>
                  <a:pt x="0" y="0"/>
                </a:lnTo>
                <a:close/>
              </a:path>
            </a:pathLst>
          </a:custGeom>
          <a:solidFill>
            <a:srgbClr val="C8A48C">
              <a:alpha val="1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433839" y="3175000"/>
            <a:ext cx="1047750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CREATE: Orders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89278" y="3175000"/>
            <a:ext cx="984250" cy="222250"/>
          </a:xfrm>
          <a:custGeom>
            <a:avLst/>
            <a:gdLst/>
            <a:ahLst/>
            <a:cxnLst/>
            <a:rect l="l" t="t" r="r" b="b"/>
            <a:pathLst>
              <a:path w="984250" h="222250">
                <a:moveTo>
                  <a:pt x="0" y="0"/>
                </a:moveTo>
                <a:lnTo>
                  <a:pt x="984250" y="0"/>
                </a:lnTo>
                <a:lnTo>
                  <a:pt x="984250" y="222250"/>
                </a:lnTo>
                <a:lnTo>
                  <a:pt x="0" y="222250"/>
                </a:lnTo>
                <a:lnTo>
                  <a:pt x="0" y="0"/>
                </a:lnTo>
                <a:close/>
              </a:path>
            </a:pathLst>
          </a:custGeom>
          <a:solidFill>
            <a:srgbClr val="C8A48C">
              <a:alpha val="1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489278" y="3175000"/>
            <a:ext cx="1039812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UPDATE: Profile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128000" y="1555750"/>
            <a:ext cx="3746500" cy="2000250"/>
          </a:xfrm>
          <a:custGeom>
            <a:avLst/>
            <a:gdLst/>
            <a:ahLst/>
            <a:cxnLst/>
            <a:rect l="l" t="t" r="r" b="b"/>
            <a:pathLst>
              <a:path w="3746500" h="2000250">
                <a:moveTo>
                  <a:pt x="0" y="0"/>
                </a:moveTo>
                <a:lnTo>
                  <a:pt x="3746500" y="0"/>
                </a:lnTo>
                <a:lnTo>
                  <a:pt x="3746500" y="2000250"/>
                </a:lnTo>
                <a:lnTo>
                  <a:pt x="0" y="2000250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33" name="Shape 31"/>
          <p:cNvSpPr/>
          <p:nvPr/>
        </p:nvSpPr>
        <p:spPr>
          <a:xfrm>
            <a:off x="8286750" y="1714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34" name="Shape 32"/>
          <p:cNvSpPr/>
          <p:nvPr/>
        </p:nvSpPr>
        <p:spPr>
          <a:xfrm>
            <a:off x="8387953" y="1825625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69453" y="76895"/>
                </a:moveTo>
                <a:cubicBezTo>
                  <a:pt x="89988" y="76895"/>
                  <a:pt x="106660" y="60223"/>
                  <a:pt x="106660" y="39688"/>
                </a:cubicBezTo>
                <a:cubicBezTo>
                  <a:pt x="106660" y="19152"/>
                  <a:pt x="89988" y="2480"/>
                  <a:pt x="69453" y="2480"/>
                </a:cubicBezTo>
                <a:cubicBezTo>
                  <a:pt x="48918" y="2480"/>
                  <a:pt x="32246" y="19152"/>
                  <a:pt x="32246" y="39688"/>
                </a:cubicBezTo>
                <a:cubicBezTo>
                  <a:pt x="32246" y="60223"/>
                  <a:pt x="48918" y="76895"/>
                  <a:pt x="69453" y="76895"/>
                </a:cubicBezTo>
                <a:close/>
                <a:moveTo>
                  <a:pt x="60244" y="94258"/>
                </a:moveTo>
                <a:cubicBezTo>
                  <a:pt x="29704" y="94258"/>
                  <a:pt x="4961" y="119000"/>
                  <a:pt x="4961" y="149541"/>
                </a:cubicBezTo>
                <a:cubicBezTo>
                  <a:pt x="4961" y="154626"/>
                  <a:pt x="9085" y="158750"/>
                  <a:pt x="14170" y="158750"/>
                </a:cubicBezTo>
                <a:lnTo>
                  <a:pt x="92149" y="158750"/>
                </a:lnTo>
                <a:cubicBezTo>
                  <a:pt x="80925" y="145542"/>
                  <a:pt x="74414" y="128519"/>
                  <a:pt x="74414" y="110505"/>
                </a:cubicBezTo>
                <a:lnTo>
                  <a:pt x="74414" y="100862"/>
                </a:lnTo>
                <a:cubicBezTo>
                  <a:pt x="74414" y="98599"/>
                  <a:pt x="74724" y="96366"/>
                  <a:pt x="75313" y="94258"/>
                </a:cubicBezTo>
                <a:lnTo>
                  <a:pt x="60244" y="94258"/>
                </a:lnTo>
                <a:close/>
                <a:moveTo>
                  <a:pt x="138069" y="151464"/>
                </a:moveTo>
                <a:lnTo>
                  <a:pt x="133945" y="153417"/>
                </a:lnTo>
                <a:lnTo>
                  <a:pt x="133945" y="95095"/>
                </a:lnTo>
                <a:lnTo>
                  <a:pt x="163711" y="105017"/>
                </a:lnTo>
                <a:lnTo>
                  <a:pt x="163711" y="111094"/>
                </a:lnTo>
                <a:cubicBezTo>
                  <a:pt x="163711" y="128395"/>
                  <a:pt x="153727" y="144115"/>
                  <a:pt x="138069" y="151495"/>
                </a:cubicBezTo>
                <a:close/>
                <a:moveTo>
                  <a:pt x="130814" y="80460"/>
                </a:moveTo>
                <a:lnTo>
                  <a:pt x="96087" y="92025"/>
                </a:lnTo>
                <a:cubicBezTo>
                  <a:pt x="92025" y="93390"/>
                  <a:pt x="89297" y="97172"/>
                  <a:pt x="89297" y="101451"/>
                </a:cubicBezTo>
                <a:lnTo>
                  <a:pt x="89297" y="111094"/>
                </a:lnTo>
                <a:cubicBezTo>
                  <a:pt x="89297" y="134162"/>
                  <a:pt x="102629" y="155153"/>
                  <a:pt x="123465" y="164951"/>
                </a:cubicBezTo>
                <a:lnTo>
                  <a:pt x="129201" y="167649"/>
                </a:lnTo>
                <a:cubicBezTo>
                  <a:pt x="130690" y="168331"/>
                  <a:pt x="132302" y="168703"/>
                  <a:pt x="133914" y="168703"/>
                </a:cubicBezTo>
                <a:cubicBezTo>
                  <a:pt x="135527" y="168703"/>
                  <a:pt x="137170" y="168331"/>
                  <a:pt x="138627" y="167649"/>
                </a:cubicBezTo>
                <a:lnTo>
                  <a:pt x="144363" y="164951"/>
                </a:lnTo>
                <a:cubicBezTo>
                  <a:pt x="165261" y="155122"/>
                  <a:pt x="178594" y="134131"/>
                  <a:pt x="178594" y="111063"/>
                </a:cubicBezTo>
                <a:lnTo>
                  <a:pt x="178594" y="101420"/>
                </a:lnTo>
                <a:cubicBezTo>
                  <a:pt x="178594" y="97141"/>
                  <a:pt x="175865" y="93359"/>
                  <a:pt x="171803" y="91994"/>
                </a:cubicBezTo>
                <a:lnTo>
                  <a:pt x="137077" y="80429"/>
                </a:lnTo>
                <a:cubicBezTo>
                  <a:pt x="135031" y="79747"/>
                  <a:pt x="132829" y="79747"/>
                  <a:pt x="130814" y="80429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35" name="Text 33"/>
          <p:cNvSpPr/>
          <p:nvPr/>
        </p:nvSpPr>
        <p:spPr>
          <a:xfrm>
            <a:off x="8763000" y="1714500"/>
            <a:ext cx="1341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Store Administrator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763000" y="1936750"/>
            <a:ext cx="131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8F5F2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"Business Owner"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86750" y="2222500"/>
            <a:ext cx="3484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22" kern="0" dirty="0">
                <a:solidFill>
                  <a:srgbClr val="F8F5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Goals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286750" y="2444750"/>
            <a:ext cx="349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8F5F2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operational control over products, orders, and customer management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86750" y="2921000"/>
            <a:ext cx="3484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22" kern="0" dirty="0">
                <a:solidFill>
                  <a:srgbClr val="F8F5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Permissions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86750" y="3143250"/>
            <a:ext cx="1190625" cy="222250"/>
          </a:xfrm>
          <a:custGeom>
            <a:avLst/>
            <a:gdLst/>
            <a:ahLst/>
            <a:cxnLst/>
            <a:rect l="l" t="t" r="r" b="b"/>
            <a:pathLst>
              <a:path w="1190625" h="222250">
                <a:moveTo>
                  <a:pt x="0" y="0"/>
                </a:moveTo>
                <a:lnTo>
                  <a:pt x="1190625" y="0"/>
                </a:lnTo>
                <a:lnTo>
                  <a:pt x="1190625" y="222250"/>
                </a:lnTo>
                <a:lnTo>
                  <a:pt x="0" y="222250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41" name="Text 39"/>
          <p:cNvSpPr/>
          <p:nvPr/>
        </p:nvSpPr>
        <p:spPr>
          <a:xfrm>
            <a:off x="8286750" y="3143250"/>
            <a:ext cx="124618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CRUD: All data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541371" y="3143250"/>
            <a:ext cx="1182688" cy="222250"/>
          </a:xfrm>
          <a:custGeom>
            <a:avLst/>
            <a:gdLst/>
            <a:ahLst/>
            <a:cxnLst/>
            <a:rect l="l" t="t" r="r" b="b"/>
            <a:pathLst>
              <a:path w="1182688" h="222250">
                <a:moveTo>
                  <a:pt x="0" y="0"/>
                </a:moveTo>
                <a:lnTo>
                  <a:pt x="1182688" y="0"/>
                </a:lnTo>
                <a:lnTo>
                  <a:pt x="1182688" y="222250"/>
                </a:lnTo>
                <a:lnTo>
                  <a:pt x="0" y="222250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43" name="Text 41"/>
          <p:cNvSpPr/>
          <p:nvPr/>
        </p:nvSpPr>
        <p:spPr>
          <a:xfrm>
            <a:off x="9541371" y="3143250"/>
            <a:ext cx="1238250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 Panel Access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17500" y="3714750"/>
            <a:ext cx="11557000" cy="3587750"/>
          </a:xfrm>
          <a:custGeom>
            <a:avLst/>
            <a:gdLst/>
            <a:ahLst/>
            <a:cxnLst/>
            <a:rect l="l" t="t" r="r" b="b"/>
            <a:pathLst>
              <a:path w="11557000" h="3587750">
                <a:moveTo>
                  <a:pt x="0" y="0"/>
                </a:moveTo>
                <a:lnTo>
                  <a:pt x="11557000" y="0"/>
                </a:lnTo>
                <a:lnTo>
                  <a:pt x="11557000" y="3587750"/>
                </a:lnTo>
                <a:lnTo>
                  <a:pt x="0" y="3587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476250" y="3873500"/>
            <a:ext cx="11318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Permission Matrix Overview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76250" y="4222750"/>
            <a:ext cx="2714625" cy="381000"/>
          </a:xfrm>
          <a:custGeom>
            <a:avLst/>
            <a:gdLst/>
            <a:ahLst/>
            <a:cxnLst/>
            <a:rect l="l" t="t" r="r" b="b"/>
            <a:pathLst>
              <a:path w="2714625" h="381000">
                <a:moveTo>
                  <a:pt x="0" y="0"/>
                </a:moveTo>
                <a:lnTo>
                  <a:pt x="2714625" y="0"/>
                </a:lnTo>
                <a:lnTo>
                  <a:pt x="27146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47" name="Text 45"/>
          <p:cNvSpPr/>
          <p:nvPr/>
        </p:nvSpPr>
        <p:spPr>
          <a:xfrm>
            <a:off x="444500" y="4222750"/>
            <a:ext cx="2778125" cy="3810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8F5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317875" y="4222750"/>
            <a:ext cx="2714625" cy="381000"/>
          </a:xfrm>
          <a:custGeom>
            <a:avLst/>
            <a:gdLst/>
            <a:ahLst/>
            <a:cxnLst/>
            <a:rect l="l" t="t" r="r" b="b"/>
            <a:pathLst>
              <a:path w="2714625" h="381000">
                <a:moveTo>
                  <a:pt x="0" y="0"/>
                </a:moveTo>
                <a:lnTo>
                  <a:pt x="2714625" y="0"/>
                </a:lnTo>
                <a:lnTo>
                  <a:pt x="27146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A9A9A9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3286125" y="4222750"/>
            <a:ext cx="2778125" cy="3810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Anonymous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59500" y="4222750"/>
            <a:ext cx="2714625" cy="381000"/>
          </a:xfrm>
          <a:custGeom>
            <a:avLst/>
            <a:gdLst/>
            <a:ahLst/>
            <a:cxnLst/>
            <a:rect l="l" t="t" r="r" b="b"/>
            <a:pathLst>
              <a:path w="2714625" h="381000">
                <a:moveTo>
                  <a:pt x="0" y="0"/>
                </a:moveTo>
                <a:lnTo>
                  <a:pt x="2714625" y="0"/>
                </a:lnTo>
                <a:lnTo>
                  <a:pt x="27146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8A48C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127750" y="4222750"/>
            <a:ext cx="2778125" cy="3810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001125" y="4222750"/>
            <a:ext cx="2714625" cy="381000"/>
          </a:xfrm>
          <a:custGeom>
            <a:avLst/>
            <a:gdLst/>
            <a:ahLst/>
            <a:cxnLst/>
            <a:rect l="l" t="t" r="r" b="b"/>
            <a:pathLst>
              <a:path w="2714625" h="381000">
                <a:moveTo>
                  <a:pt x="0" y="0"/>
                </a:moveTo>
                <a:lnTo>
                  <a:pt x="2714625" y="0"/>
                </a:lnTo>
                <a:lnTo>
                  <a:pt x="27146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53" name="Text 51"/>
          <p:cNvSpPr/>
          <p:nvPr/>
        </p:nvSpPr>
        <p:spPr>
          <a:xfrm>
            <a:off x="8969375" y="4222750"/>
            <a:ext cx="2778125" cy="3810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8F5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76250" y="4730750"/>
            <a:ext cx="2714625" cy="381000"/>
          </a:xfrm>
          <a:custGeom>
            <a:avLst/>
            <a:gdLst/>
            <a:ahLst/>
            <a:cxnLst/>
            <a:rect l="l" t="t" r="r" b="b"/>
            <a:pathLst>
              <a:path w="2714625" h="381000">
                <a:moveTo>
                  <a:pt x="0" y="0"/>
                </a:moveTo>
                <a:lnTo>
                  <a:pt x="2714625" y="0"/>
                </a:lnTo>
                <a:lnTo>
                  <a:pt x="27146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55" name="Text 53"/>
          <p:cNvSpPr/>
          <p:nvPr/>
        </p:nvSpPr>
        <p:spPr>
          <a:xfrm>
            <a:off x="476250" y="4730750"/>
            <a:ext cx="2778125" cy="3810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Browse Catalog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317875" y="4730750"/>
            <a:ext cx="2714625" cy="381000"/>
          </a:xfrm>
          <a:custGeom>
            <a:avLst/>
            <a:gdLst/>
            <a:ahLst/>
            <a:cxnLst/>
            <a:rect l="l" t="t" r="r" b="b"/>
            <a:pathLst>
              <a:path w="2714625" h="381000">
                <a:moveTo>
                  <a:pt x="0" y="0"/>
                </a:moveTo>
                <a:lnTo>
                  <a:pt x="2714625" y="0"/>
                </a:lnTo>
                <a:lnTo>
                  <a:pt x="27146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A9A9A9">
              <a:alpha val="1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619625" y="48577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58" name="Shape 56"/>
          <p:cNvSpPr/>
          <p:nvPr/>
        </p:nvSpPr>
        <p:spPr>
          <a:xfrm>
            <a:off x="6159500" y="4730750"/>
            <a:ext cx="2714625" cy="381000"/>
          </a:xfrm>
          <a:custGeom>
            <a:avLst/>
            <a:gdLst/>
            <a:ahLst/>
            <a:cxnLst/>
            <a:rect l="l" t="t" r="r" b="b"/>
            <a:pathLst>
              <a:path w="2714625" h="381000">
                <a:moveTo>
                  <a:pt x="0" y="0"/>
                </a:moveTo>
                <a:lnTo>
                  <a:pt x="2714625" y="0"/>
                </a:lnTo>
                <a:lnTo>
                  <a:pt x="27146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8A48C">
              <a:alpha val="10196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461250" y="48577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60" name="Shape 58"/>
          <p:cNvSpPr/>
          <p:nvPr/>
        </p:nvSpPr>
        <p:spPr>
          <a:xfrm>
            <a:off x="9001125" y="4730750"/>
            <a:ext cx="2714625" cy="381000"/>
          </a:xfrm>
          <a:custGeom>
            <a:avLst/>
            <a:gdLst/>
            <a:ahLst/>
            <a:cxnLst/>
            <a:rect l="l" t="t" r="r" b="b"/>
            <a:pathLst>
              <a:path w="2714625" h="381000">
                <a:moveTo>
                  <a:pt x="0" y="0"/>
                </a:moveTo>
                <a:lnTo>
                  <a:pt x="2714625" y="0"/>
                </a:lnTo>
                <a:lnTo>
                  <a:pt x="27146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4A4A4A">
              <a:alpha val="10196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0302875" y="48577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62" name="Shape 60"/>
          <p:cNvSpPr/>
          <p:nvPr/>
        </p:nvSpPr>
        <p:spPr>
          <a:xfrm>
            <a:off x="476250" y="5238750"/>
            <a:ext cx="2714625" cy="381000"/>
          </a:xfrm>
          <a:custGeom>
            <a:avLst/>
            <a:gdLst/>
            <a:ahLst/>
            <a:cxnLst/>
            <a:rect l="l" t="t" r="r" b="b"/>
            <a:pathLst>
              <a:path w="2714625" h="381000">
                <a:moveTo>
                  <a:pt x="0" y="0"/>
                </a:moveTo>
                <a:lnTo>
                  <a:pt x="2714625" y="0"/>
                </a:lnTo>
                <a:lnTo>
                  <a:pt x="27146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63" name="Text 61"/>
          <p:cNvSpPr/>
          <p:nvPr/>
        </p:nvSpPr>
        <p:spPr>
          <a:xfrm>
            <a:off x="476250" y="5238750"/>
            <a:ext cx="2778125" cy="3810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 to Cart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3317875" y="5238750"/>
            <a:ext cx="2714625" cy="381000"/>
          </a:xfrm>
          <a:custGeom>
            <a:avLst/>
            <a:gdLst/>
            <a:ahLst/>
            <a:cxnLst/>
            <a:rect l="l" t="t" r="r" b="b"/>
            <a:pathLst>
              <a:path w="2714625" h="381000">
                <a:moveTo>
                  <a:pt x="0" y="0"/>
                </a:moveTo>
                <a:lnTo>
                  <a:pt x="2714625" y="0"/>
                </a:lnTo>
                <a:lnTo>
                  <a:pt x="27146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A9A9A9">
              <a:alpha val="10196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4619625" y="53657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66" name="Shape 64"/>
          <p:cNvSpPr/>
          <p:nvPr/>
        </p:nvSpPr>
        <p:spPr>
          <a:xfrm>
            <a:off x="6159500" y="5238750"/>
            <a:ext cx="2714625" cy="381000"/>
          </a:xfrm>
          <a:custGeom>
            <a:avLst/>
            <a:gdLst/>
            <a:ahLst/>
            <a:cxnLst/>
            <a:rect l="l" t="t" r="r" b="b"/>
            <a:pathLst>
              <a:path w="2714625" h="381000">
                <a:moveTo>
                  <a:pt x="0" y="0"/>
                </a:moveTo>
                <a:lnTo>
                  <a:pt x="2714625" y="0"/>
                </a:lnTo>
                <a:lnTo>
                  <a:pt x="27146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8A48C">
              <a:alpha val="10196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7461250" y="53657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68" name="Shape 66"/>
          <p:cNvSpPr/>
          <p:nvPr/>
        </p:nvSpPr>
        <p:spPr>
          <a:xfrm>
            <a:off x="9001125" y="5238750"/>
            <a:ext cx="2714625" cy="381000"/>
          </a:xfrm>
          <a:custGeom>
            <a:avLst/>
            <a:gdLst/>
            <a:ahLst/>
            <a:cxnLst/>
            <a:rect l="l" t="t" r="r" b="b"/>
            <a:pathLst>
              <a:path w="2714625" h="381000">
                <a:moveTo>
                  <a:pt x="0" y="0"/>
                </a:moveTo>
                <a:lnTo>
                  <a:pt x="2714625" y="0"/>
                </a:lnTo>
                <a:lnTo>
                  <a:pt x="27146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4A4A4A">
              <a:alpha val="10196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0302875" y="53657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70" name="Shape 68"/>
          <p:cNvSpPr/>
          <p:nvPr/>
        </p:nvSpPr>
        <p:spPr>
          <a:xfrm>
            <a:off x="476250" y="5746750"/>
            <a:ext cx="2714625" cy="381000"/>
          </a:xfrm>
          <a:custGeom>
            <a:avLst/>
            <a:gdLst/>
            <a:ahLst/>
            <a:cxnLst/>
            <a:rect l="l" t="t" r="r" b="b"/>
            <a:pathLst>
              <a:path w="2714625" h="381000">
                <a:moveTo>
                  <a:pt x="0" y="0"/>
                </a:moveTo>
                <a:lnTo>
                  <a:pt x="2714625" y="0"/>
                </a:lnTo>
                <a:lnTo>
                  <a:pt x="27146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71" name="Text 69"/>
          <p:cNvSpPr/>
          <p:nvPr/>
        </p:nvSpPr>
        <p:spPr>
          <a:xfrm>
            <a:off x="476250" y="5746750"/>
            <a:ext cx="2778125" cy="3810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 Order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3317875" y="5746750"/>
            <a:ext cx="2714625" cy="381000"/>
          </a:xfrm>
          <a:custGeom>
            <a:avLst/>
            <a:gdLst/>
            <a:ahLst/>
            <a:cxnLst/>
            <a:rect l="l" t="t" r="r" b="b"/>
            <a:pathLst>
              <a:path w="2714625" h="381000">
                <a:moveTo>
                  <a:pt x="0" y="0"/>
                </a:moveTo>
                <a:lnTo>
                  <a:pt x="2714625" y="0"/>
                </a:lnTo>
                <a:lnTo>
                  <a:pt x="27146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A9A9A9">
              <a:alpha val="10196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4619625" y="58737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0" y="63500"/>
                </a:moveTo>
                <a:cubicBezTo>
                  <a:pt x="0" y="59110"/>
                  <a:pt x="3547" y="55563"/>
                  <a:pt x="7938" y="55563"/>
                </a:cubicBezTo>
                <a:lnTo>
                  <a:pt x="103188" y="55563"/>
                </a:lnTo>
                <a:cubicBezTo>
                  <a:pt x="107578" y="55563"/>
                  <a:pt x="111125" y="59110"/>
                  <a:pt x="111125" y="63500"/>
                </a:cubicBezTo>
                <a:cubicBezTo>
                  <a:pt x="111125" y="67890"/>
                  <a:pt x="107578" y="71438"/>
                  <a:pt x="103188" y="71438"/>
                </a:cubicBezTo>
                <a:lnTo>
                  <a:pt x="7938" y="71438"/>
                </a:lnTo>
                <a:cubicBezTo>
                  <a:pt x="3547" y="71438"/>
                  <a:pt x="0" y="67890"/>
                  <a:pt x="0" y="63500"/>
                </a:cubicBezTo>
                <a:close/>
              </a:path>
            </a:pathLst>
          </a:custGeom>
          <a:solidFill>
            <a:srgbClr val="A9A9A9"/>
          </a:solidFill>
          <a:ln/>
        </p:spPr>
      </p:sp>
      <p:sp>
        <p:nvSpPr>
          <p:cNvPr id="74" name="Shape 72"/>
          <p:cNvSpPr/>
          <p:nvPr/>
        </p:nvSpPr>
        <p:spPr>
          <a:xfrm>
            <a:off x="6159500" y="5746750"/>
            <a:ext cx="2714625" cy="381000"/>
          </a:xfrm>
          <a:custGeom>
            <a:avLst/>
            <a:gdLst/>
            <a:ahLst/>
            <a:cxnLst/>
            <a:rect l="l" t="t" r="r" b="b"/>
            <a:pathLst>
              <a:path w="2714625" h="381000">
                <a:moveTo>
                  <a:pt x="0" y="0"/>
                </a:moveTo>
                <a:lnTo>
                  <a:pt x="2714625" y="0"/>
                </a:lnTo>
                <a:lnTo>
                  <a:pt x="27146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8A48C">
              <a:alpha val="10196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7461250" y="58737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76" name="Shape 74"/>
          <p:cNvSpPr/>
          <p:nvPr/>
        </p:nvSpPr>
        <p:spPr>
          <a:xfrm>
            <a:off x="9001125" y="5746750"/>
            <a:ext cx="2714625" cy="381000"/>
          </a:xfrm>
          <a:custGeom>
            <a:avLst/>
            <a:gdLst/>
            <a:ahLst/>
            <a:cxnLst/>
            <a:rect l="l" t="t" r="r" b="b"/>
            <a:pathLst>
              <a:path w="2714625" h="381000">
                <a:moveTo>
                  <a:pt x="0" y="0"/>
                </a:moveTo>
                <a:lnTo>
                  <a:pt x="2714625" y="0"/>
                </a:lnTo>
                <a:lnTo>
                  <a:pt x="27146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4A4A4A">
              <a:alpha val="10196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10302875" y="58737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78" name="Shape 76"/>
          <p:cNvSpPr/>
          <p:nvPr/>
        </p:nvSpPr>
        <p:spPr>
          <a:xfrm>
            <a:off x="476250" y="6254750"/>
            <a:ext cx="2714625" cy="381000"/>
          </a:xfrm>
          <a:custGeom>
            <a:avLst/>
            <a:gdLst/>
            <a:ahLst/>
            <a:cxnLst/>
            <a:rect l="l" t="t" r="r" b="b"/>
            <a:pathLst>
              <a:path w="2714625" h="381000">
                <a:moveTo>
                  <a:pt x="0" y="0"/>
                </a:moveTo>
                <a:lnTo>
                  <a:pt x="2714625" y="0"/>
                </a:lnTo>
                <a:lnTo>
                  <a:pt x="27146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79" name="Text 77"/>
          <p:cNvSpPr/>
          <p:nvPr/>
        </p:nvSpPr>
        <p:spPr>
          <a:xfrm>
            <a:off x="476250" y="6254750"/>
            <a:ext cx="2778125" cy="3810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 Products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3317875" y="6254750"/>
            <a:ext cx="2714625" cy="381000"/>
          </a:xfrm>
          <a:custGeom>
            <a:avLst/>
            <a:gdLst/>
            <a:ahLst/>
            <a:cxnLst/>
            <a:rect l="l" t="t" r="r" b="b"/>
            <a:pathLst>
              <a:path w="2714625" h="381000">
                <a:moveTo>
                  <a:pt x="0" y="0"/>
                </a:moveTo>
                <a:lnTo>
                  <a:pt x="2714625" y="0"/>
                </a:lnTo>
                <a:lnTo>
                  <a:pt x="27146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A9A9A9">
              <a:alpha val="10196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4619625" y="63817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0" y="63500"/>
                </a:moveTo>
                <a:cubicBezTo>
                  <a:pt x="0" y="59110"/>
                  <a:pt x="3547" y="55563"/>
                  <a:pt x="7938" y="55563"/>
                </a:cubicBezTo>
                <a:lnTo>
                  <a:pt x="103188" y="55563"/>
                </a:lnTo>
                <a:cubicBezTo>
                  <a:pt x="107578" y="55563"/>
                  <a:pt x="111125" y="59110"/>
                  <a:pt x="111125" y="63500"/>
                </a:cubicBezTo>
                <a:cubicBezTo>
                  <a:pt x="111125" y="67890"/>
                  <a:pt x="107578" y="71438"/>
                  <a:pt x="103188" y="71438"/>
                </a:cubicBezTo>
                <a:lnTo>
                  <a:pt x="7938" y="71438"/>
                </a:lnTo>
                <a:cubicBezTo>
                  <a:pt x="3547" y="71438"/>
                  <a:pt x="0" y="67890"/>
                  <a:pt x="0" y="63500"/>
                </a:cubicBezTo>
                <a:close/>
              </a:path>
            </a:pathLst>
          </a:custGeom>
          <a:solidFill>
            <a:srgbClr val="A9A9A9"/>
          </a:solidFill>
          <a:ln/>
        </p:spPr>
      </p:sp>
      <p:sp>
        <p:nvSpPr>
          <p:cNvPr id="82" name="Shape 80"/>
          <p:cNvSpPr/>
          <p:nvPr/>
        </p:nvSpPr>
        <p:spPr>
          <a:xfrm>
            <a:off x="6159500" y="6254750"/>
            <a:ext cx="2714625" cy="381000"/>
          </a:xfrm>
          <a:custGeom>
            <a:avLst/>
            <a:gdLst/>
            <a:ahLst/>
            <a:cxnLst/>
            <a:rect l="l" t="t" r="r" b="b"/>
            <a:pathLst>
              <a:path w="2714625" h="381000">
                <a:moveTo>
                  <a:pt x="0" y="0"/>
                </a:moveTo>
                <a:lnTo>
                  <a:pt x="2714625" y="0"/>
                </a:lnTo>
                <a:lnTo>
                  <a:pt x="27146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8A48C">
              <a:alpha val="10196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7461250" y="63817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0" y="63500"/>
                </a:moveTo>
                <a:cubicBezTo>
                  <a:pt x="0" y="59110"/>
                  <a:pt x="3547" y="55563"/>
                  <a:pt x="7938" y="55563"/>
                </a:cubicBezTo>
                <a:lnTo>
                  <a:pt x="103188" y="55563"/>
                </a:lnTo>
                <a:cubicBezTo>
                  <a:pt x="107578" y="55563"/>
                  <a:pt x="111125" y="59110"/>
                  <a:pt x="111125" y="63500"/>
                </a:cubicBezTo>
                <a:cubicBezTo>
                  <a:pt x="111125" y="67890"/>
                  <a:pt x="107578" y="71438"/>
                  <a:pt x="103188" y="71438"/>
                </a:cubicBezTo>
                <a:lnTo>
                  <a:pt x="7938" y="71438"/>
                </a:lnTo>
                <a:cubicBezTo>
                  <a:pt x="3547" y="71438"/>
                  <a:pt x="0" y="67890"/>
                  <a:pt x="0" y="63500"/>
                </a:cubicBezTo>
                <a:close/>
              </a:path>
            </a:pathLst>
          </a:custGeom>
          <a:solidFill>
            <a:srgbClr val="A9A9A9"/>
          </a:solidFill>
          <a:ln/>
        </p:spPr>
      </p:sp>
      <p:sp>
        <p:nvSpPr>
          <p:cNvPr id="84" name="Shape 82"/>
          <p:cNvSpPr/>
          <p:nvPr/>
        </p:nvSpPr>
        <p:spPr>
          <a:xfrm>
            <a:off x="9001125" y="6254750"/>
            <a:ext cx="2714625" cy="381000"/>
          </a:xfrm>
          <a:custGeom>
            <a:avLst/>
            <a:gdLst/>
            <a:ahLst/>
            <a:cxnLst/>
            <a:rect l="l" t="t" r="r" b="b"/>
            <a:pathLst>
              <a:path w="2714625" h="381000">
                <a:moveTo>
                  <a:pt x="0" y="0"/>
                </a:moveTo>
                <a:lnTo>
                  <a:pt x="2714625" y="0"/>
                </a:lnTo>
                <a:lnTo>
                  <a:pt x="27146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4A4A4A">
              <a:alpha val="10196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10302875" y="63817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86" name="Shape 84"/>
          <p:cNvSpPr/>
          <p:nvPr/>
        </p:nvSpPr>
        <p:spPr>
          <a:xfrm>
            <a:off x="476250" y="6762750"/>
            <a:ext cx="2714625" cy="381000"/>
          </a:xfrm>
          <a:custGeom>
            <a:avLst/>
            <a:gdLst/>
            <a:ahLst/>
            <a:cxnLst/>
            <a:rect l="l" t="t" r="r" b="b"/>
            <a:pathLst>
              <a:path w="2714625" h="381000">
                <a:moveTo>
                  <a:pt x="0" y="0"/>
                </a:moveTo>
                <a:lnTo>
                  <a:pt x="2714625" y="0"/>
                </a:lnTo>
                <a:lnTo>
                  <a:pt x="27146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87" name="Text 85"/>
          <p:cNvSpPr/>
          <p:nvPr/>
        </p:nvSpPr>
        <p:spPr>
          <a:xfrm>
            <a:off x="476250" y="6762750"/>
            <a:ext cx="2778125" cy="3810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View All Orders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3317875" y="6762750"/>
            <a:ext cx="2714625" cy="381000"/>
          </a:xfrm>
          <a:custGeom>
            <a:avLst/>
            <a:gdLst/>
            <a:ahLst/>
            <a:cxnLst/>
            <a:rect l="l" t="t" r="r" b="b"/>
            <a:pathLst>
              <a:path w="2714625" h="381000">
                <a:moveTo>
                  <a:pt x="0" y="0"/>
                </a:moveTo>
                <a:lnTo>
                  <a:pt x="2714625" y="0"/>
                </a:lnTo>
                <a:lnTo>
                  <a:pt x="27146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A9A9A9">
              <a:alpha val="10196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4619625" y="68897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0" y="63500"/>
                </a:moveTo>
                <a:cubicBezTo>
                  <a:pt x="0" y="59110"/>
                  <a:pt x="3547" y="55563"/>
                  <a:pt x="7938" y="55563"/>
                </a:cubicBezTo>
                <a:lnTo>
                  <a:pt x="103188" y="55563"/>
                </a:lnTo>
                <a:cubicBezTo>
                  <a:pt x="107578" y="55563"/>
                  <a:pt x="111125" y="59110"/>
                  <a:pt x="111125" y="63500"/>
                </a:cubicBezTo>
                <a:cubicBezTo>
                  <a:pt x="111125" y="67890"/>
                  <a:pt x="107578" y="71438"/>
                  <a:pt x="103188" y="71438"/>
                </a:cubicBezTo>
                <a:lnTo>
                  <a:pt x="7938" y="71438"/>
                </a:lnTo>
                <a:cubicBezTo>
                  <a:pt x="3547" y="71438"/>
                  <a:pt x="0" y="67890"/>
                  <a:pt x="0" y="63500"/>
                </a:cubicBezTo>
                <a:close/>
              </a:path>
            </a:pathLst>
          </a:custGeom>
          <a:solidFill>
            <a:srgbClr val="A9A9A9"/>
          </a:solidFill>
          <a:ln/>
        </p:spPr>
      </p:sp>
      <p:sp>
        <p:nvSpPr>
          <p:cNvPr id="90" name="Shape 88"/>
          <p:cNvSpPr/>
          <p:nvPr/>
        </p:nvSpPr>
        <p:spPr>
          <a:xfrm>
            <a:off x="6159500" y="6762750"/>
            <a:ext cx="2714625" cy="381000"/>
          </a:xfrm>
          <a:custGeom>
            <a:avLst/>
            <a:gdLst/>
            <a:ahLst/>
            <a:cxnLst/>
            <a:rect l="l" t="t" r="r" b="b"/>
            <a:pathLst>
              <a:path w="2714625" h="381000">
                <a:moveTo>
                  <a:pt x="0" y="0"/>
                </a:moveTo>
                <a:lnTo>
                  <a:pt x="2714625" y="0"/>
                </a:lnTo>
                <a:lnTo>
                  <a:pt x="27146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8A48C">
              <a:alpha val="10196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7461250" y="68897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0" y="63500"/>
                </a:moveTo>
                <a:cubicBezTo>
                  <a:pt x="0" y="59110"/>
                  <a:pt x="3547" y="55563"/>
                  <a:pt x="7938" y="55563"/>
                </a:cubicBezTo>
                <a:lnTo>
                  <a:pt x="103188" y="55563"/>
                </a:lnTo>
                <a:cubicBezTo>
                  <a:pt x="107578" y="55563"/>
                  <a:pt x="111125" y="59110"/>
                  <a:pt x="111125" y="63500"/>
                </a:cubicBezTo>
                <a:cubicBezTo>
                  <a:pt x="111125" y="67890"/>
                  <a:pt x="107578" y="71438"/>
                  <a:pt x="103188" y="71438"/>
                </a:cubicBezTo>
                <a:lnTo>
                  <a:pt x="7938" y="71438"/>
                </a:lnTo>
                <a:cubicBezTo>
                  <a:pt x="3547" y="71438"/>
                  <a:pt x="0" y="67890"/>
                  <a:pt x="0" y="63500"/>
                </a:cubicBezTo>
                <a:close/>
              </a:path>
            </a:pathLst>
          </a:custGeom>
          <a:solidFill>
            <a:srgbClr val="A9A9A9"/>
          </a:solidFill>
          <a:ln/>
        </p:spPr>
      </p:sp>
      <p:sp>
        <p:nvSpPr>
          <p:cNvPr id="92" name="Shape 90"/>
          <p:cNvSpPr/>
          <p:nvPr/>
        </p:nvSpPr>
        <p:spPr>
          <a:xfrm>
            <a:off x="9001125" y="6762750"/>
            <a:ext cx="2714625" cy="381000"/>
          </a:xfrm>
          <a:custGeom>
            <a:avLst/>
            <a:gdLst/>
            <a:ahLst/>
            <a:cxnLst/>
            <a:rect l="l" t="t" r="r" b="b"/>
            <a:pathLst>
              <a:path w="2714625" h="381000">
                <a:moveTo>
                  <a:pt x="0" y="0"/>
                </a:moveTo>
                <a:lnTo>
                  <a:pt x="2714625" y="0"/>
                </a:lnTo>
                <a:lnTo>
                  <a:pt x="27146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4A4A4A">
              <a:alpha val="10196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10302875" y="68897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C8A48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4486" y="334486"/>
            <a:ext cx="11581564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b="1" spc="184" kern="0" dirty="0">
                <a:solidFill>
                  <a:srgbClr val="C8A4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BOUNDARIES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4486" y="568626"/>
            <a:ext cx="11723720" cy="401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60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Constraints &amp; Limitations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4486" y="1036905"/>
            <a:ext cx="11598288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Severe constraints driving all architectural and development decisions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4486" y="1404840"/>
            <a:ext cx="668971" cy="33449"/>
          </a:xfrm>
          <a:custGeom>
            <a:avLst/>
            <a:gdLst/>
            <a:ahLst/>
            <a:cxnLst/>
            <a:rect l="l" t="t" r="r" b="b"/>
            <a:pathLst>
              <a:path w="668971" h="33449">
                <a:moveTo>
                  <a:pt x="0" y="0"/>
                </a:moveTo>
                <a:lnTo>
                  <a:pt x="668971" y="0"/>
                </a:lnTo>
                <a:lnTo>
                  <a:pt x="668971" y="33449"/>
                </a:lnTo>
                <a:lnTo>
                  <a:pt x="0" y="33449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6" name="Shape 4"/>
          <p:cNvSpPr/>
          <p:nvPr/>
        </p:nvSpPr>
        <p:spPr>
          <a:xfrm>
            <a:off x="351210" y="1638979"/>
            <a:ext cx="5644444" cy="2324675"/>
          </a:xfrm>
          <a:custGeom>
            <a:avLst/>
            <a:gdLst/>
            <a:ahLst/>
            <a:cxnLst/>
            <a:rect l="l" t="t" r="r" b="b"/>
            <a:pathLst>
              <a:path w="5644444" h="2324675">
                <a:moveTo>
                  <a:pt x="0" y="0"/>
                </a:moveTo>
                <a:lnTo>
                  <a:pt x="5644444" y="0"/>
                </a:lnTo>
                <a:lnTo>
                  <a:pt x="5644444" y="2324675"/>
                </a:lnTo>
                <a:lnTo>
                  <a:pt x="0" y="23246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351210" y="1638979"/>
            <a:ext cx="33449" cy="2324675"/>
          </a:xfrm>
          <a:custGeom>
            <a:avLst/>
            <a:gdLst/>
            <a:ahLst/>
            <a:cxnLst/>
            <a:rect l="l" t="t" r="r" b="b"/>
            <a:pathLst>
              <a:path w="33449" h="2324675">
                <a:moveTo>
                  <a:pt x="0" y="0"/>
                </a:moveTo>
                <a:lnTo>
                  <a:pt x="33449" y="0"/>
                </a:lnTo>
                <a:lnTo>
                  <a:pt x="33449" y="2324675"/>
                </a:lnTo>
                <a:lnTo>
                  <a:pt x="0" y="2324675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8" name="Shape 6"/>
          <p:cNvSpPr/>
          <p:nvPr/>
        </p:nvSpPr>
        <p:spPr>
          <a:xfrm>
            <a:off x="568626" y="1839671"/>
            <a:ext cx="468280" cy="468280"/>
          </a:xfrm>
          <a:custGeom>
            <a:avLst/>
            <a:gdLst/>
            <a:ahLst/>
            <a:cxnLst/>
            <a:rect l="l" t="t" r="r" b="b"/>
            <a:pathLst>
              <a:path w="468280" h="468280">
                <a:moveTo>
                  <a:pt x="0" y="0"/>
                </a:moveTo>
                <a:lnTo>
                  <a:pt x="468280" y="0"/>
                </a:lnTo>
                <a:lnTo>
                  <a:pt x="468280" y="468280"/>
                </a:lnTo>
                <a:lnTo>
                  <a:pt x="0" y="468280"/>
                </a:lnTo>
                <a:lnTo>
                  <a:pt x="0" y="0"/>
                </a:lnTo>
                <a:close/>
              </a:path>
            </a:pathLst>
          </a:custGeom>
          <a:solidFill>
            <a:srgbClr val="C8A48C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02420" y="1973465"/>
            <a:ext cx="200691" cy="200691"/>
          </a:xfrm>
          <a:custGeom>
            <a:avLst/>
            <a:gdLst/>
            <a:ahLst/>
            <a:cxnLst/>
            <a:rect l="l" t="t" r="r" b="b"/>
            <a:pathLst>
              <a:path w="200691" h="200691">
                <a:moveTo>
                  <a:pt x="100346" y="0"/>
                </a:moveTo>
                <a:cubicBezTo>
                  <a:pt x="155728" y="0"/>
                  <a:pt x="200691" y="44963"/>
                  <a:pt x="200691" y="100346"/>
                </a:cubicBezTo>
                <a:cubicBezTo>
                  <a:pt x="200691" y="155728"/>
                  <a:pt x="155728" y="200691"/>
                  <a:pt x="100346" y="200691"/>
                </a:cubicBezTo>
                <a:cubicBezTo>
                  <a:pt x="44963" y="200691"/>
                  <a:pt x="0" y="155728"/>
                  <a:pt x="0" y="100346"/>
                </a:cubicBezTo>
                <a:cubicBezTo>
                  <a:pt x="0" y="44963"/>
                  <a:pt x="44963" y="0"/>
                  <a:pt x="100346" y="0"/>
                </a:cubicBezTo>
                <a:close/>
                <a:moveTo>
                  <a:pt x="90938" y="47037"/>
                </a:moveTo>
                <a:lnTo>
                  <a:pt x="90938" y="100346"/>
                </a:lnTo>
                <a:cubicBezTo>
                  <a:pt x="90938" y="103481"/>
                  <a:pt x="92506" y="106421"/>
                  <a:pt x="95132" y="108185"/>
                </a:cubicBezTo>
                <a:lnTo>
                  <a:pt x="132762" y="133272"/>
                </a:lnTo>
                <a:cubicBezTo>
                  <a:pt x="137074" y="136172"/>
                  <a:pt x="142914" y="134996"/>
                  <a:pt x="145815" y="130645"/>
                </a:cubicBezTo>
                <a:cubicBezTo>
                  <a:pt x="148715" y="126294"/>
                  <a:pt x="147540" y="120493"/>
                  <a:pt x="143189" y="117593"/>
                </a:cubicBezTo>
                <a:lnTo>
                  <a:pt x="109753" y="95328"/>
                </a:lnTo>
                <a:lnTo>
                  <a:pt x="109753" y="47037"/>
                </a:lnTo>
                <a:cubicBezTo>
                  <a:pt x="109753" y="41824"/>
                  <a:pt x="105559" y="37630"/>
                  <a:pt x="100346" y="37630"/>
                </a:cubicBezTo>
                <a:cubicBezTo>
                  <a:pt x="95132" y="37630"/>
                  <a:pt x="90938" y="41824"/>
                  <a:pt x="90938" y="47037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10" name="Text 8"/>
          <p:cNvSpPr/>
          <p:nvPr/>
        </p:nvSpPr>
        <p:spPr>
          <a:xfrm>
            <a:off x="1170700" y="1940016"/>
            <a:ext cx="1463374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0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Time Constraints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8626" y="2813860"/>
            <a:ext cx="5226337" cy="8362"/>
          </a:xfrm>
          <a:custGeom>
            <a:avLst/>
            <a:gdLst/>
            <a:ahLst/>
            <a:cxnLst/>
            <a:rect l="l" t="t" r="r" b="b"/>
            <a:pathLst>
              <a:path w="5226337" h="8362">
                <a:moveTo>
                  <a:pt x="0" y="0"/>
                </a:moveTo>
                <a:lnTo>
                  <a:pt x="5226337" y="0"/>
                </a:lnTo>
                <a:lnTo>
                  <a:pt x="5226337" y="8362"/>
                </a:lnTo>
                <a:lnTo>
                  <a:pt x="0" y="8362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12" name="Text 10"/>
          <p:cNvSpPr/>
          <p:nvPr/>
        </p:nvSpPr>
        <p:spPr>
          <a:xfrm>
            <a:off x="568626" y="2525366"/>
            <a:ext cx="1513547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Development Time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90145" y="2508642"/>
            <a:ext cx="685695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7" b="1" dirty="0">
                <a:solidFill>
                  <a:srgbClr val="C8A48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40 Hours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8626" y="3290502"/>
            <a:ext cx="5226337" cy="8362"/>
          </a:xfrm>
          <a:custGeom>
            <a:avLst/>
            <a:gdLst/>
            <a:ahLst/>
            <a:cxnLst/>
            <a:rect l="l" t="t" r="r" b="b"/>
            <a:pathLst>
              <a:path w="5226337" h="8362">
                <a:moveTo>
                  <a:pt x="0" y="0"/>
                </a:moveTo>
                <a:lnTo>
                  <a:pt x="5226337" y="0"/>
                </a:lnTo>
                <a:lnTo>
                  <a:pt x="5226337" y="8362"/>
                </a:lnTo>
                <a:lnTo>
                  <a:pt x="0" y="8362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15" name="Text 13"/>
          <p:cNvSpPr/>
          <p:nvPr/>
        </p:nvSpPr>
        <p:spPr>
          <a:xfrm>
            <a:off x="568626" y="3002008"/>
            <a:ext cx="1003457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Sprint Structure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67920" y="2985284"/>
            <a:ext cx="1797860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× 10-Hour Micro-Sprints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8626" y="3478650"/>
            <a:ext cx="978370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Daily Allocation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39327" y="3461926"/>
            <a:ext cx="1028543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2.5 Hours/Day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1210" y="4164346"/>
            <a:ext cx="5644444" cy="2508642"/>
          </a:xfrm>
          <a:custGeom>
            <a:avLst/>
            <a:gdLst/>
            <a:ahLst/>
            <a:cxnLst/>
            <a:rect l="l" t="t" r="r" b="b"/>
            <a:pathLst>
              <a:path w="5644444" h="2508642">
                <a:moveTo>
                  <a:pt x="0" y="0"/>
                </a:moveTo>
                <a:lnTo>
                  <a:pt x="5644444" y="0"/>
                </a:lnTo>
                <a:lnTo>
                  <a:pt x="5644444" y="2508642"/>
                </a:lnTo>
                <a:lnTo>
                  <a:pt x="0" y="250864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351210" y="4164346"/>
            <a:ext cx="33449" cy="2508642"/>
          </a:xfrm>
          <a:custGeom>
            <a:avLst/>
            <a:gdLst/>
            <a:ahLst/>
            <a:cxnLst/>
            <a:rect l="l" t="t" r="r" b="b"/>
            <a:pathLst>
              <a:path w="33449" h="2508642">
                <a:moveTo>
                  <a:pt x="0" y="0"/>
                </a:moveTo>
                <a:lnTo>
                  <a:pt x="33449" y="0"/>
                </a:lnTo>
                <a:lnTo>
                  <a:pt x="33449" y="2508642"/>
                </a:lnTo>
                <a:lnTo>
                  <a:pt x="0" y="2508642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1" name="Shape 19"/>
          <p:cNvSpPr/>
          <p:nvPr/>
        </p:nvSpPr>
        <p:spPr>
          <a:xfrm>
            <a:off x="568626" y="4365037"/>
            <a:ext cx="468280" cy="468280"/>
          </a:xfrm>
          <a:custGeom>
            <a:avLst/>
            <a:gdLst/>
            <a:ahLst/>
            <a:cxnLst/>
            <a:rect l="l" t="t" r="r" b="b"/>
            <a:pathLst>
              <a:path w="468280" h="468280">
                <a:moveTo>
                  <a:pt x="0" y="0"/>
                </a:moveTo>
                <a:lnTo>
                  <a:pt x="468280" y="0"/>
                </a:lnTo>
                <a:lnTo>
                  <a:pt x="468280" y="468280"/>
                </a:lnTo>
                <a:lnTo>
                  <a:pt x="0" y="468280"/>
                </a:lnTo>
                <a:lnTo>
                  <a:pt x="0" y="0"/>
                </a:lnTo>
                <a:close/>
              </a:path>
            </a:pathLst>
          </a:custGeom>
          <a:solidFill>
            <a:srgbClr val="4A4A4A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40049" y="4498831"/>
            <a:ext cx="125432" cy="200691"/>
          </a:xfrm>
          <a:custGeom>
            <a:avLst/>
            <a:gdLst/>
            <a:ahLst/>
            <a:cxnLst/>
            <a:rect l="l" t="t" r="r" b="b"/>
            <a:pathLst>
              <a:path w="125432" h="200691">
                <a:moveTo>
                  <a:pt x="53309" y="9407"/>
                </a:moveTo>
                <a:cubicBezTo>
                  <a:pt x="53309" y="4194"/>
                  <a:pt x="57503" y="0"/>
                  <a:pt x="62716" y="0"/>
                </a:cubicBezTo>
                <a:cubicBezTo>
                  <a:pt x="67929" y="0"/>
                  <a:pt x="72123" y="4194"/>
                  <a:pt x="72123" y="9407"/>
                </a:cubicBezTo>
                <a:lnTo>
                  <a:pt x="72123" y="25086"/>
                </a:lnTo>
                <a:lnTo>
                  <a:pt x="94074" y="25086"/>
                </a:lnTo>
                <a:cubicBezTo>
                  <a:pt x="101012" y="25086"/>
                  <a:pt x="106617" y="30692"/>
                  <a:pt x="106617" y="37630"/>
                </a:cubicBezTo>
                <a:cubicBezTo>
                  <a:pt x="106617" y="44568"/>
                  <a:pt x="101012" y="50173"/>
                  <a:pt x="94074" y="50173"/>
                </a:cubicBezTo>
                <a:lnTo>
                  <a:pt x="49036" y="50173"/>
                </a:lnTo>
                <a:cubicBezTo>
                  <a:pt x="39276" y="50173"/>
                  <a:pt x="31358" y="58091"/>
                  <a:pt x="31358" y="67851"/>
                </a:cubicBezTo>
                <a:cubicBezTo>
                  <a:pt x="31358" y="76670"/>
                  <a:pt x="37826" y="84118"/>
                  <a:pt x="46527" y="85372"/>
                </a:cubicBezTo>
                <a:lnTo>
                  <a:pt x="82432" y="90507"/>
                </a:lnTo>
                <a:cubicBezTo>
                  <a:pt x="103521" y="93525"/>
                  <a:pt x="119160" y="111556"/>
                  <a:pt x="119160" y="132840"/>
                </a:cubicBezTo>
                <a:cubicBezTo>
                  <a:pt x="119160" y="156477"/>
                  <a:pt x="99993" y="175605"/>
                  <a:pt x="76396" y="175605"/>
                </a:cubicBezTo>
                <a:lnTo>
                  <a:pt x="72123" y="175605"/>
                </a:lnTo>
                <a:lnTo>
                  <a:pt x="72123" y="191284"/>
                </a:lnTo>
                <a:cubicBezTo>
                  <a:pt x="72123" y="196497"/>
                  <a:pt x="67929" y="200691"/>
                  <a:pt x="62716" y="200691"/>
                </a:cubicBezTo>
                <a:cubicBezTo>
                  <a:pt x="57503" y="200691"/>
                  <a:pt x="53309" y="196497"/>
                  <a:pt x="53309" y="191284"/>
                </a:cubicBezTo>
                <a:lnTo>
                  <a:pt x="53309" y="175605"/>
                </a:lnTo>
                <a:lnTo>
                  <a:pt x="25086" y="175605"/>
                </a:lnTo>
                <a:cubicBezTo>
                  <a:pt x="18148" y="175605"/>
                  <a:pt x="12543" y="170000"/>
                  <a:pt x="12543" y="163062"/>
                </a:cubicBezTo>
                <a:cubicBezTo>
                  <a:pt x="12543" y="156124"/>
                  <a:pt x="18148" y="150519"/>
                  <a:pt x="25086" y="150519"/>
                </a:cubicBezTo>
                <a:lnTo>
                  <a:pt x="76396" y="150519"/>
                </a:lnTo>
                <a:cubicBezTo>
                  <a:pt x="86156" y="150519"/>
                  <a:pt x="94074" y="142601"/>
                  <a:pt x="94074" y="132840"/>
                </a:cubicBezTo>
                <a:cubicBezTo>
                  <a:pt x="94074" y="124021"/>
                  <a:pt x="87606" y="116573"/>
                  <a:pt x="78905" y="115319"/>
                </a:cubicBezTo>
                <a:lnTo>
                  <a:pt x="43000" y="110184"/>
                </a:lnTo>
                <a:cubicBezTo>
                  <a:pt x="21911" y="107205"/>
                  <a:pt x="6272" y="89135"/>
                  <a:pt x="6272" y="67851"/>
                </a:cubicBezTo>
                <a:cubicBezTo>
                  <a:pt x="6272" y="44254"/>
                  <a:pt x="25439" y="25086"/>
                  <a:pt x="49036" y="25086"/>
                </a:cubicBezTo>
                <a:lnTo>
                  <a:pt x="53309" y="25086"/>
                </a:lnTo>
                <a:lnTo>
                  <a:pt x="53309" y="9407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3" name="Text 21"/>
          <p:cNvSpPr/>
          <p:nvPr/>
        </p:nvSpPr>
        <p:spPr>
          <a:xfrm>
            <a:off x="1170700" y="4465383"/>
            <a:ext cx="1630617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0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Budget Constraints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8626" y="4967111"/>
            <a:ext cx="5226337" cy="970008"/>
          </a:xfrm>
          <a:custGeom>
            <a:avLst/>
            <a:gdLst/>
            <a:ahLst/>
            <a:cxnLst/>
            <a:rect l="l" t="t" r="r" b="b"/>
            <a:pathLst>
              <a:path w="5226337" h="970008">
                <a:moveTo>
                  <a:pt x="0" y="0"/>
                </a:moveTo>
                <a:lnTo>
                  <a:pt x="5226337" y="0"/>
                </a:lnTo>
                <a:lnTo>
                  <a:pt x="5226337" y="970008"/>
                </a:lnTo>
                <a:lnTo>
                  <a:pt x="0" y="970008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5" name="Text 23"/>
          <p:cNvSpPr/>
          <p:nvPr/>
        </p:nvSpPr>
        <p:spPr>
          <a:xfrm>
            <a:off x="468280" y="5100905"/>
            <a:ext cx="5427029" cy="401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160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$0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0996" y="5569185"/>
            <a:ext cx="5301597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5" dirty="0">
                <a:solidFill>
                  <a:srgbClr val="F8F5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Monetary Budget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8626" y="6070914"/>
            <a:ext cx="5293235" cy="401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Implication:</a:t>
            </a:r>
            <a:pPr>
              <a:lnSpc>
                <a:spcPct val="130000"/>
              </a:lnSpc>
            </a:pPr>
            <a:r>
              <a:rPr lang="en-US" sz="1054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Must utilize free-tier services exclusively for hosting, databases, and payment processing sandbox environments.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2025" y="1638979"/>
            <a:ext cx="5644444" cy="2508642"/>
          </a:xfrm>
          <a:custGeom>
            <a:avLst/>
            <a:gdLst/>
            <a:ahLst/>
            <a:cxnLst/>
            <a:rect l="l" t="t" r="r" b="b"/>
            <a:pathLst>
              <a:path w="5644444" h="2508642">
                <a:moveTo>
                  <a:pt x="0" y="0"/>
                </a:moveTo>
                <a:lnTo>
                  <a:pt x="5644444" y="0"/>
                </a:lnTo>
                <a:lnTo>
                  <a:pt x="5644444" y="2508642"/>
                </a:lnTo>
                <a:lnTo>
                  <a:pt x="0" y="250864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212025" y="1638979"/>
            <a:ext cx="33449" cy="2508642"/>
          </a:xfrm>
          <a:custGeom>
            <a:avLst/>
            <a:gdLst/>
            <a:ahLst/>
            <a:cxnLst/>
            <a:rect l="l" t="t" r="r" b="b"/>
            <a:pathLst>
              <a:path w="33449" h="2508642">
                <a:moveTo>
                  <a:pt x="0" y="0"/>
                </a:moveTo>
                <a:lnTo>
                  <a:pt x="33449" y="0"/>
                </a:lnTo>
                <a:lnTo>
                  <a:pt x="33449" y="2508642"/>
                </a:lnTo>
                <a:lnTo>
                  <a:pt x="0" y="2508642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30" name="Shape 28"/>
          <p:cNvSpPr/>
          <p:nvPr/>
        </p:nvSpPr>
        <p:spPr>
          <a:xfrm>
            <a:off x="6429440" y="1839671"/>
            <a:ext cx="468280" cy="468280"/>
          </a:xfrm>
          <a:custGeom>
            <a:avLst/>
            <a:gdLst/>
            <a:ahLst/>
            <a:cxnLst/>
            <a:rect l="l" t="t" r="r" b="b"/>
            <a:pathLst>
              <a:path w="468280" h="468280">
                <a:moveTo>
                  <a:pt x="0" y="0"/>
                </a:moveTo>
                <a:lnTo>
                  <a:pt x="468280" y="0"/>
                </a:lnTo>
                <a:lnTo>
                  <a:pt x="468280" y="468280"/>
                </a:lnTo>
                <a:lnTo>
                  <a:pt x="0" y="468280"/>
                </a:lnTo>
                <a:lnTo>
                  <a:pt x="0" y="0"/>
                </a:lnTo>
                <a:close/>
              </a:path>
            </a:pathLst>
          </a:custGeom>
          <a:solidFill>
            <a:srgbClr val="C8A48C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63235" y="1973465"/>
            <a:ext cx="200691" cy="200691"/>
          </a:xfrm>
          <a:custGeom>
            <a:avLst/>
            <a:gdLst/>
            <a:ahLst/>
            <a:cxnLst/>
            <a:rect l="l" t="t" r="r" b="b"/>
            <a:pathLst>
              <a:path w="200691" h="200691">
                <a:moveTo>
                  <a:pt x="25086" y="12543"/>
                </a:moveTo>
                <a:cubicBezTo>
                  <a:pt x="11250" y="12543"/>
                  <a:pt x="0" y="23793"/>
                  <a:pt x="0" y="37630"/>
                </a:cubicBezTo>
                <a:lnTo>
                  <a:pt x="0" y="137975"/>
                </a:lnTo>
                <a:cubicBezTo>
                  <a:pt x="0" y="151812"/>
                  <a:pt x="11250" y="163062"/>
                  <a:pt x="25086" y="163062"/>
                </a:cubicBezTo>
                <a:lnTo>
                  <a:pt x="81531" y="163062"/>
                </a:lnTo>
                <a:lnTo>
                  <a:pt x="75259" y="181877"/>
                </a:lnTo>
                <a:lnTo>
                  <a:pt x="47037" y="181877"/>
                </a:lnTo>
                <a:cubicBezTo>
                  <a:pt x="41824" y="181877"/>
                  <a:pt x="37630" y="186071"/>
                  <a:pt x="37630" y="191284"/>
                </a:cubicBezTo>
                <a:cubicBezTo>
                  <a:pt x="37630" y="196497"/>
                  <a:pt x="41824" y="200691"/>
                  <a:pt x="47037" y="200691"/>
                </a:cubicBezTo>
                <a:lnTo>
                  <a:pt x="153654" y="200691"/>
                </a:lnTo>
                <a:cubicBezTo>
                  <a:pt x="158868" y="200691"/>
                  <a:pt x="163062" y="196497"/>
                  <a:pt x="163062" y="191284"/>
                </a:cubicBezTo>
                <a:cubicBezTo>
                  <a:pt x="163062" y="186071"/>
                  <a:pt x="158868" y="181877"/>
                  <a:pt x="153654" y="181877"/>
                </a:cubicBezTo>
                <a:lnTo>
                  <a:pt x="125432" y="181877"/>
                </a:lnTo>
                <a:lnTo>
                  <a:pt x="119160" y="163062"/>
                </a:lnTo>
                <a:lnTo>
                  <a:pt x="175605" y="163062"/>
                </a:lnTo>
                <a:cubicBezTo>
                  <a:pt x="189442" y="163062"/>
                  <a:pt x="200691" y="151812"/>
                  <a:pt x="200691" y="137975"/>
                </a:cubicBezTo>
                <a:lnTo>
                  <a:pt x="200691" y="37630"/>
                </a:lnTo>
                <a:cubicBezTo>
                  <a:pt x="200691" y="23793"/>
                  <a:pt x="189442" y="12543"/>
                  <a:pt x="175605" y="12543"/>
                </a:cubicBezTo>
                <a:lnTo>
                  <a:pt x="25086" y="12543"/>
                </a:lnTo>
                <a:close/>
                <a:moveTo>
                  <a:pt x="37630" y="37630"/>
                </a:moveTo>
                <a:lnTo>
                  <a:pt x="163062" y="37630"/>
                </a:lnTo>
                <a:cubicBezTo>
                  <a:pt x="170000" y="37630"/>
                  <a:pt x="175605" y="43235"/>
                  <a:pt x="175605" y="50173"/>
                </a:cubicBezTo>
                <a:lnTo>
                  <a:pt x="175605" y="112889"/>
                </a:lnTo>
                <a:cubicBezTo>
                  <a:pt x="175605" y="119827"/>
                  <a:pt x="170000" y="125432"/>
                  <a:pt x="163062" y="125432"/>
                </a:cubicBezTo>
                <a:lnTo>
                  <a:pt x="37630" y="125432"/>
                </a:lnTo>
                <a:cubicBezTo>
                  <a:pt x="30692" y="125432"/>
                  <a:pt x="25086" y="119827"/>
                  <a:pt x="25086" y="112889"/>
                </a:cubicBezTo>
                <a:lnTo>
                  <a:pt x="25086" y="50173"/>
                </a:lnTo>
                <a:cubicBezTo>
                  <a:pt x="25086" y="43235"/>
                  <a:pt x="30692" y="37630"/>
                  <a:pt x="37630" y="37630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32" name="Text 30"/>
          <p:cNvSpPr/>
          <p:nvPr/>
        </p:nvSpPr>
        <p:spPr>
          <a:xfrm>
            <a:off x="7031514" y="1940016"/>
            <a:ext cx="2032000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0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Hardware Requirements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9440" y="2441745"/>
            <a:ext cx="2542091" cy="1505185"/>
          </a:xfrm>
          <a:custGeom>
            <a:avLst/>
            <a:gdLst/>
            <a:ahLst/>
            <a:cxnLst/>
            <a:rect l="l" t="t" r="r" b="b"/>
            <a:pathLst>
              <a:path w="2542091" h="1505185">
                <a:moveTo>
                  <a:pt x="0" y="0"/>
                </a:moveTo>
                <a:lnTo>
                  <a:pt x="2542091" y="0"/>
                </a:lnTo>
                <a:lnTo>
                  <a:pt x="2542091" y="1505185"/>
                </a:lnTo>
                <a:lnTo>
                  <a:pt x="0" y="1505185"/>
                </a:lnTo>
                <a:lnTo>
                  <a:pt x="0" y="0"/>
                </a:lnTo>
                <a:close/>
              </a:path>
            </a:pathLst>
          </a:custGeom>
          <a:solidFill>
            <a:srgbClr val="A9A9A9">
              <a:alpha val="1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563235" y="2575539"/>
            <a:ext cx="2349761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Minimum Spec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63235" y="2910025"/>
            <a:ext cx="342848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RAM: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546499" y="2910025"/>
            <a:ext cx="351210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 GB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63235" y="3144165"/>
            <a:ext cx="317761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CPU: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746014" y="3144165"/>
            <a:ext cx="150519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63235" y="3378305"/>
            <a:ext cx="493366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Storage: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232657" y="3378305"/>
            <a:ext cx="668971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256GB SSD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63235" y="3612444"/>
            <a:ext cx="317761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GPU: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477381" y="3612444"/>
            <a:ext cx="426469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128MB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117346" y="2450107"/>
            <a:ext cx="2525366" cy="1488461"/>
          </a:xfrm>
          <a:custGeom>
            <a:avLst/>
            <a:gdLst/>
            <a:ahLst/>
            <a:cxnLst/>
            <a:rect l="l" t="t" r="r" b="b"/>
            <a:pathLst>
              <a:path w="2525366" h="1488461">
                <a:moveTo>
                  <a:pt x="0" y="0"/>
                </a:moveTo>
                <a:lnTo>
                  <a:pt x="2525366" y="0"/>
                </a:lnTo>
                <a:lnTo>
                  <a:pt x="2525366" y="1488461"/>
                </a:lnTo>
                <a:lnTo>
                  <a:pt x="0" y="1488461"/>
                </a:lnTo>
                <a:lnTo>
                  <a:pt x="0" y="0"/>
                </a:lnTo>
                <a:close/>
              </a:path>
            </a:pathLst>
          </a:custGeom>
          <a:solidFill>
            <a:srgbClr val="C8A48C">
              <a:alpha val="20000"/>
            </a:srgbClr>
          </a:solidFill>
          <a:ln w="25400">
            <a:solidFill>
              <a:srgbClr val="C8A48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59502" y="2592263"/>
            <a:ext cx="2316313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Recommended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259502" y="2926749"/>
            <a:ext cx="342848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RAM: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189197" y="2926749"/>
            <a:ext cx="376296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32 GB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259502" y="3160889"/>
            <a:ext cx="317761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CPU: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830931" y="3160889"/>
            <a:ext cx="735868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i7 Ultra 255H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259502" y="3395029"/>
            <a:ext cx="493366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Storage: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065463" y="3395029"/>
            <a:ext cx="493366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1TB SSD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259502" y="3629169"/>
            <a:ext cx="317761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GPU: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216896" y="3629169"/>
            <a:ext cx="342848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2GB+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212025" y="4348313"/>
            <a:ext cx="5644444" cy="2508642"/>
          </a:xfrm>
          <a:custGeom>
            <a:avLst/>
            <a:gdLst/>
            <a:ahLst/>
            <a:cxnLst/>
            <a:rect l="l" t="t" r="r" b="b"/>
            <a:pathLst>
              <a:path w="5644444" h="2508642">
                <a:moveTo>
                  <a:pt x="0" y="0"/>
                </a:moveTo>
                <a:lnTo>
                  <a:pt x="5644444" y="0"/>
                </a:lnTo>
                <a:lnTo>
                  <a:pt x="5644444" y="2508642"/>
                </a:lnTo>
                <a:lnTo>
                  <a:pt x="0" y="250864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4" name="Shape 52"/>
          <p:cNvSpPr/>
          <p:nvPr/>
        </p:nvSpPr>
        <p:spPr>
          <a:xfrm>
            <a:off x="6212025" y="4348313"/>
            <a:ext cx="33449" cy="2508642"/>
          </a:xfrm>
          <a:custGeom>
            <a:avLst/>
            <a:gdLst/>
            <a:ahLst/>
            <a:cxnLst/>
            <a:rect l="l" t="t" r="r" b="b"/>
            <a:pathLst>
              <a:path w="33449" h="2508642">
                <a:moveTo>
                  <a:pt x="0" y="0"/>
                </a:moveTo>
                <a:lnTo>
                  <a:pt x="33449" y="0"/>
                </a:lnTo>
                <a:lnTo>
                  <a:pt x="33449" y="2508642"/>
                </a:lnTo>
                <a:lnTo>
                  <a:pt x="0" y="2508642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55" name="Shape 53"/>
          <p:cNvSpPr/>
          <p:nvPr/>
        </p:nvSpPr>
        <p:spPr>
          <a:xfrm>
            <a:off x="6429440" y="4549004"/>
            <a:ext cx="468280" cy="468280"/>
          </a:xfrm>
          <a:custGeom>
            <a:avLst/>
            <a:gdLst/>
            <a:ahLst/>
            <a:cxnLst/>
            <a:rect l="l" t="t" r="r" b="b"/>
            <a:pathLst>
              <a:path w="468280" h="468280">
                <a:moveTo>
                  <a:pt x="0" y="0"/>
                </a:moveTo>
                <a:lnTo>
                  <a:pt x="468280" y="0"/>
                </a:lnTo>
                <a:lnTo>
                  <a:pt x="468280" y="468280"/>
                </a:lnTo>
                <a:lnTo>
                  <a:pt x="0" y="468280"/>
                </a:lnTo>
                <a:lnTo>
                  <a:pt x="0" y="0"/>
                </a:lnTo>
                <a:close/>
              </a:path>
            </a:pathLst>
          </a:custGeom>
          <a:solidFill>
            <a:srgbClr val="4A4A4A">
              <a:alpha val="1019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575778" y="4682798"/>
            <a:ext cx="175605" cy="200691"/>
          </a:xfrm>
          <a:custGeom>
            <a:avLst/>
            <a:gdLst/>
            <a:ahLst/>
            <a:cxnLst/>
            <a:rect l="l" t="t" r="r" b="b"/>
            <a:pathLst>
              <a:path w="175605" h="200691">
                <a:moveTo>
                  <a:pt x="94584" y="-5096"/>
                </a:moveTo>
                <a:cubicBezTo>
                  <a:pt x="90115" y="-5997"/>
                  <a:pt x="85529" y="-5997"/>
                  <a:pt x="81060" y="-5096"/>
                </a:cubicBezTo>
                <a:lnTo>
                  <a:pt x="7565" y="9603"/>
                </a:lnTo>
                <a:cubicBezTo>
                  <a:pt x="3175" y="10466"/>
                  <a:pt x="0" y="14346"/>
                  <a:pt x="0" y="18815"/>
                </a:cubicBezTo>
                <a:cubicBezTo>
                  <a:pt x="0" y="22852"/>
                  <a:pt x="2548" y="26380"/>
                  <a:pt x="6272" y="27673"/>
                </a:cubicBezTo>
                <a:lnTo>
                  <a:pt x="6272" y="56444"/>
                </a:lnTo>
                <a:lnTo>
                  <a:pt x="118" y="87254"/>
                </a:lnTo>
                <a:cubicBezTo>
                  <a:pt x="39" y="87606"/>
                  <a:pt x="0" y="87998"/>
                  <a:pt x="0" y="88390"/>
                </a:cubicBezTo>
                <a:cubicBezTo>
                  <a:pt x="0" y="91526"/>
                  <a:pt x="2548" y="94113"/>
                  <a:pt x="5723" y="94113"/>
                </a:cubicBezTo>
                <a:lnTo>
                  <a:pt x="19403" y="94113"/>
                </a:lnTo>
                <a:cubicBezTo>
                  <a:pt x="22539" y="94113"/>
                  <a:pt x="25126" y="91565"/>
                  <a:pt x="25126" y="88390"/>
                </a:cubicBezTo>
                <a:cubicBezTo>
                  <a:pt x="25126" y="87998"/>
                  <a:pt x="25086" y="87646"/>
                  <a:pt x="25008" y="87254"/>
                </a:cubicBezTo>
                <a:lnTo>
                  <a:pt x="18815" y="56444"/>
                </a:lnTo>
                <a:lnTo>
                  <a:pt x="18815" y="30300"/>
                </a:lnTo>
                <a:lnTo>
                  <a:pt x="37630" y="34063"/>
                </a:lnTo>
                <a:lnTo>
                  <a:pt x="37630" y="56444"/>
                </a:lnTo>
                <a:cubicBezTo>
                  <a:pt x="37630" y="84157"/>
                  <a:pt x="60090" y="106617"/>
                  <a:pt x="87802" y="106617"/>
                </a:cubicBezTo>
                <a:cubicBezTo>
                  <a:pt x="115515" y="106617"/>
                  <a:pt x="137975" y="84157"/>
                  <a:pt x="137975" y="56444"/>
                </a:cubicBezTo>
                <a:lnTo>
                  <a:pt x="137975" y="34063"/>
                </a:lnTo>
                <a:lnTo>
                  <a:pt x="168040" y="28065"/>
                </a:lnTo>
                <a:cubicBezTo>
                  <a:pt x="172430" y="27164"/>
                  <a:pt x="175605" y="23283"/>
                  <a:pt x="175605" y="18815"/>
                </a:cubicBezTo>
                <a:cubicBezTo>
                  <a:pt x="175605" y="14346"/>
                  <a:pt x="172430" y="10466"/>
                  <a:pt x="168040" y="9603"/>
                </a:cubicBezTo>
                <a:lnTo>
                  <a:pt x="94584" y="-5096"/>
                </a:lnTo>
                <a:close/>
                <a:moveTo>
                  <a:pt x="87802" y="87802"/>
                </a:moveTo>
                <a:cubicBezTo>
                  <a:pt x="70477" y="87802"/>
                  <a:pt x="56444" y="73770"/>
                  <a:pt x="56444" y="56444"/>
                </a:cubicBezTo>
                <a:lnTo>
                  <a:pt x="119160" y="56444"/>
                </a:lnTo>
                <a:cubicBezTo>
                  <a:pt x="119160" y="73770"/>
                  <a:pt x="105128" y="87802"/>
                  <a:pt x="87802" y="87802"/>
                </a:cubicBezTo>
                <a:close/>
                <a:moveTo>
                  <a:pt x="47076" y="125471"/>
                </a:moveTo>
                <a:cubicBezTo>
                  <a:pt x="23009" y="136525"/>
                  <a:pt x="6272" y="160827"/>
                  <a:pt x="6272" y="189050"/>
                </a:cubicBezTo>
                <a:cubicBezTo>
                  <a:pt x="6272" y="195478"/>
                  <a:pt x="11485" y="200691"/>
                  <a:pt x="17913" y="200691"/>
                </a:cubicBezTo>
                <a:lnTo>
                  <a:pt x="78395" y="200691"/>
                </a:lnTo>
                <a:lnTo>
                  <a:pt x="78395" y="143463"/>
                </a:lnTo>
                <a:lnTo>
                  <a:pt x="55896" y="126608"/>
                </a:lnTo>
                <a:cubicBezTo>
                  <a:pt x="53348" y="124687"/>
                  <a:pt x="49938" y="124178"/>
                  <a:pt x="47037" y="125510"/>
                </a:cubicBezTo>
                <a:close/>
                <a:moveTo>
                  <a:pt x="97210" y="200691"/>
                </a:moveTo>
                <a:lnTo>
                  <a:pt x="157692" y="200691"/>
                </a:lnTo>
                <a:cubicBezTo>
                  <a:pt x="164120" y="200691"/>
                  <a:pt x="169333" y="195478"/>
                  <a:pt x="169333" y="189050"/>
                </a:cubicBezTo>
                <a:cubicBezTo>
                  <a:pt x="169333" y="160827"/>
                  <a:pt x="152596" y="136525"/>
                  <a:pt x="128529" y="125510"/>
                </a:cubicBezTo>
                <a:cubicBezTo>
                  <a:pt x="125628" y="124178"/>
                  <a:pt x="122218" y="124687"/>
                  <a:pt x="119670" y="126608"/>
                </a:cubicBezTo>
                <a:lnTo>
                  <a:pt x="97171" y="143463"/>
                </a:lnTo>
                <a:lnTo>
                  <a:pt x="97171" y="200691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57" name="Text 55"/>
          <p:cNvSpPr/>
          <p:nvPr/>
        </p:nvSpPr>
        <p:spPr>
          <a:xfrm>
            <a:off x="7031514" y="4649350"/>
            <a:ext cx="1003457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0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Team Skills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429440" y="5151078"/>
            <a:ext cx="409745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394853" y="5151078"/>
            <a:ext cx="326123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70%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429440" y="5385218"/>
            <a:ext cx="5226337" cy="66897"/>
          </a:xfrm>
          <a:custGeom>
            <a:avLst/>
            <a:gdLst/>
            <a:ahLst/>
            <a:cxnLst/>
            <a:rect l="l" t="t" r="r" b="b"/>
            <a:pathLst>
              <a:path w="5226337" h="66897">
                <a:moveTo>
                  <a:pt x="0" y="0"/>
                </a:moveTo>
                <a:lnTo>
                  <a:pt x="5226337" y="0"/>
                </a:lnTo>
                <a:lnTo>
                  <a:pt x="5226337" y="66897"/>
                </a:lnTo>
                <a:lnTo>
                  <a:pt x="0" y="66897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61" name="Shape 59"/>
          <p:cNvSpPr/>
          <p:nvPr/>
        </p:nvSpPr>
        <p:spPr>
          <a:xfrm>
            <a:off x="6429440" y="5385218"/>
            <a:ext cx="3654255" cy="66897"/>
          </a:xfrm>
          <a:custGeom>
            <a:avLst/>
            <a:gdLst/>
            <a:ahLst/>
            <a:cxnLst/>
            <a:rect l="l" t="t" r="r" b="b"/>
            <a:pathLst>
              <a:path w="3654255" h="66897">
                <a:moveTo>
                  <a:pt x="0" y="0"/>
                </a:moveTo>
                <a:lnTo>
                  <a:pt x="3654255" y="0"/>
                </a:lnTo>
                <a:lnTo>
                  <a:pt x="3654255" y="66897"/>
                </a:lnTo>
                <a:lnTo>
                  <a:pt x="0" y="66897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62" name="Text 60"/>
          <p:cNvSpPr/>
          <p:nvPr/>
        </p:nvSpPr>
        <p:spPr>
          <a:xfrm>
            <a:off x="6429440" y="5552461"/>
            <a:ext cx="510091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Node.js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1403084" y="5552461"/>
            <a:ext cx="317761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75%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429440" y="5786601"/>
            <a:ext cx="5226337" cy="66897"/>
          </a:xfrm>
          <a:custGeom>
            <a:avLst/>
            <a:gdLst/>
            <a:ahLst/>
            <a:cxnLst/>
            <a:rect l="l" t="t" r="r" b="b"/>
            <a:pathLst>
              <a:path w="5226337" h="66897">
                <a:moveTo>
                  <a:pt x="0" y="0"/>
                </a:moveTo>
                <a:lnTo>
                  <a:pt x="5226337" y="0"/>
                </a:lnTo>
                <a:lnTo>
                  <a:pt x="5226337" y="66897"/>
                </a:lnTo>
                <a:lnTo>
                  <a:pt x="0" y="66897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65" name="Shape 63"/>
          <p:cNvSpPr/>
          <p:nvPr/>
        </p:nvSpPr>
        <p:spPr>
          <a:xfrm>
            <a:off x="6429440" y="5786601"/>
            <a:ext cx="3921844" cy="66897"/>
          </a:xfrm>
          <a:custGeom>
            <a:avLst/>
            <a:gdLst/>
            <a:ahLst/>
            <a:cxnLst/>
            <a:rect l="l" t="t" r="r" b="b"/>
            <a:pathLst>
              <a:path w="3921844" h="66897">
                <a:moveTo>
                  <a:pt x="0" y="0"/>
                </a:moveTo>
                <a:lnTo>
                  <a:pt x="3921844" y="0"/>
                </a:lnTo>
                <a:lnTo>
                  <a:pt x="3921844" y="66897"/>
                </a:lnTo>
                <a:lnTo>
                  <a:pt x="0" y="66897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66" name="Text 64"/>
          <p:cNvSpPr/>
          <p:nvPr/>
        </p:nvSpPr>
        <p:spPr>
          <a:xfrm>
            <a:off x="6429440" y="5953844"/>
            <a:ext cx="660609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MongoDB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1403084" y="5953844"/>
            <a:ext cx="317761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75%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429440" y="6187984"/>
            <a:ext cx="5226337" cy="66897"/>
          </a:xfrm>
          <a:custGeom>
            <a:avLst/>
            <a:gdLst/>
            <a:ahLst/>
            <a:cxnLst/>
            <a:rect l="l" t="t" r="r" b="b"/>
            <a:pathLst>
              <a:path w="5226337" h="66897">
                <a:moveTo>
                  <a:pt x="0" y="0"/>
                </a:moveTo>
                <a:lnTo>
                  <a:pt x="5226337" y="0"/>
                </a:lnTo>
                <a:lnTo>
                  <a:pt x="5226337" y="66897"/>
                </a:lnTo>
                <a:lnTo>
                  <a:pt x="0" y="66897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69" name="Shape 67"/>
          <p:cNvSpPr/>
          <p:nvPr/>
        </p:nvSpPr>
        <p:spPr>
          <a:xfrm>
            <a:off x="6429440" y="6187984"/>
            <a:ext cx="3921844" cy="66897"/>
          </a:xfrm>
          <a:custGeom>
            <a:avLst/>
            <a:gdLst/>
            <a:ahLst/>
            <a:cxnLst/>
            <a:rect l="l" t="t" r="r" b="b"/>
            <a:pathLst>
              <a:path w="3921844" h="66897">
                <a:moveTo>
                  <a:pt x="0" y="0"/>
                </a:moveTo>
                <a:lnTo>
                  <a:pt x="3921844" y="0"/>
                </a:lnTo>
                <a:lnTo>
                  <a:pt x="3921844" y="66897"/>
                </a:lnTo>
                <a:lnTo>
                  <a:pt x="0" y="66897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70" name="Text 68"/>
          <p:cNvSpPr/>
          <p:nvPr/>
        </p:nvSpPr>
        <p:spPr>
          <a:xfrm>
            <a:off x="6429440" y="6355226"/>
            <a:ext cx="317761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1392632" y="6355226"/>
            <a:ext cx="326123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35%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429440" y="6589366"/>
            <a:ext cx="5226337" cy="66897"/>
          </a:xfrm>
          <a:custGeom>
            <a:avLst/>
            <a:gdLst/>
            <a:ahLst/>
            <a:cxnLst/>
            <a:rect l="l" t="t" r="r" b="b"/>
            <a:pathLst>
              <a:path w="5226337" h="66897">
                <a:moveTo>
                  <a:pt x="0" y="0"/>
                </a:moveTo>
                <a:lnTo>
                  <a:pt x="5226337" y="0"/>
                </a:lnTo>
                <a:lnTo>
                  <a:pt x="5226337" y="66897"/>
                </a:lnTo>
                <a:lnTo>
                  <a:pt x="0" y="66897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73" name="Shape 71"/>
          <p:cNvSpPr/>
          <p:nvPr/>
        </p:nvSpPr>
        <p:spPr>
          <a:xfrm>
            <a:off x="6429440" y="6589366"/>
            <a:ext cx="1831309" cy="66897"/>
          </a:xfrm>
          <a:custGeom>
            <a:avLst/>
            <a:gdLst/>
            <a:ahLst/>
            <a:cxnLst/>
            <a:rect l="l" t="t" r="r" b="b"/>
            <a:pathLst>
              <a:path w="1831309" h="66897">
                <a:moveTo>
                  <a:pt x="0" y="0"/>
                </a:moveTo>
                <a:lnTo>
                  <a:pt x="1831309" y="0"/>
                </a:lnTo>
                <a:lnTo>
                  <a:pt x="1831309" y="66897"/>
                </a:lnTo>
                <a:lnTo>
                  <a:pt x="0" y="66897"/>
                </a:lnTo>
                <a:lnTo>
                  <a:pt x="0" y="0"/>
                </a:lnTo>
                <a:close/>
              </a:path>
            </a:pathLst>
          </a:custGeom>
          <a:solidFill>
            <a:srgbClr val="A9A9A9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6752" y="356752"/>
            <a:ext cx="11540928" cy="17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3" b="1" spc="197" kern="0" dirty="0">
                <a:solidFill>
                  <a:srgbClr val="C8A4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FOUNDATION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6752" y="606478"/>
            <a:ext cx="11692547" cy="428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71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6752" y="1105931"/>
            <a:ext cx="11558765" cy="249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4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MERN-based stack selected for team proficiency, development speed, and scalability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6752" y="1498358"/>
            <a:ext cx="713504" cy="35675"/>
          </a:xfrm>
          <a:custGeom>
            <a:avLst/>
            <a:gdLst/>
            <a:ahLst/>
            <a:cxnLst/>
            <a:rect l="l" t="t" r="r" b="b"/>
            <a:pathLst>
              <a:path w="713504" h="35675">
                <a:moveTo>
                  <a:pt x="0" y="0"/>
                </a:moveTo>
                <a:lnTo>
                  <a:pt x="713504" y="0"/>
                </a:lnTo>
                <a:lnTo>
                  <a:pt x="713504" y="35675"/>
                </a:lnTo>
                <a:lnTo>
                  <a:pt x="0" y="35675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6" name="Shape 4"/>
          <p:cNvSpPr/>
          <p:nvPr/>
        </p:nvSpPr>
        <p:spPr>
          <a:xfrm>
            <a:off x="356752" y="1765922"/>
            <a:ext cx="3710221" cy="2738072"/>
          </a:xfrm>
          <a:custGeom>
            <a:avLst/>
            <a:gdLst/>
            <a:ahLst/>
            <a:cxnLst/>
            <a:rect l="l" t="t" r="r" b="b"/>
            <a:pathLst>
              <a:path w="3710221" h="2738072">
                <a:moveTo>
                  <a:pt x="0" y="0"/>
                </a:moveTo>
                <a:lnTo>
                  <a:pt x="3710221" y="0"/>
                </a:lnTo>
                <a:lnTo>
                  <a:pt x="3710221" y="2738072"/>
                </a:lnTo>
                <a:lnTo>
                  <a:pt x="0" y="27380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356752" y="1765922"/>
            <a:ext cx="3710221" cy="35675"/>
          </a:xfrm>
          <a:custGeom>
            <a:avLst/>
            <a:gdLst/>
            <a:ahLst/>
            <a:cxnLst/>
            <a:rect l="l" t="t" r="r" b="b"/>
            <a:pathLst>
              <a:path w="3710221" h="35675">
                <a:moveTo>
                  <a:pt x="0" y="0"/>
                </a:moveTo>
                <a:lnTo>
                  <a:pt x="3710221" y="0"/>
                </a:lnTo>
                <a:lnTo>
                  <a:pt x="3710221" y="35675"/>
                </a:lnTo>
                <a:lnTo>
                  <a:pt x="0" y="35675"/>
                </a:lnTo>
                <a:lnTo>
                  <a:pt x="0" y="0"/>
                </a:lnTo>
                <a:close/>
              </a:path>
            </a:pathLst>
          </a:custGeom>
          <a:solidFill>
            <a:srgbClr val="61DAFB"/>
          </a:solidFill>
          <a:ln/>
        </p:spPr>
      </p:sp>
      <p:sp>
        <p:nvSpPr>
          <p:cNvPr id="8" name="Shape 6"/>
          <p:cNvSpPr/>
          <p:nvPr/>
        </p:nvSpPr>
        <p:spPr>
          <a:xfrm>
            <a:off x="570803" y="2042405"/>
            <a:ext cx="267564" cy="267564"/>
          </a:xfrm>
          <a:custGeom>
            <a:avLst/>
            <a:gdLst/>
            <a:ahLst/>
            <a:cxnLst/>
            <a:rect l="l" t="t" r="r" b="b"/>
            <a:pathLst>
              <a:path w="267564" h="267564">
                <a:moveTo>
                  <a:pt x="218545" y="92602"/>
                </a:moveTo>
                <a:cubicBezTo>
                  <a:pt x="215723" y="91662"/>
                  <a:pt x="212902" y="90773"/>
                  <a:pt x="210080" y="89937"/>
                </a:cubicBezTo>
                <a:cubicBezTo>
                  <a:pt x="210550" y="88003"/>
                  <a:pt x="210968" y="86070"/>
                  <a:pt x="211386" y="84136"/>
                </a:cubicBezTo>
                <a:cubicBezTo>
                  <a:pt x="217814" y="52990"/>
                  <a:pt x="213581" y="27958"/>
                  <a:pt x="199314" y="19701"/>
                </a:cubicBezTo>
                <a:cubicBezTo>
                  <a:pt x="185570" y="11810"/>
                  <a:pt x="163151" y="20015"/>
                  <a:pt x="140471" y="39769"/>
                </a:cubicBezTo>
                <a:cubicBezTo>
                  <a:pt x="138224" y="41702"/>
                  <a:pt x="136029" y="43740"/>
                  <a:pt x="133939" y="45779"/>
                </a:cubicBezTo>
                <a:cubicBezTo>
                  <a:pt x="132528" y="44420"/>
                  <a:pt x="131065" y="43061"/>
                  <a:pt x="129601" y="41755"/>
                </a:cubicBezTo>
                <a:cubicBezTo>
                  <a:pt x="105824" y="20642"/>
                  <a:pt x="81994" y="11758"/>
                  <a:pt x="67727" y="20067"/>
                </a:cubicBezTo>
                <a:cubicBezTo>
                  <a:pt x="54035" y="28011"/>
                  <a:pt x="49959" y="51579"/>
                  <a:pt x="55708" y="81053"/>
                </a:cubicBezTo>
                <a:cubicBezTo>
                  <a:pt x="56283" y="83980"/>
                  <a:pt x="56910" y="86854"/>
                  <a:pt x="57641" y="89780"/>
                </a:cubicBezTo>
                <a:cubicBezTo>
                  <a:pt x="54297" y="90721"/>
                  <a:pt x="51004" y="91766"/>
                  <a:pt x="47921" y="92864"/>
                </a:cubicBezTo>
                <a:cubicBezTo>
                  <a:pt x="20015" y="102531"/>
                  <a:pt x="0" y="117791"/>
                  <a:pt x="0" y="133573"/>
                </a:cubicBezTo>
                <a:cubicBezTo>
                  <a:pt x="0" y="149878"/>
                  <a:pt x="21322" y="166235"/>
                  <a:pt x="50325" y="176164"/>
                </a:cubicBezTo>
                <a:cubicBezTo>
                  <a:pt x="52677" y="176948"/>
                  <a:pt x="55028" y="177731"/>
                  <a:pt x="57432" y="178411"/>
                </a:cubicBezTo>
                <a:cubicBezTo>
                  <a:pt x="56648" y="181546"/>
                  <a:pt x="55969" y="184630"/>
                  <a:pt x="55342" y="187817"/>
                </a:cubicBezTo>
                <a:cubicBezTo>
                  <a:pt x="49855" y="216821"/>
                  <a:pt x="54140" y="239815"/>
                  <a:pt x="67832" y="247706"/>
                </a:cubicBezTo>
                <a:cubicBezTo>
                  <a:pt x="81941" y="255858"/>
                  <a:pt x="105667" y="247497"/>
                  <a:pt x="128765" y="227273"/>
                </a:cubicBezTo>
                <a:cubicBezTo>
                  <a:pt x="130594" y="225653"/>
                  <a:pt x="132423" y="223980"/>
                  <a:pt x="134252" y="222204"/>
                </a:cubicBezTo>
                <a:cubicBezTo>
                  <a:pt x="136552" y="224451"/>
                  <a:pt x="138956" y="226593"/>
                  <a:pt x="141360" y="228684"/>
                </a:cubicBezTo>
                <a:cubicBezTo>
                  <a:pt x="163726" y="247915"/>
                  <a:pt x="185832" y="255701"/>
                  <a:pt x="199471" y="247810"/>
                </a:cubicBezTo>
                <a:cubicBezTo>
                  <a:pt x="213581" y="239658"/>
                  <a:pt x="218180" y="214940"/>
                  <a:pt x="212222" y="184839"/>
                </a:cubicBezTo>
                <a:cubicBezTo>
                  <a:pt x="211752" y="182539"/>
                  <a:pt x="211229" y="180188"/>
                  <a:pt x="210654" y="177784"/>
                </a:cubicBezTo>
                <a:cubicBezTo>
                  <a:pt x="212327" y="177313"/>
                  <a:pt x="213947" y="176791"/>
                  <a:pt x="215567" y="176268"/>
                </a:cubicBezTo>
                <a:cubicBezTo>
                  <a:pt x="245720" y="166287"/>
                  <a:pt x="267564" y="150139"/>
                  <a:pt x="267564" y="133573"/>
                </a:cubicBezTo>
                <a:cubicBezTo>
                  <a:pt x="267564" y="117739"/>
                  <a:pt x="246974" y="102375"/>
                  <a:pt x="218545" y="92602"/>
                </a:cubicBezTo>
                <a:close/>
                <a:moveTo>
                  <a:pt x="147840" y="48235"/>
                </a:moveTo>
                <a:cubicBezTo>
                  <a:pt x="167280" y="31303"/>
                  <a:pt x="185413" y="24666"/>
                  <a:pt x="193670" y="29422"/>
                </a:cubicBezTo>
                <a:cubicBezTo>
                  <a:pt x="202502" y="34491"/>
                  <a:pt x="205899" y="54976"/>
                  <a:pt x="200359" y="81889"/>
                </a:cubicBezTo>
                <a:cubicBezTo>
                  <a:pt x="199994" y="83666"/>
                  <a:pt x="199628" y="85391"/>
                  <a:pt x="199158" y="87115"/>
                </a:cubicBezTo>
                <a:cubicBezTo>
                  <a:pt x="187556" y="84502"/>
                  <a:pt x="175798" y="82621"/>
                  <a:pt x="163987" y="81576"/>
                </a:cubicBezTo>
                <a:cubicBezTo>
                  <a:pt x="157194" y="71856"/>
                  <a:pt x="149773" y="62554"/>
                  <a:pt x="141725" y="53826"/>
                </a:cubicBezTo>
                <a:cubicBezTo>
                  <a:pt x="143763" y="51893"/>
                  <a:pt x="145749" y="50064"/>
                  <a:pt x="147840" y="48235"/>
                </a:cubicBezTo>
                <a:close/>
                <a:moveTo>
                  <a:pt x="87376" y="160695"/>
                </a:moveTo>
                <a:cubicBezTo>
                  <a:pt x="90042" y="165242"/>
                  <a:pt x="92759" y="169788"/>
                  <a:pt x="95633" y="174230"/>
                </a:cubicBezTo>
                <a:cubicBezTo>
                  <a:pt x="87481" y="173342"/>
                  <a:pt x="79381" y="172035"/>
                  <a:pt x="71385" y="170311"/>
                </a:cubicBezTo>
                <a:cubicBezTo>
                  <a:pt x="73685" y="162786"/>
                  <a:pt x="76559" y="154999"/>
                  <a:pt x="79903" y="147056"/>
                </a:cubicBezTo>
                <a:cubicBezTo>
                  <a:pt x="82307" y="151654"/>
                  <a:pt x="84763" y="156201"/>
                  <a:pt x="87376" y="160695"/>
                </a:cubicBezTo>
                <a:close/>
                <a:moveTo>
                  <a:pt x="71542" y="97828"/>
                </a:moveTo>
                <a:cubicBezTo>
                  <a:pt x="79067" y="96156"/>
                  <a:pt x="87063" y="94797"/>
                  <a:pt x="95372" y="93752"/>
                </a:cubicBezTo>
                <a:cubicBezTo>
                  <a:pt x="92602" y="98089"/>
                  <a:pt x="89885" y="102531"/>
                  <a:pt x="87324" y="107026"/>
                </a:cubicBezTo>
                <a:cubicBezTo>
                  <a:pt x="84763" y="111468"/>
                  <a:pt x="82255" y="116014"/>
                  <a:pt x="79903" y="120613"/>
                </a:cubicBezTo>
                <a:cubicBezTo>
                  <a:pt x="76611" y="112826"/>
                  <a:pt x="73841" y="105197"/>
                  <a:pt x="71542" y="97828"/>
                </a:cubicBezTo>
                <a:close/>
                <a:moveTo>
                  <a:pt x="85861" y="133834"/>
                </a:moveTo>
                <a:cubicBezTo>
                  <a:pt x="89310" y="126623"/>
                  <a:pt x="93073" y="119568"/>
                  <a:pt x="97044" y="112617"/>
                </a:cubicBezTo>
                <a:cubicBezTo>
                  <a:pt x="101016" y="105667"/>
                  <a:pt x="105301" y="98926"/>
                  <a:pt x="109795" y="92289"/>
                </a:cubicBezTo>
                <a:cubicBezTo>
                  <a:pt x="117634" y="91714"/>
                  <a:pt x="125630" y="91400"/>
                  <a:pt x="133782" y="91400"/>
                </a:cubicBezTo>
                <a:cubicBezTo>
                  <a:pt x="141934" y="91400"/>
                  <a:pt x="149982" y="91714"/>
                  <a:pt x="157769" y="92289"/>
                </a:cubicBezTo>
                <a:cubicBezTo>
                  <a:pt x="162211" y="98873"/>
                  <a:pt x="166444" y="105615"/>
                  <a:pt x="170468" y="112513"/>
                </a:cubicBezTo>
                <a:cubicBezTo>
                  <a:pt x="174491" y="119411"/>
                  <a:pt x="178254" y="126466"/>
                  <a:pt x="181808" y="133625"/>
                </a:cubicBezTo>
                <a:cubicBezTo>
                  <a:pt x="178306" y="140837"/>
                  <a:pt x="174544" y="147944"/>
                  <a:pt x="170520" y="154947"/>
                </a:cubicBezTo>
                <a:cubicBezTo>
                  <a:pt x="166548" y="161897"/>
                  <a:pt x="162315" y="168638"/>
                  <a:pt x="157873" y="175328"/>
                </a:cubicBezTo>
                <a:cubicBezTo>
                  <a:pt x="150087" y="175902"/>
                  <a:pt x="141987" y="176164"/>
                  <a:pt x="133782" y="176164"/>
                </a:cubicBezTo>
                <a:cubicBezTo>
                  <a:pt x="125577" y="176164"/>
                  <a:pt x="117634" y="175902"/>
                  <a:pt x="109952" y="175432"/>
                </a:cubicBezTo>
                <a:cubicBezTo>
                  <a:pt x="105406" y="168795"/>
                  <a:pt x="101120" y="162002"/>
                  <a:pt x="97096" y="155051"/>
                </a:cubicBezTo>
                <a:cubicBezTo>
                  <a:pt x="93073" y="148101"/>
                  <a:pt x="89362" y="141046"/>
                  <a:pt x="85861" y="133834"/>
                </a:cubicBezTo>
                <a:close/>
                <a:moveTo>
                  <a:pt x="180240" y="160591"/>
                </a:moveTo>
                <a:cubicBezTo>
                  <a:pt x="182905" y="155992"/>
                  <a:pt x="185413" y="151341"/>
                  <a:pt x="187870" y="146638"/>
                </a:cubicBezTo>
                <a:cubicBezTo>
                  <a:pt x="191214" y="154215"/>
                  <a:pt x="194141" y="161897"/>
                  <a:pt x="196701" y="169788"/>
                </a:cubicBezTo>
                <a:cubicBezTo>
                  <a:pt x="188601" y="171617"/>
                  <a:pt x="180397" y="173028"/>
                  <a:pt x="172140" y="173969"/>
                </a:cubicBezTo>
                <a:cubicBezTo>
                  <a:pt x="174962" y="169579"/>
                  <a:pt x="177627" y="165085"/>
                  <a:pt x="180240" y="160591"/>
                </a:cubicBezTo>
                <a:close/>
                <a:moveTo>
                  <a:pt x="187765" y="120613"/>
                </a:moveTo>
                <a:cubicBezTo>
                  <a:pt x="185309" y="116014"/>
                  <a:pt x="182801" y="111415"/>
                  <a:pt x="180188" y="106921"/>
                </a:cubicBezTo>
                <a:cubicBezTo>
                  <a:pt x="177627" y="102479"/>
                  <a:pt x="174962" y="98089"/>
                  <a:pt x="172192" y="93752"/>
                </a:cubicBezTo>
                <a:cubicBezTo>
                  <a:pt x="180606" y="94797"/>
                  <a:pt x="188654" y="96208"/>
                  <a:pt x="196179" y="97933"/>
                </a:cubicBezTo>
                <a:cubicBezTo>
                  <a:pt x="193775" y="105667"/>
                  <a:pt x="190953" y="113192"/>
                  <a:pt x="187765" y="120613"/>
                </a:cubicBezTo>
                <a:close/>
                <a:moveTo>
                  <a:pt x="133887" y="61822"/>
                </a:moveTo>
                <a:cubicBezTo>
                  <a:pt x="139374" y="67779"/>
                  <a:pt x="144547" y="74050"/>
                  <a:pt x="149355" y="80530"/>
                </a:cubicBezTo>
                <a:cubicBezTo>
                  <a:pt x="139008" y="80060"/>
                  <a:pt x="128608" y="80060"/>
                  <a:pt x="118261" y="80530"/>
                </a:cubicBezTo>
                <a:cubicBezTo>
                  <a:pt x="123383" y="73789"/>
                  <a:pt x="128661" y="67518"/>
                  <a:pt x="133887" y="61822"/>
                </a:cubicBezTo>
                <a:close/>
                <a:moveTo>
                  <a:pt x="73267" y="29787"/>
                </a:moveTo>
                <a:cubicBezTo>
                  <a:pt x="82046" y="24666"/>
                  <a:pt x="101538" y="31982"/>
                  <a:pt x="122076" y="50168"/>
                </a:cubicBezTo>
                <a:cubicBezTo>
                  <a:pt x="123383" y="51318"/>
                  <a:pt x="124689" y="52572"/>
                  <a:pt x="126048" y="53826"/>
                </a:cubicBezTo>
                <a:cubicBezTo>
                  <a:pt x="117948" y="62554"/>
                  <a:pt x="110475" y="71856"/>
                  <a:pt x="103629" y="81576"/>
                </a:cubicBezTo>
                <a:cubicBezTo>
                  <a:pt x="91818" y="82621"/>
                  <a:pt x="80112" y="84450"/>
                  <a:pt x="68511" y="87011"/>
                </a:cubicBezTo>
                <a:cubicBezTo>
                  <a:pt x="67832" y="84345"/>
                  <a:pt x="67257" y="81628"/>
                  <a:pt x="66682" y="78910"/>
                </a:cubicBezTo>
                <a:cubicBezTo>
                  <a:pt x="61770" y="53617"/>
                  <a:pt x="65010" y="34543"/>
                  <a:pt x="73267" y="29787"/>
                </a:cubicBezTo>
                <a:close/>
                <a:moveTo>
                  <a:pt x="60463" y="167541"/>
                </a:moveTo>
                <a:cubicBezTo>
                  <a:pt x="58268" y="166914"/>
                  <a:pt x="56126" y="166235"/>
                  <a:pt x="53983" y="165503"/>
                </a:cubicBezTo>
                <a:cubicBezTo>
                  <a:pt x="42852" y="162002"/>
                  <a:pt x="30205" y="156462"/>
                  <a:pt x="21060" y="149198"/>
                </a:cubicBezTo>
                <a:cubicBezTo>
                  <a:pt x="15782" y="145540"/>
                  <a:pt x="12229" y="139896"/>
                  <a:pt x="11236" y="133573"/>
                </a:cubicBezTo>
                <a:cubicBezTo>
                  <a:pt x="11236" y="124010"/>
                  <a:pt x="27749" y="111781"/>
                  <a:pt x="51579" y="103472"/>
                </a:cubicBezTo>
                <a:cubicBezTo>
                  <a:pt x="54558" y="102427"/>
                  <a:pt x="57589" y="101486"/>
                  <a:pt x="60620" y="100598"/>
                </a:cubicBezTo>
                <a:cubicBezTo>
                  <a:pt x="64174" y="111938"/>
                  <a:pt x="68459" y="123069"/>
                  <a:pt x="73423" y="133834"/>
                </a:cubicBezTo>
                <a:cubicBezTo>
                  <a:pt x="68407" y="144756"/>
                  <a:pt x="64069" y="156044"/>
                  <a:pt x="60463" y="167541"/>
                </a:cubicBezTo>
                <a:close/>
                <a:moveTo>
                  <a:pt x="121397" y="218754"/>
                </a:moveTo>
                <a:cubicBezTo>
                  <a:pt x="112774" y="226646"/>
                  <a:pt x="102793" y="232917"/>
                  <a:pt x="91923" y="237202"/>
                </a:cubicBezTo>
                <a:cubicBezTo>
                  <a:pt x="86122" y="239971"/>
                  <a:pt x="79433" y="240233"/>
                  <a:pt x="73476" y="237881"/>
                </a:cubicBezTo>
                <a:cubicBezTo>
                  <a:pt x="65166" y="233073"/>
                  <a:pt x="61717" y="214626"/>
                  <a:pt x="66421" y="189803"/>
                </a:cubicBezTo>
                <a:cubicBezTo>
                  <a:pt x="66996" y="186877"/>
                  <a:pt x="67623" y="183950"/>
                  <a:pt x="68354" y="181076"/>
                </a:cubicBezTo>
                <a:cubicBezTo>
                  <a:pt x="80060" y="183584"/>
                  <a:pt x="91871" y="185309"/>
                  <a:pt x="103838" y="186197"/>
                </a:cubicBezTo>
                <a:cubicBezTo>
                  <a:pt x="110736" y="195970"/>
                  <a:pt x="118313" y="205324"/>
                  <a:pt x="126414" y="214103"/>
                </a:cubicBezTo>
                <a:cubicBezTo>
                  <a:pt x="124741" y="215723"/>
                  <a:pt x="123069" y="217291"/>
                  <a:pt x="121397" y="218754"/>
                </a:cubicBezTo>
                <a:close/>
                <a:moveTo>
                  <a:pt x="134200" y="206056"/>
                </a:moveTo>
                <a:cubicBezTo>
                  <a:pt x="128870" y="200307"/>
                  <a:pt x="123539" y="193932"/>
                  <a:pt x="118366" y="187086"/>
                </a:cubicBezTo>
                <a:cubicBezTo>
                  <a:pt x="123383" y="187295"/>
                  <a:pt x="128556" y="187399"/>
                  <a:pt x="133782" y="187399"/>
                </a:cubicBezTo>
                <a:cubicBezTo>
                  <a:pt x="139165" y="187399"/>
                  <a:pt x="144443" y="187295"/>
                  <a:pt x="149669" y="187034"/>
                </a:cubicBezTo>
                <a:cubicBezTo>
                  <a:pt x="144861" y="193670"/>
                  <a:pt x="139687" y="199994"/>
                  <a:pt x="134200" y="206056"/>
                </a:cubicBezTo>
                <a:close/>
                <a:moveTo>
                  <a:pt x="202502" y="221733"/>
                </a:moveTo>
                <a:cubicBezTo>
                  <a:pt x="202032" y="228109"/>
                  <a:pt x="198896" y="234066"/>
                  <a:pt x="193879" y="238090"/>
                </a:cubicBezTo>
                <a:cubicBezTo>
                  <a:pt x="185570" y="242898"/>
                  <a:pt x="167855" y="236627"/>
                  <a:pt x="148728" y="220218"/>
                </a:cubicBezTo>
                <a:cubicBezTo>
                  <a:pt x="146533" y="218336"/>
                  <a:pt x="144338" y="216298"/>
                  <a:pt x="142091" y="214208"/>
                </a:cubicBezTo>
                <a:cubicBezTo>
                  <a:pt x="150087" y="205376"/>
                  <a:pt x="157455" y="196022"/>
                  <a:pt x="164144" y="186197"/>
                </a:cubicBezTo>
                <a:cubicBezTo>
                  <a:pt x="176111" y="185204"/>
                  <a:pt x="188026" y="183375"/>
                  <a:pt x="199785" y="180710"/>
                </a:cubicBezTo>
                <a:cubicBezTo>
                  <a:pt x="200307" y="182853"/>
                  <a:pt x="200778" y="184995"/>
                  <a:pt x="201196" y="187086"/>
                </a:cubicBezTo>
                <a:cubicBezTo>
                  <a:pt x="203756" y="198374"/>
                  <a:pt x="204174" y="210132"/>
                  <a:pt x="202502" y="221733"/>
                </a:cubicBezTo>
                <a:close/>
                <a:moveTo>
                  <a:pt x="212013" y="165555"/>
                </a:moveTo>
                <a:cubicBezTo>
                  <a:pt x="210550" y="166026"/>
                  <a:pt x="209087" y="166496"/>
                  <a:pt x="207571" y="166914"/>
                </a:cubicBezTo>
                <a:cubicBezTo>
                  <a:pt x="203913" y="155522"/>
                  <a:pt x="199419" y="144390"/>
                  <a:pt x="194245" y="133573"/>
                </a:cubicBezTo>
                <a:cubicBezTo>
                  <a:pt x="199262" y="122912"/>
                  <a:pt x="203495" y="111938"/>
                  <a:pt x="207049" y="100702"/>
                </a:cubicBezTo>
                <a:cubicBezTo>
                  <a:pt x="209766" y="101486"/>
                  <a:pt x="212379" y="102322"/>
                  <a:pt x="214887" y="103158"/>
                </a:cubicBezTo>
                <a:cubicBezTo>
                  <a:pt x="239240" y="111520"/>
                  <a:pt x="256328" y="123957"/>
                  <a:pt x="256328" y="133468"/>
                </a:cubicBezTo>
                <a:cubicBezTo>
                  <a:pt x="256328" y="143711"/>
                  <a:pt x="238090" y="156933"/>
                  <a:pt x="212013" y="165555"/>
                </a:cubicBezTo>
                <a:close/>
                <a:moveTo>
                  <a:pt x="133782" y="157716"/>
                </a:moveTo>
                <a:cubicBezTo>
                  <a:pt x="146992" y="157716"/>
                  <a:pt x="157716" y="146992"/>
                  <a:pt x="157716" y="133782"/>
                </a:cubicBezTo>
                <a:cubicBezTo>
                  <a:pt x="157716" y="120572"/>
                  <a:pt x="146992" y="109848"/>
                  <a:pt x="133782" y="109848"/>
                </a:cubicBezTo>
                <a:cubicBezTo>
                  <a:pt x="120572" y="109848"/>
                  <a:pt x="109848" y="120572"/>
                  <a:pt x="109848" y="133782"/>
                </a:cubicBezTo>
                <a:cubicBezTo>
                  <a:pt x="109848" y="146992"/>
                  <a:pt x="120572" y="157716"/>
                  <a:pt x="133782" y="157716"/>
                </a:cubicBezTo>
                <a:close/>
              </a:path>
            </a:pathLst>
          </a:custGeom>
          <a:solidFill>
            <a:srgbClr val="61DAFB"/>
          </a:solidFill>
          <a:ln/>
        </p:spPr>
      </p:sp>
      <p:sp>
        <p:nvSpPr>
          <p:cNvPr id="9" name="Text 7"/>
          <p:cNvSpPr/>
          <p:nvPr/>
        </p:nvSpPr>
        <p:spPr>
          <a:xfrm>
            <a:off x="976609" y="1962136"/>
            <a:ext cx="918636" cy="249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5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76609" y="2211862"/>
            <a:ext cx="891880" cy="17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3" dirty="0">
                <a:solidFill>
                  <a:srgbClr val="C8A4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70% Team Skill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0770" y="2577533"/>
            <a:ext cx="109255" cy="124863"/>
          </a:xfrm>
          <a:custGeom>
            <a:avLst/>
            <a:gdLst/>
            <a:ahLst/>
            <a:cxnLst/>
            <a:rect l="l" t="t" r="r" b="b"/>
            <a:pathLst>
              <a:path w="109255" h="124863">
                <a:moveTo>
                  <a:pt x="106036" y="17096"/>
                </a:moveTo>
                <a:cubicBezTo>
                  <a:pt x="109524" y="19632"/>
                  <a:pt x="110304" y="24509"/>
                  <a:pt x="107768" y="27997"/>
                </a:cubicBezTo>
                <a:lnTo>
                  <a:pt x="45336" y="113840"/>
                </a:lnTo>
                <a:cubicBezTo>
                  <a:pt x="43995" y="115694"/>
                  <a:pt x="41922" y="116840"/>
                  <a:pt x="39629" y="117035"/>
                </a:cubicBezTo>
                <a:cubicBezTo>
                  <a:pt x="37337" y="117230"/>
                  <a:pt x="35118" y="116376"/>
                  <a:pt x="33508" y="114767"/>
                </a:cubicBezTo>
                <a:lnTo>
                  <a:pt x="2292" y="83551"/>
                </a:lnTo>
                <a:cubicBezTo>
                  <a:pt x="-756" y="80503"/>
                  <a:pt x="-756" y="75552"/>
                  <a:pt x="2292" y="72504"/>
                </a:cubicBezTo>
                <a:cubicBezTo>
                  <a:pt x="5341" y="69455"/>
                  <a:pt x="10291" y="69455"/>
                  <a:pt x="13340" y="72504"/>
                </a:cubicBezTo>
                <a:lnTo>
                  <a:pt x="38093" y="97257"/>
                </a:lnTo>
                <a:lnTo>
                  <a:pt x="95159" y="18803"/>
                </a:lnTo>
                <a:cubicBezTo>
                  <a:pt x="97696" y="15315"/>
                  <a:pt x="102573" y="14535"/>
                  <a:pt x="106061" y="17071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12" name="Text 10"/>
          <p:cNvSpPr/>
          <p:nvPr/>
        </p:nvSpPr>
        <p:spPr>
          <a:xfrm>
            <a:off x="695666" y="2532939"/>
            <a:ext cx="3264281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18 + TypeScript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0770" y="2862935"/>
            <a:ext cx="109255" cy="124863"/>
          </a:xfrm>
          <a:custGeom>
            <a:avLst/>
            <a:gdLst/>
            <a:ahLst/>
            <a:cxnLst/>
            <a:rect l="l" t="t" r="r" b="b"/>
            <a:pathLst>
              <a:path w="109255" h="124863">
                <a:moveTo>
                  <a:pt x="106036" y="17096"/>
                </a:moveTo>
                <a:cubicBezTo>
                  <a:pt x="109524" y="19632"/>
                  <a:pt x="110304" y="24509"/>
                  <a:pt x="107768" y="27997"/>
                </a:cubicBezTo>
                <a:lnTo>
                  <a:pt x="45336" y="113840"/>
                </a:lnTo>
                <a:cubicBezTo>
                  <a:pt x="43995" y="115694"/>
                  <a:pt x="41922" y="116840"/>
                  <a:pt x="39629" y="117035"/>
                </a:cubicBezTo>
                <a:cubicBezTo>
                  <a:pt x="37337" y="117230"/>
                  <a:pt x="35118" y="116376"/>
                  <a:pt x="33508" y="114767"/>
                </a:cubicBezTo>
                <a:lnTo>
                  <a:pt x="2292" y="83551"/>
                </a:lnTo>
                <a:cubicBezTo>
                  <a:pt x="-756" y="80503"/>
                  <a:pt x="-756" y="75552"/>
                  <a:pt x="2292" y="72504"/>
                </a:cubicBezTo>
                <a:cubicBezTo>
                  <a:pt x="5341" y="69455"/>
                  <a:pt x="10291" y="69455"/>
                  <a:pt x="13340" y="72504"/>
                </a:cubicBezTo>
                <a:lnTo>
                  <a:pt x="38093" y="97257"/>
                </a:lnTo>
                <a:lnTo>
                  <a:pt x="95159" y="18803"/>
                </a:lnTo>
                <a:cubicBezTo>
                  <a:pt x="97696" y="15315"/>
                  <a:pt x="102573" y="14535"/>
                  <a:pt x="106061" y="17071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14" name="Text 12"/>
          <p:cNvSpPr/>
          <p:nvPr/>
        </p:nvSpPr>
        <p:spPr>
          <a:xfrm>
            <a:off x="695666" y="2818341"/>
            <a:ext cx="3264281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Router v6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0770" y="3148337"/>
            <a:ext cx="109255" cy="124863"/>
          </a:xfrm>
          <a:custGeom>
            <a:avLst/>
            <a:gdLst/>
            <a:ahLst/>
            <a:cxnLst/>
            <a:rect l="l" t="t" r="r" b="b"/>
            <a:pathLst>
              <a:path w="109255" h="124863">
                <a:moveTo>
                  <a:pt x="106036" y="17096"/>
                </a:moveTo>
                <a:cubicBezTo>
                  <a:pt x="109524" y="19632"/>
                  <a:pt x="110304" y="24509"/>
                  <a:pt x="107768" y="27997"/>
                </a:cubicBezTo>
                <a:lnTo>
                  <a:pt x="45336" y="113840"/>
                </a:lnTo>
                <a:cubicBezTo>
                  <a:pt x="43995" y="115694"/>
                  <a:pt x="41922" y="116840"/>
                  <a:pt x="39629" y="117035"/>
                </a:cubicBezTo>
                <a:cubicBezTo>
                  <a:pt x="37337" y="117230"/>
                  <a:pt x="35118" y="116376"/>
                  <a:pt x="33508" y="114767"/>
                </a:cubicBezTo>
                <a:lnTo>
                  <a:pt x="2292" y="83551"/>
                </a:lnTo>
                <a:cubicBezTo>
                  <a:pt x="-756" y="80503"/>
                  <a:pt x="-756" y="75552"/>
                  <a:pt x="2292" y="72504"/>
                </a:cubicBezTo>
                <a:cubicBezTo>
                  <a:pt x="5341" y="69455"/>
                  <a:pt x="10291" y="69455"/>
                  <a:pt x="13340" y="72504"/>
                </a:cubicBezTo>
                <a:lnTo>
                  <a:pt x="38093" y="97257"/>
                </a:lnTo>
                <a:lnTo>
                  <a:pt x="95159" y="18803"/>
                </a:lnTo>
                <a:cubicBezTo>
                  <a:pt x="97696" y="15315"/>
                  <a:pt x="102573" y="14535"/>
                  <a:pt x="106061" y="17071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16" name="Text 14"/>
          <p:cNvSpPr/>
          <p:nvPr/>
        </p:nvSpPr>
        <p:spPr>
          <a:xfrm>
            <a:off x="695666" y="3103743"/>
            <a:ext cx="3264281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Axios for API calls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0770" y="3433738"/>
            <a:ext cx="109255" cy="124863"/>
          </a:xfrm>
          <a:custGeom>
            <a:avLst/>
            <a:gdLst/>
            <a:ahLst/>
            <a:cxnLst/>
            <a:rect l="l" t="t" r="r" b="b"/>
            <a:pathLst>
              <a:path w="109255" h="124863">
                <a:moveTo>
                  <a:pt x="106036" y="17096"/>
                </a:moveTo>
                <a:cubicBezTo>
                  <a:pt x="109524" y="19632"/>
                  <a:pt x="110304" y="24509"/>
                  <a:pt x="107768" y="27997"/>
                </a:cubicBezTo>
                <a:lnTo>
                  <a:pt x="45336" y="113840"/>
                </a:lnTo>
                <a:cubicBezTo>
                  <a:pt x="43995" y="115694"/>
                  <a:pt x="41922" y="116840"/>
                  <a:pt x="39629" y="117035"/>
                </a:cubicBezTo>
                <a:cubicBezTo>
                  <a:pt x="37337" y="117230"/>
                  <a:pt x="35118" y="116376"/>
                  <a:pt x="33508" y="114767"/>
                </a:cubicBezTo>
                <a:lnTo>
                  <a:pt x="2292" y="83551"/>
                </a:lnTo>
                <a:cubicBezTo>
                  <a:pt x="-756" y="80503"/>
                  <a:pt x="-756" y="75552"/>
                  <a:pt x="2292" y="72504"/>
                </a:cubicBezTo>
                <a:cubicBezTo>
                  <a:pt x="5341" y="69455"/>
                  <a:pt x="10291" y="69455"/>
                  <a:pt x="13340" y="72504"/>
                </a:cubicBezTo>
                <a:lnTo>
                  <a:pt x="38093" y="97257"/>
                </a:lnTo>
                <a:lnTo>
                  <a:pt x="95159" y="18803"/>
                </a:lnTo>
                <a:cubicBezTo>
                  <a:pt x="97696" y="15315"/>
                  <a:pt x="102573" y="14535"/>
                  <a:pt x="106061" y="17071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18" name="Text 16"/>
          <p:cNvSpPr/>
          <p:nvPr/>
        </p:nvSpPr>
        <p:spPr>
          <a:xfrm>
            <a:off x="695666" y="3389144"/>
            <a:ext cx="3264281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Tailwind CSS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0770" y="3719140"/>
            <a:ext cx="109255" cy="124863"/>
          </a:xfrm>
          <a:custGeom>
            <a:avLst/>
            <a:gdLst/>
            <a:ahLst/>
            <a:cxnLst/>
            <a:rect l="l" t="t" r="r" b="b"/>
            <a:pathLst>
              <a:path w="109255" h="124863">
                <a:moveTo>
                  <a:pt x="106036" y="17096"/>
                </a:moveTo>
                <a:cubicBezTo>
                  <a:pt x="109524" y="19632"/>
                  <a:pt x="110304" y="24509"/>
                  <a:pt x="107768" y="27997"/>
                </a:cubicBezTo>
                <a:lnTo>
                  <a:pt x="45336" y="113840"/>
                </a:lnTo>
                <a:cubicBezTo>
                  <a:pt x="43995" y="115694"/>
                  <a:pt x="41922" y="116840"/>
                  <a:pt x="39629" y="117035"/>
                </a:cubicBezTo>
                <a:cubicBezTo>
                  <a:pt x="37337" y="117230"/>
                  <a:pt x="35118" y="116376"/>
                  <a:pt x="33508" y="114767"/>
                </a:cubicBezTo>
                <a:lnTo>
                  <a:pt x="2292" y="83551"/>
                </a:lnTo>
                <a:cubicBezTo>
                  <a:pt x="-756" y="80503"/>
                  <a:pt x="-756" y="75552"/>
                  <a:pt x="2292" y="72504"/>
                </a:cubicBezTo>
                <a:cubicBezTo>
                  <a:pt x="5341" y="69455"/>
                  <a:pt x="10291" y="69455"/>
                  <a:pt x="13340" y="72504"/>
                </a:cubicBezTo>
                <a:lnTo>
                  <a:pt x="38093" y="97257"/>
                </a:lnTo>
                <a:lnTo>
                  <a:pt x="95159" y="18803"/>
                </a:lnTo>
                <a:cubicBezTo>
                  <a:pt x="97696" y="15315"/>
                  <a:pt x="102573" y="14535"/>
                  <a:pt x="106061" y="17071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20" name="Text 18"/>
          <p:cNvSpPr/>
          <p:nvPr/>
        </p:nvSpPr>
        <p:spPr>
          <a:xfrm>
            <a:off x="695666" y="3674546"/>
            <a:ext cx="3264281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Hook Form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5128" y="4035757"/>
            <a:ext cx="3353469" cy="8919"/>
          </a:xfrm>
          <a:custGeom>
            <a:avLst/>
            <a:gdLst/>
            <a:ahLst/>
            <a:cxnLst/>
            <a:rect l="l" t="t" r="r" b="b"/>
            <a:pathLst>
              <a:path w="3353469" h="8919">
                <a:moveTo>
                  <a:pt x="0" y="0"/>
                </a:moveTo>
                <a:lnTo>
                  <a:pt x="3353469" y="0"/>
                </a:lnTo>
                <a:lnTo>
                  <a:pt x="3353469" y="8919"/>
                </a:lnTo>
                <a:lnTo>
                  <a:pt x="0" y="8919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22" name="Shape 20"/>
          <p:cNvSpPr/>
          <p:nvPr/>
        </p:nvSpPr>
        <p:spPr>
          <a:xfrm>
            <a:off x="568574" y="4173999"/>
            <a:ext cx="93647" cy="124863"/>
          </a:xfrm>
          <a:custGeom>
            <a:avLst/>
            <a:gdLst/>
            <a:ahLst/>
            <a:cxnLst/>
            <a:rect l="l" t="t" r="r" b="b"/>
            <a:pathLst>
              <a:path w="93647" h="124863">
                <a:moveTo>
                  <a:pt x="13437" y="17900"/>
                </a:moveTo>
                <a:cubicBezTo>
                  <a:pt x="10389" y="14852"/>
                  <a:pt x="5438" y="14852"/>
                  <a:pt x="2390" y="17900"/>
                </a:cubicBezTo>
                <a:cubicBezTo>
                  <a:pt x="-658" y="20949"/>
                  <a:pt x="-658" y="25899"/>
                  <a:pt x="2390" y="28948"/>
                </a:cubicBezTo>
                <a:lnTo>
                  <a:pt x="35898" y="62432"/>
                </a:lnTo>
                <a:lnTo>
                  <a:pt x="2414" y="95940"/>
                </a:lnTo>
                <a:cubicBezTo>
                  <a:pt x="-634" y="98988"/>
                  <a:pt x="-634" y="103939"/>
                  <a:pt x="2414" y="106987"/>
                </a:cubicBezTo>
                <a:cubicBezTo>
                  <a:pt x="5463" y="110036"/>
                  <a:pt x="10413" y="110036"/>
                  <a:pt x="13462" y="106987"/>
                </a:cubicBezTo>
                <a:lnTo>
                  <a:pt x="46946" y="73479"/>
                </a:lnTo>
                <a:lnTo>
                  <a:pt x="80454" y="106963"/>
                </a:lnTo>
                <a:cubicBezTo>
                  <a:pt x="83502" y="110011"/>
                  <a:pt x="88453" y="110011"/>
                  <a:pt x="91501" y="106963"/>
                </a:cubicBezTo>
                <a:cubicBezTo>
                  <a:pt x="94550" y="103914"/>
                  <a:pt x="94550" y="98964"/>
                  <a:pt x="91501" y="95915"/>
                </a:cubicBezTo>
                <a:lnTo>
                  <a:pt x="57993" y="62432"/>
                </a:lnTo>
                <a:lnTo>
                  <a:pt x="91477" y="28923"/>
                </a:lnTo>
                <a:cubicBezTo>
                  <a:pt x="94525" y="25875"/>
                  <a:pt x="94525" y="20924"/>
                  <a:pt x="91477" y="17876"/>
                </a:cubicBezTo>
                <a:cubicBezTo>
                  <a:pt x="88429" y="14828"/>
                  <a:pt x="83478" y="14828"/>
                  <a:pt x="80429" y="17876"/>
                </a:cubicBezTo>
                <a:lnTo>
                  <a:pt x="46946" y="51384"/>
                </a:lnTo>
                <a:lnTo>
                  <a:pt x="13437" y="17900"/>
                </a:lnTo>
                <a:close/>
              </a:path>
            </a:pathLst>
          </a:custGeom>
          <a:solidFill>
            <a:srgbClr val="A9A9A9"/>
          </a:solidFill>
          <a:ln/>
        </p:spPr>
      </p:sp>
      <p:sp>
        <p:nvSpPr>
          <p:cNvPr id="23" name="Text 21"/>
          <p:cNvSpPr/>
          <p:nvPr/>
        </p:nvSpPr>
        <p:spPr>
          <a:xfrm>
            <a:off x="726882" y="4147242"/>
            <a:ext cx="1062731" cy="17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3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Redux (too heavy)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42701" y="1765922"/>
            <a:ext cx="3710221" cy="2738072"/>
          </a:xfrm>
          <a:custGeom>
            <a:avLst/>
            <a:gdLst/>
            <a:ahLst/>
            <a:cxnLst/>
            <a:rect l="l" t="t" r="r" b="b"/>
            <a:pathLst>
              <a:path w="3710221" h="2738072">
                <a:moveTo>
                  <a:pt x="0" y="0"/>
                </a:moveTo>
                <a:lnTo>
                  <a:pt x="3710221" y="0"/>
                </a:lnTo>
                <a:lnTo>
                  <a:pt x="3710221" y="2738072"/>
                </a:lnTo>
                <a:lnTo>
                  <a:pt x="0" y="27380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242701" y="1765922"/>
            <a:ext cx="3710221" cy="35675"/>
          </a:xfrm>
          <a:custGeom>
            <a:avLst/>
            <a:gdLst/>
            <a:ahLst/>
            <a:cxnLst/>
            <a:rect l="l" t="t" r="r" b="b"/>
            <a:pathLst>
              <a:path w="3710221" h="35675">
                <a:moveTo>
                  <a:pt x="0" y="0"/>
                </a:moveTo>
                <a:lnTo>
                  <a:pt x="3710221" y="0"/>
                </a:lnTo>
                <a:lnTo>
                  <a:pt x="3710221" y="35675"/>
                </a:lnTo>
                <a:lnTo>
                  <a:pt x="0" y="35675"/>
                </a:lnTo>
                <a:lnTo>
                  <a:pt x="0" y="0"/>
                </a:lnTo>
                <a:close/>
              </a:path>
            </a:pathLst>
          </a:custGeom>
          <a:solidFill>
            <a:srgbClr val="68A063"/>
          </a:solidFill>
          <a:ln/>
        </p:spPr>
      </p:sp>
      <p:sp>
        <p:nvSpPr>
          <p:cNvPr id="26" name="Shape 24"/>
          <p:cNvSpPr/>
          <p:nvPr/>
        </p:nvSpPr>
        <p:spPr>
          <a:xfrm>
            <a:off x="4473475" y="2042405"/>
            <a:ext cx="234119" cy="267564"/>
          </a:xfrm>
          <a:custGeom>
            <a:avLst/>
            <a:gdLst/>
            <a:ahLst/>
            <a:cxnLst/>
            <a:rect l="l" t="t" r="r" b="b"/>
            <a:pathLst>
              <a:path w="234119" h="267564">
                <a:moveTo>
                  <a:pt x="117321" y="265474"/>
                </a:moveTo>
                <a:cubicBezTo>
                  <a:pt x="113819" y="265474"/>
                  <a:pt x="110266" y="264533"/>
                  <a:pt x="107182" y="262756"/>
                </a:cubicBezTo>
                <a:lnTo>
                  <a:pt x="74939" y="243682"/>
                </a:lnTo>
                <a:cubicBezTo>
                  <a:pt x="70131" y="240964"/>
                  <a:pt x="72483" y="240024"/>
                  <a:pt x="74050" y="239501"/>
                </a:cubicBezTo>
                <a:cubicBezTo>
                  <a:pt x="80478" y="237254"/>
                  <a:pt x="81785" y="236784"/>
                  <a:pt x="88631" y="232864"/>
                </a:cubicBezTo>
                <a:cubicBezTo>
                  <a:pt x="89362" y="232446"/>
                  <a:pt x="90303" y="232603"/>
                  <a:pt x="91034" y="233073"/>
                </a:cubicBezTo>
                <a:lnTo>
                  <a:pt x="115805" y="247758"/>
                </a:lnTo>
                <a:cubicBezTo>
                  <a:pt x="116693" y="248281"/>
                  <a:pt x="117948" y="248281"/>
                  <a:pt x="118784" y="247758"/>
                </a:cubicBezTo>
                <a:lnTo>
                  <a:pt x="215305" y="192050"/>
                </a:lnTo>
                <a:cubicBezTo>
                  <a:pt x="216194" y="191528"/>
                  <a:pt x="216769" y="190483"/>
                  <a:pt x="216769" y="189437"/>
                </a:cubicBezTo>
                <a:lnTo>
                  <a:pt x="216769" y="78022"/>
                </a:lnTo>
                <a:cubicBezTo>
                  <a:pt x="216769" y="76925"/>
                  <a:pt x="216194" y="75932"/>
                  <a:pt x="215253" y="75357"/>
                </a:cubicBezTo>
                <a:lnTo>
                  <a:pt x="118784" y="19701"/>
                </a:lnTo>
                <a:cubicBezTo>
                  <a:pt x="117895" y="19179"/>
                  <a:pt x="116693" y="19179"/>
                  <a:pt x="115805" y="19701"/>
                </a:cubicBezTo>
                <a:lnTo>
                  <a:pt x="19388" y="75409"/>
                </a:lnTo>
                <a:cubicBezTo>
                  <a:pt x="18447" y="75932"/>
                  <a:pt x="17872" y="76977"/>
                  <a:pt x="17872" y="78074"/>
                </a:cubicBezTo>
                <a:lnTo>
                  <a:pt x="17872" y="189437"/>
                </a:lnTo>
                <a:cubicBezTo>
                  <a:pt x="17872" y="190483"/>
                  <a:pt x="18447" y="191528"/>
                  <a:pt x="19388" y="191998"/>
                </a:cubicBezTo>
                <a:lnTo>
                  <a:pt x="45831" y="207258"/>
                </a:lnTo>
                <a:cubicBezTo>
                  <a:pt x="60202" y="214417"/>
                  <a:pt x="68981" y="206003"/>
                  <a:pt x="68981" y="197485"/>
                </a:cubicBezTo>
                <a:lnTo>
                  <a:pt x="68981" y="87533"/>
                </a:lnTo>
                <a:cubicBezTo>
                  <a:pt x="68981" y="85965"/>
                  <a:pt x="70236" y="84763"/>
                  <a:pt x="71803" y="84763"/>
                </a:cubicBezTo>
                <a:lnTo>
                  <a:pt x="84032" y="84763"/>
                </a:lnTo>
                <a:cubicBezTo>
                  <a:pt x="85547" y="84763"/>
                  <a:pt x="86854" y="85965"/>
                  <a:pt x="86854" y="87533"/>
                </a:cubicBezTo>
                <a:lnTo>
                  <a:pt x="86854" y="197537"/>
                </a:lnTo>
                <a:cubicBezTo>
                  <a:pt x="86854" y="216664"/>
                  <a:pt x="76402" y="227638"/>
                  <a:pt x="58268" y="227638"/>
                </a:cubicBezTo>
                <a:cubicBezTo>
                  <a:pt x="52677" y="227638"/>
                  <a:pt x="48287" y="227638"/>
                  <a:pt x="36058" y="221576"/>
                </a:cubicBezTo>
                <a:lnTo>
                  <a:pt x="10765" y="206996"/>
                </a:lnTo>
                <a:cubicBezTo>
                  <a:pt x="4494" y="203390"/>
                  <a:pt x="627" y="196649"/>
                  <a:pt x="627" y="189385"/>
                </a:cubicBezTo>
                <a:lnTo>
                  <a:pt x="627" y="78022"/>
                </a:lnTo>
                <a:cubicBezTo>
                  <a:pt x="627" y="70810"/>
                  <a:pt x="4494" y="64017"/>
                  <a:pt x="10765" y="60411"/>
                </a:cubicBezTo>
                <a:lnTo>
                  <a:pt x="107182" y="4703"/>
                </a:lnTo>
                <a:cubicBezTo>
                  <a:pt x="113297" y="1254"/>
                  <a:pt x="121397" y="1254"/>
                  <a:pt x="127459" y="4703"/>
                </a:cubicBezTo>
                <a:lnTo>
                  <a:pt x="223980" y="60463"/>
                </a:lnTo>
                <a:cubicBezTo>
                  <a:pt x="230251" y="64069"/>
                  <a:pt x="234119" y="70810"/>
                  <a:pt x="234119" y="78074"/>
                </a:cubicBezTo>
                <a:lnTo>
                  <a:pt x="234119" y="189437"/>
                </a:lnTo>
                <a:cubicBezTo>
                  <a:pt x="234119" y="196649"/>
                  <a:pt x="230251" y="203390"/>
                  <a:pt x="223980" y="207049"/>
                </a:cubicBezTo>
                <a:lnTo>
                  <a:pt x="127459" y="262756"/>
                </a:lnTo>
                <a:cubicBezTo>
                  <a:pt x="124375" y="264533"/>
                  <a:pt x="120874" y="265474"/>
                  <a:pt x="117321" y="265474"/>
                </a:cubicBezTo>
                <a:close/>
                <a:moveTo>
                  <a:pt x="195238" y="155678"/>
                </a:moveTo>
                <a:cubicBezTo>
                  <a:pt x="195238" y="134827"/>
                  <a:pt x="181128" y="129288"/>
                  <a:pt x="151498" y="125368"/>
                </a:cubicBezTo>
                <a:cubicBezTo>
                  <a:pt x="121501" y="121397"/>
                  <a:pt x="118470" y="119359"/>
                  <a:pt x="118470" y="112356"/>
                </a:cubicBezTo>
                <a:cubicBezTo>
                  <a:pt x="118470" y="106555"/>
                  <a:pt x="121031" y="98821"/>
                  <a:pt x="143241" y="98821"/>
                </a:cubicBezTo>
                <a:cubicBezTo>
                  <a:pt x="163047" y="98821"/>
                  <a:pt x="170363" y="103106"/>
                  <a:pt x="173394" y="116484"/>
                </a:cubicBezTo>
                <a:cubicBezTo>
                  <a:pt x="173655" y="117739"/>
                  <a:pt x="174805" y="118679"/>
                  <a:pt x="176111" y="118679"/>
                </a:cubicBezTo>
                <a:lnTo>
                  <a:pt x="188654" y="118679"/>
                </a:lnTo>
                <a:cubicBezTo>
                  <a:pt x="189437" y="118679"/>
                  <a:pt x="190169" y="118366"/>
                  <a:pt x="190692" y="117791"/>
                </a:cubicBezTo>
                <a:cubicBezTo>
                  <a:pt x="191214" y="117216"/>
                  <a:pt x="191475" y="116432"/>
                  <a:pt x="191423" y="115648"/>
                </a:cubicBezTo>
                <a:cubicBezTo>
                  <a:pt x="189490" y="92602"/>
                  <a:pt x="174178" y="81889"/>
                  <a:pt x="143241" y="81889"/>
                </a:cubicBezTo>
                <a:cubicBezTo>
                  <a:pt x="115701" y="81889"/>
                  <a:pt x="99291" y="93491"/>
                  <a:pt x="99291" y="112983"/>
                </a:cubicBezTo>
                <a:cubicBezTo>
                  <a:pt x="99291" y="134096"/>
                  <a:pt x="115648" y="139949"/>
                  <a:pt x="142039" y="142561"/>
                </a:cubicBezTo>
                <a:cubicBezTo>
                  <a:pt x="173655" y="145645"/>
                  <a:pt x="176111" y="150296"/>
                  <a:pt x="176111" y="156514"/>
                </a:cubicBezTo>
                <a:cubicBezTo>
                  <a:pt x="176111" y="167280"/>
                  <a:pt x="167437" y="171879"/>
                  <a:pt x="147108" y="171879"/>
                </a:cubicBezTo>
                <a:cubicBezTo>
                  <a:pt x="121553" y="171879"/>
                  <a:pt x="115962" y="165451"/>
                  <a:pt x="114081" y="152752"/>
                </a:cubicBezTo>
                <a:cubicBezTo>
                  <a:pt x="113871" y="151393"/>
                  <a:pt x="112722" y="150400"/>
                  <a:pt x="111311" y="150400"/>
                </a:cubicBezTo>
                <a:lnTo>
                  <a:pt x="98821" y="150400"/>
                </a:lnTo>
                <a:cubicBezTo>
                  <a:pt x="97253" y="150400"/>
                  <a:pt x="96051" y="151654"/>
                  <a:pt x="96051" y="153170"/>
                </a:cubicBezTo>
                <a:cubicBezTo>
                  <a:pt x="96051" y="169422"/>
                  <a:pt x="104883" y="188810"/>
                  <a:pt x="147160" y="188810"/>
                </a:cubicBezTo>
                <a:cubicBezTo>
                  <a:pt x="177679" y="188758"/>
                  <a:pt x="195238" y="176686"/>
                  <a:pt x="195238" y="155678"/>
                </a:cubicBezTo>
                <a:close/>
              </a:path>
            </a:pathLst>
          </a:custGeom>
          <a:solidFill>
            <a:srgbClr val="68A063"/>
          </a:solidFill>
          <a:ln/>
        </p:spPr>
      </p:sp>
      <p:sp>
        <p:nvSpPr>
          <p:cNvPr id="27" name="Text 25"/>
          <p:cNvSpPr/>
          <p:nvPr/>
        </p:nvSpPr>
        <p:spPr>
          <a:xfrm>
            <a:off x="4862558" y="1962136"/>
            <a:ext cx="918636" cy="249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5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Backend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62558" y="2211862"/>
            <a:ext cx="891880" cy="17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3" dirty="0">
                <a:solidFill>
                  <a:srgbClr val="C8A4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75% Team Skill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46719" y="2577533"/>
            <a:ext cx="109255" cy="124863"/>
          </a:xfrm>
          <a:custGeom>
            <a:avLst/>
            <a:gdLst/>
            <a:ahLst/>
            <a:cxnLst/>
            <a:rect l="l" t="t" r="r" b="b"/>
            <a:pathLst>
              <a:path w="109255" h="124863">
                <a:moveTo>
                  <a:pt x="106036" y="17096"/>
                </a:moveTo>
                <a:cubicBezTo>
                  <a:pt x="109524" y="19632"/>
                  <a:pt x="110304" y="24509"/>
                  <a:pt x="107768" y="27997"/>
                </a:cubicBezTo>
                <a:lnTo>
                  <a:pt x="45336" y="113840"/>
                </a:lnTo>
                <a:cubicBezTo>
                  <a:pt x="43995" y="115694"/>
                  <a:pt x="41922" y="116840"/>
                  <a:pt x="39629" y="117035"/>
                </a:cubicBezTo>
                <a:cubicBezTo>
                  <a:pt x="37337" y="117230"/>
                  <a:pt x="35118" y="116376"/>
                  <a:pt x="33508" y="114767"/>
                </a:cubicBezTo>
                <a:lnTo>
                  <a:pt x="2292" y="83551"/>
                </a:lnTo>
                <a:cubicBezTo>
                  <a:pt x="-756" y="80503"/>
                  <a:pt x="-756" y="75552"/>
                  <a:pt x="2292" y="72504"/>
                </a:cubicBezTo>
                <a:cubicBezTo>
                  <a:pt x="5341" y="69455"/>
                  <a:pt x="10291" y="69455"/>
                  <a:pt x="13340" y="72504"/>
                </a:cubicBezTo>
                <a:lnTo>
                  <a:pt x="38093" y="97257"/>
                </a:lnTo>
                <a:lnTo>
                  <a:pt x="95159" y="18803"/>
                </a:lnTo>
                <a:cubicBezTo>
                  <a:pt x="97696" y="15315"/>
                  <a:pt x="102573" y="14535"/>
                  <a:pt x="106061" y="17071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30" name="Text 28"/>
          <p:cNvSpPr/>
          <p:nvPr/>
        </p:nvSpPr>
        <p:spPr>
          <a:xfrm>
            <a:off x="4581616" y="2532939"/>
            <a:ext cx="3264281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Node.js 18 LTS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46719" y="2862935"/>
            <a:ext cx="109255" cy="124863"/>
          </a:xfrm>
          <a:custGeom>
            <a:avLst/>
            <a:gdLst/>
            <a:ahLst/>
            <a:cxnLst/>
            <a:rect l="l" t="t" r="r" b="b"/>
            <a:pathLst>
              <a:path w="109255" h="124863">
                <a:moveTo>
                  <a:pt x="106036" y="17096"/>
                </a:moveTo>
                <a:cubicBezTo>
                  <a:pt x="109524" y="19632"/>
                  <a:pt x="110304" y="24509"/>
                  <a:pt x="107768" y="27997"/>
                </a:cubicBezTo>
                <a:lnTo>
                  <a:pt x="45336" y="113840"/>
                </a:lnTo>
                <a:cubicBezTo>
                  <a:pt x="43995" y="115694"/>
                  <a:pt x="41922" y="116840"/>
                  <a:pt x="39629" y="117035"/>
                </a:cubicBezTo>
                <a:cubicBezTo>
                  <a:pt x="37337" y="117230"/>
                  <a:pt x="35118" y="116376"/>
                  <a:pt x="33508" y="114767"/>
                </a:cubicBezTo>
                <a:lnTo>
                  <a:pt x="2292" y="83551"/>
                </a:lnTo>
                <a:cubicBezTo>
                  <a:pt x="-756" y="80503"/>
                  <a:pt x="-756" y="75552"/>
                  <a:pt x="2292" y="72504"/>
                </a:cubicBezTo>
                <a:cubicBezTo>
                  <a:pt x="5341" y="69455"/>
                  <a:pt x="10291" y="69455"/>
                  <a:pt x="13340" y="72504"/>
                </a:cubicBezTo>
                <a:lnTo>
                  <a:pt x="38093" y="97257"/>
                </a:lnTo>
                <a:lnTo>
                  <a:pt x="95159" y="18803"/>
                </a:lnTo>
                <a:cubicBezTo>
                  <a:pt x="97696" y="15315"/>
                  <a:pt x="102573" y="14535"/>
                  <a:pt x="106061" y="17071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32" name="Text 30"/>
          <p:cNvSpPr/>
          <p:nvPr/>
        </p:nvSpPr>
        <p:spPr>
          <a:xfrm>
            <a:off x="4581616" y="2818341"/>
            <a:ext cx="3264281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Express.js framework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46719" y="3148337"/>
            <a:ext cx="109255" cy="124863"/>
          </a:xfrm>
          <a:custGeom>
            <a:avLst/>
            <a:gdLst/>
            <a:ahLst/>
            <a:cxnLst/>
            <a:rect l="l" t="t" r="r" b="b"/>
            <a:pathLst>
              <a:path w="109255" h="124863">
                <a:moveTo>
                  <a:pt x="106036" y="17096"/>
                </a:moveTo>
                <a:cubicBezTo>
                  <a:pt x="109524" y="19632"/>
                  <a:pt x="110304" y="24509"/>
                  <a:pt x="107768" y="27997"/>
                </a:cubicBezTo>
                <a:lnTo>
                  <a:pt x="45336" y="113840"/>
                </a:lnTo>
                <a:cubicBezTo>
                  <a:pt x="43995" y="115694"/>
                  <a:pt x="41922" y="116840"/>
                  <a:pt x="39629" y="117035"/>
                </a:cubicBezTo>
                <a:cubicBezTo>
                  <a:pt x="37337" y="117230"/>
                  <a:pt x="35118" y="116376"/>
                  <a:pt x="33508" y="114767"/>
                </a:cubicBezTo>
                <a:lnTo>
                  <a:pt x="2292" y="83551"/>
                </a:lnTo>
                <a:cubicBezTo>
                  <a:pt x="-756" y="80503"/>
                  <a:pt x="-756" y="75552"/>
                  <a:pt x="2292" y="72504"/>
                </a:cubicBezTo>
                <a:cubicBezTo>
                  <a:pt x="5341" y="69455"/>
                  <a:pt x="10291" y="69455"/>
                  <a:pt x="13340" y="72504"/>
                </a:cubicBezTo>
                <a:lnTo>
                  <a:pt x="38093" y="97257"/>
                </a:lnTo>
                <a:lnTo>
                  <a:pt x="95159" y="18803"/>
                </a:lnTo>
                <a:cubicBezTo>
                  <a:pt x="97696" y="15315"/>
                  <a:pt x="102573" y="14535"/>
                  <a:pt x="106061" y="17071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34" name="Text 32"/>
          <p:cNvSpPr/>
          <p:nvPr/>
        </p:nvSpPr>
        <p:spPr>
          <a:xfrm>
            <a:off x="4581616" y="3103743"/>
            <a:ext cx="3264281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TypeScript compilation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446719" y="3433738"/>
            <a:ext cx="109255" cy="124863"/>
          </a:xfrm>
          <a:custGeom>
            <a:avLst/>
            <a:gdLst/>
            <a:ahLst/>
            <a:cxnLst/>
            <a:rect l="l" t="t" r="r" b="b"/>
            <a:pathLst>
              <a:path w="109255" h="124863">
                <a:moveTo>
                  <a:pt x="106036" y="17096"/>
                </a:moveTo>
                <a:cubicBezTo>
                  <a:pt x="109524" y="19632"/>
                  <a:pt x="110304" y="24509"/>
                  <a:pt x="107768" y="27997"/>
                </a:cubicBezTo>
                <a:lnTo>
                  <a:pt x="45336" y="113840"/>
                </a:lnTo>
                <a:cubicBezTo>
                  <a:pt x="43995" y="115694"/>
                  <a:pt x="41922" y="116840"/>
                  <a:pt x="39629" y="117035"/>
                </a:cubicBezTo>
                <a:cubicBezTo>
                  <a:pt x="37337" y="117230"/>
                  <a:pt x="35118" y="116376"/>
                  <a:pt x="33508" y="114767"/>
                </a:cubicBezTo>
                <a:lnTo>
                  <a:pt x="2292" y="83551"/>
                </a:lnTo>
                <a:cubicBezTo>
                  <a:pt x="-756" y="80503"/>
                  <a:pt x="-756" y="75552"/>
                  <a:pt x="2292" y="72504"/>
                </a:cubicBezTo>
                <a:cubicBezTo>
                  <a:pt x="5341" y="69455"/>
                  <a:pt x="10291" y="69455"/>
                  <a:pt x="13340" y="72504"/>
                </a:cubicBezTo>
                <a:lnTo>
                  <a:pt x="38093" y="97257"/>
                </a:lnTo>
                <a:lnTo>
                  <a:pt x="95159" y="18803"/>
                </a:lnTo>
                <a:cubicBezTo>
                  <a:pt x="97696" y="15315"/>
                  <a:pt x="102573" y="14535"/>
                  <a:pt x="106061" y="17071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36" name="Text 34"/>
          <p:cNvSpPr/>
          <p:nvPr/>
        </p:nvSpPr>
        <p:spPr>
          <a:xfrm>
            <a:off x="4581616" y="3389144"/>
            <a:ext cx="3264281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JWT authentication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46719" y="3719140"/>
            <a:ext cx="109255" cy="124863"/>
          </a:xfrm>
          <a:custGeom>
            <a:avLst/>
            <a:gdLst/>
            <a:ahLst/>
            <a:cxnLst/>
            <a:rect l="l" t="t" r="r" b="b"/>
            <a:pathLst>
              <a:path w="109255" h="124863">
                <a:moveTo>
                  <a:pt x="106036" y="17096"/>
                </a:moveTo>
                <a:cubicBezTo>
                  <a:pt x="109524" y="19632"/>
                  <a:pt x="110304" y="24509"/>
                  <a:pt x="107768" y="27997"/>
                </a:cubicBezTo>
                <a:lnTo>
                  <a:pt x="45336" y="113840"/>
                </a:lnTo>
                <a:cubicBezTo>
                  <a:pt x="43995" y="115694"/>
                  <a:pt x="41922" y="116840"/>
                  <a:pt x="39629" y="117035"/>
                </a:cubicBezTo>
                <a:cubicBezTo>
                  <a:pt x="37337" y="117230"/>
                  <a:pt x="35118" y="116376"/>
                  <a:pt x="33508" y="114767"/>
                </a:cubicBezTo>
                <a:lnTo>
                  <a:pt x="2292" y="83551"/>
                </a:lnTo>
                <a:cubicBezTo>
                  <a:pt x="-756" y="80503"/>
                  <a:pt x="-756" y="75552"/>
                  <a:pt x="2292" y="72504"/>
                </a:cubicBezTo>
                <a:cubicBezTo>
                  <a:pt x="5341" y="69455"/>
                  <a:pt x="10291" y="69455"/>
                  <a:pt x="13340" y="72504"/>
                </a:cubicBezTo>
                <a:lnTo>
                  <a:pt x="38093" y="97257"/>
                </a:lnTo>
                <a:lnTo>
                  <a:pt x="95159" y="18803"/>
                </a:lnTo>
                <a:cubicBezTo>
                  <a:pt x="97696" y="15315"/>
                  <a:pt x="102573" y="14535"/>
                  <a:pt x="106061" y="17071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38" name="Text 36"/>
          <p:cNvSpPr/>
          <p:nvPr/>
        </p:nvSpPr>
        <p:spPr>
          <a:xfrm>
            <a:off x="4581616" y="3674546"/>
            <a:ext cx="3264281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Bcrypt password hashing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421077" y="4035757"/>
            <a:ext cx="3353469" cy="8919"/>
          </a:xfrm>
          <a:custGeom>
            <a:avLst/>
            <a:gdLst/>
            <a:ahLst/>
            <a:cxnLst/>
            <a:rect l="l" t="t" r="r" b="b"/>
            <a:pathLst>
              <a:path w="3353469" h="8919">
                <a:moveTo>
                  <a:pt x="0" y="0"/>
                </a:moveTo>
                <a:lnTo>
                  <a:pt x="3353469" y="0"/>
                </a:lnTo>
                <a:lnTo>
                  <a:pt x="3353469" y="8919"/>
                </a:lnTo>
                <a:lnTo>
                  <a:pt x="0" y="8919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40" name="Shape 38"/>
          <p:cNvSpPr/>
          <p:nvPr/>
        </p:nvSpPr>
        <p:spPr>
          <a:xfrm>
            <a:off x="4454523" y="4173999"/>
            <a:ext cx="93647" cy="124863"/>
          </a:xfrm>
          <a:custGeom>
            <a:avLst/>
            <a:gdLst/>
            <a:ahLst/>
            <a:cxnLst/>
            <a:rect l="l" t="t" r="r" b="b"/>
            <a:pathLst>
              <a:path w="93647" h="124863">
                <a:moveTo>
                  <a:pt x="13437" y="17900"/>
                </a:moveTo>
                <a:cubicBezTo>
                  <a:pt x="10389" y="14852"/>
                  <a:pt x="5438" y="14852"/>
                  <a:pt x="2390" y="17900"/>
                </a:cubicBezTo>
                <a:cubicBezTo>
                  <a:pt x="-658" y="20949"/>
                  <a:pt x="-658" y="25899"/>
                  <a:pt x="2390" y="28948"/>
                </a:cubicBezTo>
                <a:lnTo>
                  <a:pt x="35898" y="62432"/>
                </a:lnTo>
                <a:lnTo>
                  <a:pt x="2414" y="95940"/>
                </a:lnTo>
                <a:cubicBezTo>
                  <a:pt x="-634" y="98988"/>
                  <a:pt x="-634" y="103939"/>
                  <a:pt x="2414" y="106987"/>
                </a:cubicBezTo>
                <a:cubicBezTo>
                  <a:pt x="5463" y="110036"/>
                  <a:pt x="10413" y="110036"/>
                  <a:pt x="13462" y="106987"/>
                </a:cubicBezTo>
                <a:lnTo>
                  <a:pt x="46946" y="73479"/>
                </a:lnTo>
                <a:lnTo>
                  <a:pt x="80454" y="106963"/>
                </a:lnTo>
                <a:cubicBezTo>
                  <a:pt x="83502" y="110011"/>
                  <a:pt x="88453" y="110011"/>
                  <a:pt x="91501" y="106963"/>
                </a:cubicBezTo>
                <a:cubicBezTo>
                  <a:pt x="94550" y="103914"/>
                  <a:pt x="94550" y="98964"/>
                  <a:pt x="91501" y="95915"/>
                </a:cubicBezTo>
                <a:lnTo>
                  <a:pt x="57993" y="62432"/>
                </a:lnTo>
                <a:lnTo>
                  <a:pt x="91477" y="28923"/>
                </a:lnTo>
                <a:cubicBezTo>
                  <a:pt x="94525" y="25875"/>
                  <a:pt x="94525" y="20924"/>
                  <a:pt x="91477" y="17876"/>
                </a:cubicBezTo>
                <a:cubicBezTo>
                  <a:pt x="88429" y="14828"/>
                  <a:pt x="83478" y="14828"/>
                  <a:pt x="80429" y="17876"/>
                </a:cubicBezTo>
                <a:lnTo>
                  <a:pt x="46946" y="51384"/>
                </a:lnTo>
                <a:lnTo>
                  <a:pt x="13437" y="17900"/>
                </a:lnTo>
                <a:close/>
              </a:path>
            </a:pathLst>
          </a:custGeom>
          <a:solidFill>
            <a:srgbClr val="A9A9A9"/>
          </a:solidFill>
          <a:ln/>
        </p:spPr>
      </p:sp>
      <p:sp>
        <p:nvSpPr>
          <p:cNvPr id="41" name="Text 39"/>
          <p:cNvSpPr/>
          <p:nvPr/>
        </p:nvSpPr>
        <p:spPr>
          <a:xfrm>
            <a:off x="4612831" y="4147242"/>
            <a:ext cx="1527205" cy="17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3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GraphQL (REST sufficient)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128650" y="1765922"/>
            <a:ext cx="3710221" cy="2738072"/>
          </a:xfrm>
          <a:custGeom>
            <a:avLst/>
            <a:gdLst/>
            <a:ahLst/>
            <a:cxnLst/>
            <a:rect l="l" t="t" r="r" b="b"/>
            <a:pathLst>
              <a:path w="3710221" h="2738072">
                <a:moveTo>
                  <a:pt x="0" y="0"/>
                </a:moveTo>
                <a:lnTo>
                  <a:pt x="3710221" y="0"/>
                </a:lnTo>
                <a:lnTo>
                  <a:pt x="3710221" y="2738072"/>
                </a:lnTo>
                <a:lnTo>
                  <a:pt x="0" y="27380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8128650" y="1765922"/>
            <a:ext cx="3710221" cy="35675"/>
          </a:xfrm>
          <a:custGeom>
            <a:avLst/>
            <a:gdLst/>
            <a:ahLst/>
            <a:cxnLst/>
            <a:rect l="l" t="t" r="r" b="b"/>
            <a:pathLst>
              <a:path w="3710221" h="35675">
                <a:moveTo>
                  <a:pt x="0" y="0"/>
                </a:moveTo>
                <a:lnTo>
                  <a:pt x="3710221" y="0"/>
                </a:lnTo>
                <a:lnTo>
                  <a:pt x="3710221" y="35675"/>
                </a:lnTo>
                <a:lnTo>
                  <a:pt x="0" y="35675"/>
                </a:lnTo>
                <a:lnTo>
                  <a:pt x="0" y="0"/>
                </a:lnTo>
                <a:close/>
              </a:path>
            </a:pathLst>
          </a:custGeom>
          <a:solidFill>
            <a:srgbClr val="47A248"/>
          </a:solidFill>
          <a:ln/>
        </p:spPr>
      </p:sp>
      <p:sp>
        <p:nvSpPr>
          <p:cNvPr id="44" name="Shape 42"/>
          <p:cNvSpPr/>
          <p:nvPr/>
        </p:nvSpPr>
        <p:spPr>
          <a:xfrm>
            <a:off x="8359424" y="2042405"/>
            <a:ext cx="234119" cy="267564"/>
          </a:xfrm>
          <a:custGeom>
            <a:avLst/>
            <a:gdLst/>
            <a:ahLst/>
            <a:cxnLst/>
            <a:rect l="l" t="t" r="r" b="b"/>
            <a:pathLst>
              <a:path w="234119" h="267564">
                <a:moveTo>
                  <a:pt x="234119" y="107548"/>
                </a:moveTo>
                <a:cubicBezTo>
                  <a:pt x="226384" y="112670"/>
                  <a:pt x="217500" y="116798"/>
                  <a:pt x="208251" y="120090"/>
                </a:cubicBezTo>
                <a:cubicBezTo>
                  <a:pt x="183689" y="128870"/>
                  <a:pt x="151445" y="133782"/>
                  <a:pt x="117059" y="133782"/>
                </a:cubicBezTo>
                <a:cubicBezTo>
                  <a:pt x="82673" y="133782"/>
                  <a:pt x="50377" y="128817"/>
                  <a:pt x="25868" y="120090"/>
                </a:cubicBezTo>
                <a:cubicBezTo>
                  <a:pt x="16670" y="116798"/>
                  <a:pt x="7734" y="112670"/>
                  <a:pt x="0" y="107548"/>
                </a:cubicBezTo>
                <a:lnTo>
                  <a:pt x="0" y="150505"/>
                </a:lnTo>
                <a:cubicBezTo>
                  <a:pt x="0" y="173603"/>
                  <a:pt x="52415" y="192312"/>
                  <a:pt x="117059" y="192312"/>
                </a:cubicBezTo>
                <a:cubicBezTo>
                  <a:pt x="181703" y="192312"/>
                  <a:pt x="234119" y="173603"/>
                  <a:pt x="234119" y="150505"/>
                </a:cubicBezTo>
                <a:lnTo>
                  <a:pt x="234119" y="107548"/>
                </a:lnTo>
                <a:close/>
                <a:moveTo>
                  <a:pt x="234119" y="66891"/>
                </a:moveTo>
                <a:lnTo>
                  <a:pt x="234119" y="41807"/>
                </a:lnTo>
                <a:cubicBezTo>
                  <a:pt x="234119" y="18709"/>
                  <a:pt x="181703" y="0"/>
                  <a:pt x="117059" y="0"/>
                </a:cubicBezTo>
                <a:cubicBezTo>
                  <a:pt x="52415" y="0"/>
                  <a:pt x="0" y="18709"/>
                  <a:pt x="0" y="41807"/>
                </a:cubicBezTo>
                <a:lnTo>
                  <a:pt x="0" y="66891"/>
                </a:lnTo>
                <a:cubicBezTo>
                  <a:pt x="0" y="89989"/>
                  <a:pt x="52415" y="108698"/>
                  <a:pt x="117059" y="108698"/>
                </a:cubicBezTo>
                <a:cubicBezTo>
                  <a:pt x="181703" y="108698"/>
                  <a:pt x="234119" y="89989"/>
                  <a:pt x="234119" y="66891"/>
                </a:cubicBezTo>
                <a:close/>
                <a:moveTo>
                  <a:pt x="208251" y="203704"/>
                </a:moveTo>
                <a:cubicBezTo>
                  <a:pt x="183741" y="212431"/>
                  <a:pt x="151498" y="217396"/>
                  <a:pt x="117059" y="217396"/>
                </a:cubicBezTo>
                <a:cubicBezTo>
                  <a:pt x="82621" y="217396"/>
                  <a:pt x="50377" y="212431"/>
                  <a:pt x="25868" y="203704"/>
                </a:cubicBezTo>
                <a:cubicBezTo>
                  <a:pt x="16670" y="200412"/>
                  <a:pt x="7734" y="196283"/>
                  <a:pt x="0" y="191162"/>
                </a:cubicBezTo>
                <a:lnTo>
                  <a:pt x="0" y="225757"/>
                </a:lnTo>
                <a:cubicBezTo>
                  <a:pt x="0" y="248855"/>
                  <a:pt x="52415" y="267564"/>
                  <a:pt x="117059" y="267564"/>
                </a:cubicBezTo>
                <a:cubicBezTo>
                  <a:pt x="181703" y="267564"/>
                  <a:pt x="234119" y="248855"/>
                  <a:pt x="234119" y="225757"/>
                </a:cubicBezTo>
                <a:lnTo>
                  <a:pt x="234119" y="191162"/>
                </a:lnTo>
                <a:cubicBezTo>
                  <a:pt x="226384" y="196283"/>
                  <a:pt x="217500" y="200412"/>
                  <a:pt x="208251" y="203704"/>
                </a:cubicBezTo>
                <a:close/>
              </a:path>
            </a:pathLst>
          </a:custGeom>
          <a:solidFill>
            <a:srgbClr val="47A248"/>
          </a:solidFill>
          <a:ln/>
        </p:spPr>
      </p:sp>
      <p:sp>
        <p:nvSpPr>
          <p:cNvPr id="45" name="Text 43"/>
          <p:cNvSpPr/>
          <p:nvPr/>
        </p:nvSpPr>
        <p:spPr>
          <a:xfrm>
            <a:off x="8748507" y="1962136"/>
            <a:ext cx="918636" cy="249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5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Database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748507" y="2211862"/>
            <a:ext cx="891880" cy="17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3" dirty="0">
                <a:solidFill>
                  <a:srgbClr val="C8A4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75% Team Skill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332668" y="2577533"/>
            <a:ext cx="109255" cy="124863"/>
          </a:xfrm>
          <a:custGeom>
            <a:avLst/>
            <a:gdLst/>
            <a:ahLst/>
            <a:cxnLst/>
            <a:rect l="l" t="t" r="r" b="b"/>
            <a:pathLst>
              <a:path w="109255" h="124863">
                <a:moveTo>
                  <a:pt x="106036" y="17096"/>
                </a:moveTo>
                <a:cubicBezTo>
                  <a:pt x="109524" y="19632"/>
                  <a:pt x="110304" y="24509"/>
                  <a:pt x="107768" y="27997"/>
                </a:cubicBezTo>
                <a:lnTo>
                  <a:pt x="45336" y="113840"/>
                </a:lnTo>
                <a:cubicBezTo>
                  <a:pt x="43995" y="115694"/>
                  <a:pt x="41922" y="116840"/>
                  <a:pt x="39629" y="117035"/>
                </a:cubicBezTo>
                <a:cubicBezTo>
                  <a:pt x="37337" y="117230"/>
                  <a:pt x="35118" y="116376"/>
                  <a:pt x="33508" y="114767"/>
                </a:cubicBezTo>
                <a:lnTo>
                  <a:pt x="2292" y="83551"/>
                </a:lnTo>
                <a:cubicBezTo>
                  <a:pt x="-756" y="80503"/>
                  <a:pt x="-756" y="75552"/>
                  <a:pt x="2292" y="72504"/>
                </a:cubicBezTo>
                <a:cubicBezTo>
                  <a:pt x="5341" y="69455"/>
                  <a:pt x="10291" y="69455"/>
                  <a:pt x="13340" y="72504"/>
                </a:cubicBezTo>
                <a:lnTo>
                  <a:pt x="38093" y="97257"/>
                </a:lnTo>
                <a:lnTo>
                  <a:pt x="95159" y="18803"/>
                </a:lnTo>
                <a:cubicBezTo>
                  <a:pt x="97696" y="15315"/>
                  <a:pt x="102573" y="14535"/>
                  <a:pt x="106061" y="17071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48" name="Text 46"/>
          <p:cNvSpPr/>
          <p:nvPr/>
        </p:nvSpPr>
        <p:spPr>
          <a:xfrm>
            <a:off x="8467565" y="2532939"/>
            <a:ext cx="3264281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MongoDB Atlas (free tier)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332668" y="2862935"/>
            <a:ext cx="109255" cy="124863"/>
          </a:xfrm>
          <a:custGeom>
            <a:avLst/>
            <a:gdLst/>
            <a:ahLst/>
            <a:cxnLst/>
            <a:rect l="l" t="t" r="r" b="b"/>
            <a:pathLst>
              <a:path w="109255" h="124863">
                <a:moveTo>
                  <a:pt x="106036" y="17096"/>
                </a:moveTo>
                <a:cubicBezTo>
                  <a:pt x="109524" y="19632"/>
                  <a:pt x="110304" y="24509"/>
                  <a:pt x="107768" y="27997"/>
                </a:cubicBezTo>
                <a:lnTo>
                  <a:pt x="45336" y="113840"/>
                </a:lnTo>
                <a:cubicBezTo>
                  <a:pt x="43995" y="115694"/>
                  <a:pt x="41922" y="116840"/>
                  <a:pt x="39629" y="117035"/>
                </a:cubicBezTo>
                <a:cubicBezTo>
                  <a:pt x="37337" y="117230"/>
                  <a:pt x="35118" y="116376"/>
                  <a:pt x="33508" y="114767"/>
                </a:cubicBezTo>
                <a:lnTo>
                  <a:pt x="2292" y="83551"/>
                </a:lnTo>
                <a:cubicBezTo>
                  <a:pt x="-756" y="80503"/>
                  <a:pt x="-756" y="75552"/>
                  <a:pt x="2292" y="72504"/>
                </a:cubicBezTo>
                <a:cubicBezTo>
                  <a:pt x="5341" y="69455"/>
                  <a:pt x="10291" y="69455"/>
                  <a:pt x="13340" y="72504"/>
                </a:cubicBezTo>
                <a:lnTo>
                  <a:pt x="38093" y="97257"/>
                </a:lnTo>
                <a:lnTo>
                  <a:pt x="95159" y="18803"/>
                </a:lnTo>
                <a:cubicBezTo>
                  <a:pt x="97696" y="15315"/>
                  <a:pt x="102573" y="14535"/>
                  <a:pt x="106061" y="17071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50" name="Text 48"/>
          <p:cNvSpPr/>
          <p:nvPr/>
        </p:nvSpPr>
        <p:spPr>
          <a:xfrm>
            <a:off x="8467565" y="2818341"/>
            <a:ext cx="3264281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Mongoose ODM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332668" y="3148337"/>
            <a:ext cx="109255" cy="124863"/>
          </a:xfrm>
          <a:custGeom>
            <a:avLst/>
            <a:gdLst/>
            <a:ahLst/>
            <a:cxnLst/>
            <a:rect l="l" t="t" r="r" b="b"/>
            <a:pathLst>
              <a:path w="109255" h="124863">
                <a:moveTo>
                  <a:pt x="106036" y="17096"/>
                </a:moveTo>
                <a:cubicBezTo>
                  <a:pt x="109524" y="19632"/>
                  <a:pt x="110304" y="24509"/>
                  <a:pt x="107768" y="27997"/>
                </a:cubicBezTo>
                <a:lnTo>
                  <a:pt x="45336" y="113840"/>
                </a:lnTo>
                <a:cubicBezTo>
                  <a:pt x="43995" y="115694"/>
                  <a:pt x="41922" y="116840"/>
                  <a:pt x="39629" y="117035"/>
                </a:cubicBezTo>
                <a:cubicBezTo>
                  <a:pt x="37337" y="117230"/>
                  <a:pt x="35118" y="116376"/>
                  <a:pt x="33508" y="114767"/>
                </a:cubicBezTo>
                <a:lnTo>
                  <a:pt x="2292" y="83551"/>
                </a:lnTo>
                <a:cubicBezTo>
                  <a:pt x="-756" y="80503"/>
                  <a:pt x="-756" y="75552"/>
                  <a:pt x="2292" y="72504"/>
                </a:cubicBezTo>
                <a:cubicBezTo>
                  <a:pt x="5341" y="69455"/>
                  <a:pt x="10291" y="69455"/>
                  <a:pt x="13340" y="72504"/>
                </a:cubicBezTo>
                <a:lnTo>
                  <a:pt x="38093" y="97257"/>
                </a:lnTo>
                <a:lnTo>
                  <a:pt x="95159" y="18803"/>
                </a:lnTo>
                <a:cubicBezTo>
                  <a:pt x="97696" y="15315"/>
                  <a:pt x="102573" y="14535"/>
                  <a:pt x="106061" y="17071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52" name="Text 50"/>
          <p:cNvSpPr/>
          <p:nvPr/>
        </p:nvSpPr>
        <p:spPr>
          <a:xfrm>
            <a:off x="8467565" y="3103743"/>
            <a:ext cx="3264281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Flexible JSON schema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332668" y="3433738"/>
            <a:ext cx="109255" cy="124863"/>
          </a:xfrm>
          <a:custGeom>
            <a:avLst/>
            <a:gdLst/>
            <a:ahLst/>
            <a:cxnLst/>
            <a:rect l="l" t="t" r="r" b="b"/>
            <a:pathLst>
              <a:path w="109255" h="124863">
                <a:moveTo>
                  <a:pt x="106036" y="17096"/>
                </a:moveTo>
                <a:cubicBezTo>
                  <a:pt x="109524" y="19632"/>
                  <a:pt x="110304" y="24509"/>
                  <a:pt x="107768" y="27997"/>
                </a:cubicBezTo>
                <a:lnTo>
                  <a:pt x="45336" y="113840"/>
                </a:lnTo>
                <a:cubicBezTo>
                  <a:pt x="43995" y="115694"/>
                  <a:pt x="41922" y="116840"/>
                  <a:pt x="39629" y="117035"/>
                </a:cubicBezTo>
                <a:cubicBezTo>
                  <a:pt x="37337" y="117230"/>
                  <a:pt x="35118" y="116376"/>
                  <a:pt x="33508" y="114767"/>
                </a:cubicBezTo>
                <a:lnTo>
                  <a:pt x="2292" y="83551"/>
                </a:lnTo>
                <a:cubicBezTo>
                  <a:pt x="-756" y="80503"/>
                  <a:pt x="-756" y="75552"/>
                  <a:pt x="2292" y="72504"/>
                </a:cubicBezTo>
                <a:cubicBezTo>
                  <a:pt x="5341" y="69455"/>
                  <a:pt x="10291" y="69455"/>
                  <a:pt x="13340" y="72504"/>
                </a:cubicBezTo>
                <a:lnTo>
                  <a:pt x="38093" y="97257"/>
                </a:lnTo>
                <a:lnTo>
                  <a:pt x="95159" y="18803"/>
                </a:lnTo>
                <a:cubicBezTo>
                  <a:pt x="97696" y="15315"/>
                  <a:pt x="102573" y="14535"/>
                  <a:pt x="106061" y="17071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54" name="Text 52"/>
          <p:cNvSpPr/>
          <p:nvPr/>
        </p:nvSpPr>
        <p:spPr>
          <a:xfrm>
            <a:off x="8467565" y="3389144"/>
            <a:ext cx="3264281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Auto-scaling ready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332668" y="3719140"/>
            <a:ext cx="109255" cy="124863"/>
          </a:xfrm>
          <a:custGeom>
            <a:avLst/>
            <a:gdLst/>
            <a:ahLst/>
            <a:cxnLst/>
            <a:rect l="l" t="t" r="r" b="b"/>
            <a:pathLst>
              <a:path w="109255" h="124863">
                <a:moveTo>
                  <a:pt x="106036" y="17096"/>
                </a:moveTo>
                <a:cubicBezTo>
                  <a:pt x="109524" y="19632"/>
                  <a:pt x="110304" y="24509"/>
                  <a:pt x="107768" y="27997"/>
                </a:cubicBezTo>
                <a:lnTo>
                  <a:pt x="45336" y="113840"/>
                </a:lnTo>
                <a:cubicBezTo>
                  <a:pt x="43995" y="115694"/>
                  <a:pt x="41922" y="116840"/>
                  <a:pt x="39629" y="117035"/>
                </a:cubicBezTo>
                <a:cubicBezTo>
                  <a:pt x="37337" y="117230"/>
                  <a:pt x="35118" y="116376"/>
                  <a:pt x="33508" y="114767"/>
                </a:cubicBezTo>
                <a:lnTo>
                  <a:pt x="2292" y="83551"/>
                </a:lnTo>
                <a:cubicBezTo>
                  <a:pt x="-756" y="80503"/>
                  <a:pt x="-756" y="75552"/>
                  <a:pt x="2292" y="72504"/>
                </a:cubicBezTo>
                <a:cubicBezTo>
                  <a:pt x="5341" y="69455"/>
                  <a:pt x="10291" y="69455"/>
                  <a:pt x="13340" y="72504"/>
                </a:cubicBezTo>
                <a:lnTo>
                  <a:pt x="38093" y="97257"/>
                </a:lnTo>
                <a:lnTo>
                  <a:pt x="95159" y="18803"/>
                </a:lnTo>
                <a:cubicBezTo>
                  <a:pt x="97696" y="15315"/>
                  <a:pt x="102573" y="14535"/>
                  <a:pt x="106061" y="17071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56" name="Text 54"/>
          <p:cNvSpPr/>
          <p:nvPr/>
        </p:nvSpPr>
        <p:spPr>
          <a:xfrm>
            <a:off x="8467565" y="3674546"/>
            <a:ext cx="3264281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Redis (optional cache)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307026" y="4035757"/>
            <a:ext cx="3353469" cy="8919"/>
          </a:xfrm>
          <a:custGeom>
            <a:avLst/>
            <a:gdLst/>
            <a:ahLst/>
            <a:cxnLst/>
            <a:rect l="l" t="t" r="r" b="b"/>
            <a:pathLst>
              <a:path w="3353469" h="8919">
                <a:moveTo>
                  <a:pt x="0" y="0"/>
                </a:moveTo>
                <a:lnTo>
                  <a:pt x="3353469" y="0"/>
                </a:lnTo>
                <a:lnTo>
                  <a:pt x="3353469" y="8919"/>
                </a:lnTo>
                <a:lnTo>
                  <a:pt x="0" y="8919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58" name="Shape 56"/>
          <p:cNvSpPr/>
          <p:nvPr/>
        </p:nvSpPr>
        <p:spPr>
          <a:xfrm>
            <a:off x="8340472" y="4173999"/>
            <a:ext cx="93647" cy="124863"/>
          </a:xfrm>
          <a:custGeom>
            <a:avLst/>
            <a:gdLst/>
            <a:ahLst/>
            <a:cxnLst/>
            <a:rect l="l" t="t" r="r" b="b"/>
            <a:pathLst>
              <a:path w="93647" h="124863">
                <a:moveTo>
                  <a:pt x="13437" y="17900"/>
                </a:moveTo>
                <a:cubicBezTo>
                  <a:pt x="10389" y="14852"/>
                  <a:pt x="5438" y="14852"/>
                  <a:pt x="2390" y="17900"/>
                </a:cubicBezTo>
                <a:cubicBezTo>
                  <a:pt x="-658" y="20949"/>
                  <a:pt x="-658" y="25899"/>
                  <a:pt x="2390" y="28948"/>
                </a:cubicBezTo>
                <a:lnTo>
                  <a:pt x="35898" y="62432"/>
                </a:lnTo>
                <a:lnTo>
                  <a:pt x="2414" y="95940"/>
                </a:lnTo>
                <a:cubicBezTo>
                  <a:pt x="-634" y="98988"/>
                  <a:pt x="-634" y="103939"/>
                  <a:pt x="2414" y="106987"/>
                </a:cubicBezTo>
                <a:cubicBezTo>
                  <a:pt x="5463" y="110036"/>
                  <a:pt x="10413" y="110036"/>
                  <a:pt x="13462" y="106987"/>
                </a:cubicBezTo>
                <a:lnTo>
                  <a:pt x="46946" y="73479"/>
                </a:lnTo>
                <a:lnTo>
                  <a:pt x="80454" y="106963"/>
                </a:lnTo>
                <a:cubicBezTo>
                  <a:pt x="83502" y="110011"/>
                  <a:pt x="88453" y="110011"/>
                  <a:pt x="91501" y="106963"/>
                </a:cubicBezTo>
                <a:cubicBezTo>
                  <a:pt x="94550" y="103914"/>
                  <a:pt x="94550" y="98964"/>
                  <a:pt x="91501" y="95915"/>
                </a:cubicBezTo>
                <a:lnTo>
                  <a:pt x="57993" y="62432"/>
                </a:lnTo>
                <a:lnTo>
                  <a:pt x="91477" y="28923"/>
                </a:lnTo>
                <a:cubicBezTo>
                  <a:pt x="94525" y="25875"/>
                  <a:pt x="94525" y="20924"/>
                  <a:pt x="91477" y="17876"/>
                </a:cubicBezTo>
                <a:cubicBezTo>
                  <a:pt x="88429" y="14828"/>
                  <a:pt x="83478" y="14828"/>
                  <a:pt x="80429" y="17876"/>
                </a:cubicBezTo>
                <a:lnTo>
                  <a:pt x="46946" y="51384"/>
                </a:lnTo>
                <a:lnTo>
                  <a:pt x="13437" y="17900"/>
                </a:lnTo>
                <a:close/>
              </a:path>
            </a:pathLst>
          </a:custGeom>
          <a:solidFill>
            <a:srgbClr val="A9A9A9"/>
          </a:solidFill>
          <a:ln/>
        </p:spPr>
      </p:sp>
      <p:sp>
        <p:nvSpPr>
          <p:cNvPr id="59" name="Text 57"/>
          <p:cNvSpPr/>
          <p:nvPr/>
        </p:nvSpPr>
        <p:spPr>
          <a:xfrm>
            <a:off x="8498781" y="4147242"/>
            <a:ext cx="902889" cy="17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3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(35% skill)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356752" y="4682370"/>
            <a:ext cx="11478496" cy="2176187"/>
          </a:xfrm>
          <a:custGeom>
            <a:avLst/>
            <a:gdLst/>
            <a:ahLst/>
            <a:cxnLst/>
            <a:rect l="l" t="t" r="r" b="b"/>
            <a:pathLst>
              <a:path w="11478496" h="2176187">
                <a:moveTo>
                  <a:pt x="0" y="0"/>
                </a:moveTo>
                <a:lnTo>
                  <a:pt x="11478496" y="0"/>
                </a:lnTo>
                <a:lnTo>
                  <a:pt x="11478496" y="2176187"/>
                </a:lnTo>
                <a:lnTo>
                  <a:pt x="0" y="2176187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61" name="Text 59"/>
          <p:cNvSpPr/>
          <p:nvPr/>
        </p:nvSpPr>
        <p:spPr>
          <a:xfrm>
            <a:off x="535128" y="4860746"/>
            <a:ext cx="11210932" cy="249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5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Key Technical Decisions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535128" y="5253173"/>
            <a:ext cx="5565331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b="1" dirty="0">
                <a:solidFill>
                  <a:srgbClr val="C8A4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TypeScript?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535128" y="5538575"/>
            <a:ext cx="5556413" cy="356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3" dirty="0">
                <a:solidFill>
                  <a:srgbClr val="F8F5F2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 safety reduces runtime bugs by 40%, provides better IDE support with autocomplete, and enables safer refactoring during rapid iteration.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167768" y="5253173"/>
            <a:ext cx="5565331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b="1" dirty="0">
                <a:solidFill>
                  <a:srgbClr val="C8A4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MongoDB?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167768" y="5538575"/>
            <a:ext cx="5556413" cy="356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3" dirty="0">
                <a:solidFill>
                  <a:srgbClr val="F8F5F2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Flexible schema allows rapid MVP iteration without migrations. 75% team proficiency vs 35% for SQL. Native JSON aligns with JavaScript stack.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535128" y="6038028"/>
            <a:ext cx="5565331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b="1" dirty="0">
                <a:solidFill>
                  <a:srgbClr val="C8A4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React?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535128" y="6323429"/>
            <a:ext cx="5556413" cy="356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3" dirty="0">
                <a:solidFill>
                  <a:srgbClr val="F8F5F2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Component-based architecture enables reusable UI elements. 70% team skill with extensive ecosystem. Virtual DOM ensures smooth user experience.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167768" y="6038028"/>
            <a:ext cx="5565331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b="1" dirty="0">
                <a:solidFill>
                  <a:srgbClr val="C8A4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Node.js?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167768" y="6323429"/>
            <a:ext cx="5556413" cy="356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3" dirty="0">
                <a:solidFill>
                  <a:srgbClr val="F8F5F2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JavaScript full-stack consistency eliminates context switching. 75% team proficiency. Non-blocking I/O handles concurrent requests efficiently.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175" kern="0" dirty="0">
                <a:solidFill>
                  <a:srgbClr val="C8A4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84250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Three-tier architecture with clear separation of concerns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33350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6" name="Shape 4"/>
          <p:cNvSpPr/>
          <p:nvPr/>
        </p:nvSpPr>
        <p:spPr>
          <a:xfrm>
            <a:off x="317500" y="1571625"/>
            <a:ext cx="7580313" cy="1889125"/>
          </a:xfrm>
          <a:custGeom>
            <a:avLst/>
            <a:gdLst/>
            <a:ahLst/>
            <a:cxnLst/>
            <a:rect l="l" t="t" r="r" b="b"/>
            <a:pathLst>
              <a:path w="7580313" h="1889125">
                <a:moveTo>
                  <a:pt x="0" y="0"/>
                </a:moveTo>
                <a:lnTo>
                  <a:pt x="7580313" y="0"/>
                </a:lnTo>
                <a:lnTo>
                  <a:pt x="7580313" y="1889125"/>
                </a:lnTo>
                <a:lnTo>
                  <a:pt x="0" y="1889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317500" y="1571625"/>
            <a:ext cx="7580313" cy="31750"/>
          </a:xfrm>
          <a:custGeom>
            <a:avLst/>
            <a:gdLst/>
            <a:ahLst/>
            <a:cxnLst/>
            <a:rect l="l" t="t" r="r" b="b"/>
            <a:pathLst>
              <a:path w="7580313" h="31750">
                <a:moveTo>
                  <a:pt x="0" y="0"/>
                </a:moveTo>
                <a:lnTo>
                  <a:pt x="7580313" y="0"/>
                </a:lnTo>
                <a:lnTo>
                  <a:pt x="7580313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61DAFB"/>
          </a:solidFill>
          <a:ln/>
        </p:spPr>
      </p:sp>
      <p:sp>
        <p:nvSpPr>
          <p:cNvPr id="8" name="Shape 6"/>
          <p:cNvSpPr/>
          <p:nvPr/>
        </p:nvSpPr>
        <p:spPr>
          <a:xfrm>
            <a:off x="476250" y="17462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0" y="0"/>
                </a:moveTo>
                <a:lnTo>
                  <a:pt x="317500" y="0"/>
                </a:lnTo>
                <a:lnTo>
                  <a:pt x="317500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61DAFB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55625" y="182562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44" y="9922"/>
                </a:moveTo>
                <a:cubicBezTo>
                  <a:pt x="8899" y="9922"/>
                  <a:pt x="0" y="18821"/>
                  <a:pt x="0" y="29766"/>
                </a:cubicBezTo>
                <a:lnTo>
                  <a:pt x="0" y="109141"/>
                </a:lnTo>
                <a:cubicBezTo>
                  <a:pt x="0" y="120086"/>
                  <a:pt x="8899" y="128984"/>
                  <a:pt x="19844" y="128984"/>
                </a:cubicBezTo>
                <a:lnTo>
                  <a:pt x="64492" y="128984"/>
                </a:lnTo>
                <a:lnTo>
                  <a:pt x="59531" y="143867"/>
                </a:lnTo>
                <a:lnTo>
                  <a:pt x="37207" y="143867"/>
                </a:lnTo>
                <a:cubicBezTo>
                  <a:pt x="33083" y="143867"/>
                  <a:pt x="29766" y="147185"/>
                  <a:pt x="29766" y="151309"/>
                </a:cubicBezTo>
                <a:cubicBezTo>
                  <a:pt x="29766" y="155432"/>
                  <a:pt x="33083" y="158750"/>
                  <a:pt x="37207" y="158750"/>
                </a:cubicBezTo>
                <a:lnTo>
                  <a:pt x="121543" y="158750"/>
                </a:lnTo>
                <a:cubicBezTo>
                  <a:pt x="125667" y="158750"/>
                  <a:pt x="128984" y="155432"/>
                  <a:pt x="128984" y="151309"/>
                </a:cubicBezTo>
                <a:cubicBezTo>
                  <a:pt x="128984" y="147185"/>
                  <a:pt x="125667" y="143867"/>
                  <a:pt x="121543" y="143867"/>
                </a:cubicBezTo>
                <a:lnTo>
                  <a:pt x="99219" y="143867"/>
                </a:lnTo>
                <a:lnTo>
                  <a:pt x="94258" y="128984"/>
                </a:lnTo>
                <a:lnTo>
                  <a:pt x="138906" y="128984"/>
                </a:lnTo>
                <a:cubicBezTo>
                  <a:pt x="149851" y="128984"/>
                  <a:pt x="158750" y="120086"/>
                  <a:pt x="158750" y="109141"/>
                </a:cubicBezTo>
                <a:lnTo>
                  <a:pt x="158750" y="29766"/>
                </a:lnTo>
                <a:cubicBezTo>
                  <a:pt x="158750" y="18821"/>
                  <a:pt x="149851" y="9922"/>
                  <a:pt x="138906" y="9922"/>
                </a:cubicBezTo>
                <a:lnTo>
                  <a:pt x="19844" y="9922"/>
                </a:lnTo>
                <a:close/>
                <a:moveTo>
                  <a:pt x="29766" y="29766"/>
                </a:moveTo>
                <a:lnTo>
                  <a:pt x="128984" y="29766"/>
                </a:lnTo>
                <a:cubicBezTo>
                  <a:pt x="134472" y="29766"/>
                  <a:pt x="138906" y="34199"/>
                  <a:pt x="138906" y="39688"/>
                </a:cubicBezTo>
                <a:lnTo>
                  <a:pt x="138906" y="89297"/>
                </a:lnTo>
                <a:cubicBezTo>
                  <a:pt x="138906" y="94785"/>
                  <a:pt x="134472" y="99219"/>
                  <a:pt x="128984" y="99219"/>
                </a:cubicBezTo>
                <a:lnTo>
                  <a:pt x="29766" y="99219"/>
                </a:lnTo>
                <a:cubicBezTo>
                  <a:pt x="24278" y="99219"/>
                  <a:pt x="19844" y="94785"/>
                  <a:pt x="19844" y="89297"/>
                </a:cubicBezTo>
                <a:lnTo>
                  <a:pt x="19844" y="39688"/>
                </a:lnTo>
                <a:cubicBezTo>
                  <a:pt x="19844" y="34199"/>
                  <a:pt x="24278" y="29766"/>
                  <a:pt x="29766" y="29766"/>
                </a:cubicBezTo>
                <a:close/>
              </a:path>
            </a:pathLst>
          </a:custGeom>
          <a:solidFill>
            <a:srgbClr val="61DAFB"/>
          </a:solidFill>
          <a:ln/>
        </p:spPr>
      </p:sp>
      <p:sp>
        <p:nvSpPr>
          <p:cNvPr id="10" name="Text 8"/>
          <p:cNvSpPr/>
          <p:nvPr/>
        </p:nvSpPr>
        <p:spPr>
          <a:xfrm>
            <a:off x="889000" y="1793875"/>
            <a:ext cx="103981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Frontend Layer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6250" y="2190750"/>
            <a:ext cx="3579813" cy="508000"/>
          </a:xfrm>
          <a:custGeom>
            <a:avLst/>
            <a:gdLst/>
            <a:ahLst/>
            <a:cxnLst/>
            <a:rect l="l" t="t" r="r" b="b"/>
            <a:pathLst>
              <a:path w="3579813" h="508000">
                <a:moveTo>
                  <a:pt x="0" y="0"/>
                </a:moveTo>
                <a:lnTo>
                  <a:pt x="3579813" y="0"/>
                </a:lnTo>
                <a:lnTo>
                  <a:pt x="3579813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12" name="Text 10"/>
          <p:cNvSpPr/>
          <p:nvPr/>
        </p:nvSpPr>
        <p:spPr>
          <a:xfrm>
            <a:off x="571500" y="2286000"/>
            <a:ext cx="3444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18 + TypeScript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" y="2476500"/>
            <a:ext cx="3436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Component-based UI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153917" y="2190750"/>
            <a:ext cx="3579813" cy="508000"/>
          </a:xfrm>
          <a:custGeom>
            <a:avLst/>
            <a:gdLst/>
            <a:ahLst/>
            <a:cxnLst/>
            <a:rect l="l" t="t" r="r" b="b"/>
            <a:pathLst>
              <a:path w="3579813" h="508000">
                <a:moveTo>
                  <a:pt x="0" y="0"/>
                </a:moveTo>
                <a:lnTo>
                  <a:pt x="3579813" y="0"/>
                </a:lnTo>
                <a:lnTo>
                  <a:pt x="3579813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15" name="Text 13"/>
          <p:cNvSpPr/>
          <p:nvPr/>
        </p:nvSpPr>
        <p:spPr>
          <a:xfrm>
            <a:off x="4249167" y="2286000"/>
            <a:ext cx="3444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Router v6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49167" y="2476500"/>
            <a:ext cx="3436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Client-side routing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6250" y="2794000"/>
            <a:ext cx="3579813" cy="508000"/>
          </a:xfrm>
          <a:custGeom>
            <a:avLst/>
            <a:gdLst/>
            <a:ahLst/>
            <a:cxnLst/>
            <a:rect l="l" t="t" r="r" b="b"/>
            <a:pathLst>
              <a:path w="3579813" h="508000">
                <a:moveTo>
                  <a:pt x="0" y="0"/>
                </a:moveTo>
                <a:lnTo>
                  <a:pt x="3579813" y="0"/>
                </a:lnTo>
                <a:lnTo>
                  <a:pt x="3579813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18" name="Text 16"/>
          <p:cNvSpPr/>
          <p:nvPr/>
        </p:nvSpPr>
        <p:spPr>
          <a:xfrm>
            <a:off x="571500" y="2889250"/>
            <a:ext cx="3444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Axios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1500" y="3079750"/>
            <a:ext cx="3436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client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153917" y="2794000"/>
            <a:ext cx="3579813" cy="508000"/>
          </a:xfrm>
          <a:custGeom>
            <a:avLst/>
            <a:gdLst/>
            <a:ahLst/>
            <a:cxnLst/>
            <a:rect l="l" t="t" r="r" b="b"/>
            <a:pathLst>
              <a:path w="3579813" h="508000">
                <a:moveTo>
                  <a:pt x="0" y="0"/>
                </a:moveTo>
                <a:lnTo>
                  <a:pt x="3579813" y="0"/>
                </a:lnTo>
                <a:lnTo>
                  <a:pt x="3579813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21" name="Text 19"/>
          <p:cNvSpPr/>
          <p:nvPr/>
        </p:nvSpPr>
        <p:spPr>
          <a:xfrm>
            <a:off x="4249167" y="2889250"/>
            <a:ext cx="3444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Tailwind CSS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249167" y="3079750"/>
            <a:ext cx="3436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Utility-first styling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17500" y="3603625"/>
            <a:ext cx="7580313" cy="1889125"/>
          </a:xfrm>
          <a:custGeom>
            <a:avLst/>
            <a:gdLst/>
            <a:ahLst/>
            <a:cxnLst/>
            <a:rect l="l" t="t" r="r" b="b"/>
            <a:pathLst>
              <a:path w="7580313" h="1889125">
                <a:moveTo>
                  <a:pt x="0" y="0"/>
                </a:moveTo>
                <a:lnTo>
                  <a:pt x="7580313" y="0"/>
                </a:lnTo>
                <a:lnTo>
                  <a:pt x="7580313" y="1889125"/>
                </a:lnTo>
                <a:lnTo>
                  <a:pt x="0" y="1889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317500" y="3603625"/>
            <a:ext cx="7580313" cy="31750"/>
          </a:xfrm>
          <a:custGeom>
            <a:avLst/>
            <a:gdLst/>
            <a:ahLst/>
            <a:cxnLst/>
            <a:rect l="l" t="t" r="r" b="b"/>
            <a:pathLst>
              <a:path w="7580313" h="31750">
                <a:moveTo>
                  <a:pt x="0" y="0"/>
                </a:moveTo>
                <a:lnTo>
                  <a:pt x="7580313" y="0"/>
                </a:lnTo>
                <a:lnTo>
                  <a:pt x="7580313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68A063"/>
          </a:solidFill>
          <a:ln/>
        </p:spPr>
      </p:sp>
      <p:sp>
        <p:nvSpPr>
          <p:cNvPr id="25" name="Shape 23"/>
          <p:cNvSpPr/>
          <p:nvPr/>
        </p:nvSpPr>
        <p:spPr>
          <a:xfrm>
            <a:off x="476250" y="37782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0" y="0"/>
                </a:moveTo>
                <a:lnTo>
                  <a:pt x="317500" y="0"/>
                </a:lnTo>
                <a:lnTo>
                  <a:pt x="317500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68A063">
              <a:alpha val="1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65547" y="3857625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9844" y="9922"/>
                </a:moveTo>
                <a:cubicBezTo>
                  <a:pt x="8899" y="9922"/>
                  <a:pt x="0" y="18821"/>
                  <a:pt x="0" y="29766"/>
                </a:cubicBezTo>
                <a:lnTo>
                  <a:pt x="0" y="49609"/>
                </a:lnTo>
                <a:cubicBezTo>
                  <a:pt x="0" y="60554"/>
                  <a:pt x="8899" y="69453"/>
                  <a:pt x="19844" y="69453"/>
                </a:cubicBezTo>
                <a:lnTo>
                  <a:pt x="119062" y="69453"/>
                </a:lnTo>
                <a:cubicBezTo>
                  <a:pt x="130008" y="69453"/>
                  <a:pt x="138906" y="60554"/>
                  <a:pt x="138906" y="49609"/>
                </a:cubicBezTo>
                <a:lnTo>
                  <a:pt x="138906" y="29766"/>
                </a:lnTo>
                <a:cubicBezTo>
                  <a:pt x="138906" y="18821"/>
                  <a:pt x="130008" y="9922"/>
                  <a:pt x="119062" y="9922"/>
                </a:cubicBezTo>
                <a:lnTo>
                  <a:pt x="19844" y="9922"/>
                </a:lnTo>
                <a:close/>
                <a:moveTo>
                  <a:pt x="86816" y="32246"/>
                </a:moveTo>
                <a:cubicBezTo>
                  <a:pt x="90923" y="32246"/>
                  <a:pt x="94258" y="35580"/>
                  <a:pt x="94258" y="39688"/>
                </a:cubicBezTo>
                <a:cubicBezTo>
                  <a:pt x="94258" y="43795"/>
                  <a:pt x="90923" y="47129"/>
                  <a:pt x="86816" y="47129"/>
                </a:cubicBezTo>
                <a:cubicBezTo>
                  <a:pt x="82709" y="47129"/>
                  <a:pt x="79375" y="43795"/>
                  <a:pt x="79375" y="39688"/>
                </a:cubicBezTo>
                <a:cubicBezTo>
                  <a:pt x="79375" y="35580"/>
                  <a:pt x="82709" y="32246"/>
                  <a:pt x="86816" y="32246"/>
                </a:cubicBezTo>
                <a:close/>
                <a:moveTo>
                  <a:pt x="104180" y="39688"/>
                </a:moveTo>
                <a:cubicBezTo>
                  <a:pt x="104180" y="35580"/>
                  <a:pt x="107514" y="32246"/>
                  <a:pt x="111621" y="32246"/>
                </a:cubicBezTo>
                <a:cubicBezTo>
                  <a:pt x="115728" y="32246"/>
                  <a:pt x="119062" y="35580"/>
                  <a:pt x="119062" y="39688"/>
                </a:cubicBezTo>
                <a:cubicBezTo>
                  <a:pt x="119062" y="43795"/>
                  <a:pt x="115728" y="47129"/>
                  <a:pt x="111621" y="47129"/>
                </a:cubicBezTo>
                <a:cubicBezTo>
                  <a:pt x="107514" y="47129"/>
                  <a:pt x="104180" y="43795"/>
                  <a:pt x="104180" y="39688"/>
                </a:cubicBezTo>
                <a:close/>
                <a:moveTo>
                  <a:pt x="19844" y="89297"/>
                </a:moveTo>
                <a:cubicBezTo>
                  <a:pt x="8899" y="89297"/>
                  <a:pt x="0" y="98196"/>
                  <a:pt x="0" y="109141"/>
                </a:cubicBezTo>
                <a:lnTo>
                  <a:pt x="0" y="128984"/>
                </a:lnTo>
                <a:cubicBezTo>
                  <a:pt x="0" y="139929"/>
                  <a:pt x="8899" y="148828"/>
                  <a:pt x="19844" y="148828"/>
                </a:cubicBezTo>
                <a:lnTo>
                  <a:pt x="119062" y="148828"/>
                </a:lnTo>
                <a:cubicBezTo>
                  <a:pt x="130008" y="148828"/>
                  <a:pt x="138906" y="139929"/>
                  <a:pt x="138906" y="128984"/>
                </a:cubicBezTo>
                <a:lnTo>
                  <a:pt x="138906" y="109141"/>
                </a:lnTo>
                <a:cubicBezTo>
                  <a:pt x="138906" y="98196"/>
                  <a:pt x="130008" y="89297"/>
                  <a:pt x="119062" y="89297"/>
                </a:cubicBezTo>
                <a:lnTo>
                  <a:pt x="19844" y="89297"/>
                </a:lnTo>
                <a:close/>
                <a:moveTo>
                  <a:pt x="86816" y="111621"/>
                </a:moveTo>
                <a:cubicBezTo>
                  <a:pt x="90923" y="111621"/>
                  <a:pt x="94258" y="114955"/>
                  <a:pt x="94258" y="119062"/>
                </a:cubicBezTo>
                <a:cubicBezTo>
                  <a:pt x="94258" y="123170"/>
                  <a:pt x="90923" y="126504"/>
                  <a:pt x="86816" y="126504"/>
                </a:cubicBezTo>
                <a:cubicBezTo>
                  <a:pt x="82709" y="126504"/>
                  <a:pt x="79375" y="123170"/>
                  <a:pt x="79375" y="119062"/>
                </a:cubicBezTo>
                <a:cubicBezTo>
                  <a:pt x="79375" y="114955"/>
                  <a:pt x="82709" y="111621"/>
                  <a:pt x="86816" y="111621"/>
                </a:cubicBezTo>
                <a:close/>
                <a:moveTo>
                  <a:pt x="104180" y="119062"/>
                </a:moveTo>
                <a:cubicBezTo>
                  <a:pt x="104180" y="114955"/>
                  <a:pt x="107514" y="111621"/>
                  <a:pt x="111621" y="111621"/>
                </a:cubicBezTo>
                <a:cubicBezTo>
                  <a:pt x="115728" y="111621"/>
                  <a:pt x="119062" y="114955"/>
                  <a:pt x="119062" y="119062"/>
                </a:cubicBezTo>
                <a:cubicBezTo>
                  <a:pt x="119062" y="123170"/>
                  <a:pt x="115728" y="126504"/>
                  <a:pt x="111621" y="126504"/>
                </a:cubicBezTo>
                <a:cubicBezTo>
                  <a:pt x="107514" y="126504"/>
                  <a:pt x="104180" y="123170"/>
                  <a:pt x="104180" y="119062"/>
                </a:cubicBezTo>
                <a:close/>
              </a:path>
            </a:pathLst>
          </a:custGeom>
          <a:solidFill>
            <a:srgbClr val="68A063"/>
          </a:solidFill>
          <a:ln/>
        </p:spPr>
      </p:sp>
      <p:sp>
        <p:nvSpPr>
          <p:cNvPr id="27" name="Text 25"/>
          <p:cNvSpPr/>
          <p:nvPr/>
        </p:nvSpPr>
        <p:spPr>
          <a:xfrm>
            <a:off x="889000" y="3825875"/>
            <a:ext cx="992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Backend Layer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76250" y="4222750"/>
            <a:ext cx="3579813" cy="508000"/>
          </a:xfrm>
          <a:custGeom>
            <a:avLst/>
            <a:gdLst/>
            <a:ahLst/>
            <a:cxnLst/>
            <a:rect l="l" t="t" r="r" b="b"/>
            <a:pathLst>
              <a:path w="3579813" h="508000">
                <a:moveTo>
                  <a:pt x="0" y="0"/>
                </a:moveTo>
                <a:lnTo>
                  <a:pt x="3579813" y="0"/>
                </a:lnTo>
                <a:lnTo>
                  <a:pt x="3579813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29" name="Text 27"/>
          <p:cNvSpPr/>
          <p:nvPr/>
        </p:nvSpPr>
        <p:spPr>
          <a:xfrm>
            <a:off x="571500" y="4318000"/>
            <a:ext cx="3444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Node.js + Express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71500" y="4508500"/>
            <a:ext cx="3436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 API server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153917" y="4222750"/>
            <a:ext cx="3579813" cy="508000"/>
          </a:xfrm>
          <a:custGeom>
            <a:avLst/>
            <a:gdLst/>
            <a:ahLst/>
            <a:cxnLst/>
            <a:rect l="l" t="t" r="r" b="b"/>
            <a:pathLst>
              <a:path w="3579813" h="508000">
                <a:moveTo>
                  <a:pt x="0" y="0"/>
                </a:moveTo>
                <a:lnTo>
                  <a:pt x="3579813" y="0"/>
                </a:lnTo>
                <a:lnTo>
                  <a:pt x="3579813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32" name="Text 30"/>
          <p:cNvSpPr/>
          <p:nvPr/>
        </p:nvSpPr>
        <p:spPr>
          <a:xfrm>
            <a:off x="4249167" y="4318000"/>
            <a:ext cx="3444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TypeScript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249167" y="4508500"/>
            <a:ext cx="3436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Type-safe backend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76250" y="4826000"/>
            <a:ext cx="3579813" cy="508000"/>
          </a:xfrm>
          <a:custGeom>
            <a:avLst/>
            <a:gdLst/>
            <a:ahLst/>
            <a:cxnLst/>
            <a:rect l="l" t="t" r="r" b="b"/>
            <a:pathLst>
              <a:path w="3579813" h="508000">
                <a:moveTo>
                  <a:pt x="0" y="0"/>
                </a:moveTo>
                <a:lnTo>
                  <a:pt x="3579813" y="0"/>
                </a:lnTo>
                <a:lnTo>
                  <a:pt x="3579813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35" name="Text 33"/>
          <p:cNvSpPr/>
          <p:nvPr/>
        </p:nvSpPr>
        <p:spPr>
          <a:xfrm>
            <a:off x="571500" y="4921250"/>
            <a:ext cx="3444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JWT Auth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71500" y="5111750"/>
            <a:ext cx="3436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Token-based security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153917" y="4826000"/>
            <a:ext cx="3579813" cy="508000"/>
          </a:xfrm>
          <a:custGeom>
            <a:avLst/>
            <a:gdLst/>
            <a:ahLst/>
            <a:cxnLst/>
            <a:rect l="l" t="t" r="r" b="b"/>
            <a:pathLst>
              <a:path w="3579813" h="508000">
                <a:moveTo>
                  <a:pt x="0" y="0"/>
                </a:moveTo>
                <a:lnTo>
                  <a:pt x="3579813" y="0"/>
                </a:lnTo>
                <a:lnTo>
                  <a:pt x="3579813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38" name="Text 36"/>
          <p:cNvSpPr/>
          <p:nvPr/>
        </p:nvSpPr>
        <p:spPr>
          <a:xfrm>
            <a:off x="4249167" y="4921250"/>
            <a:ext cx="3444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Rate Limiting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249167" y="5111750"/>
            <a:ext cx="3436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protection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17500" y="5635625"/>
            <a:ext cx="7580313" cy="1889125"/>
          </a:xfrm>
          <a:custGeom>
            <a:avLst/>
            <a:gdLst/>
            <a:ahLst/>
            <a:cxnLst/>
            <a:rect l="l" t="t" r="r" b="b"/>
            <a:pathLst>
              <a:path w="7580313" h="1889125">
                <a:moveTo>
                  <a:pt x="0" y="0"/>
                </a:moveTo>
                <a:lnTo>
                  <a:pt x="7580313" y="0"/>
                </a:lnTo>
                <a:lnTo>
                  <a:pt x="7580313" y="1889125"/>
                </a:lnTo>
                <a:lnTo>
                  <a:pt x="0" y="1889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317500" y="5635625"/>
            <a:ext cx="7580313" cy="31750"/>
          </a:xfrm>
          <a:custGeom>
            <a:avLst/>
            <a:gdLst/>
            <a:ahLst/>
            <a:cxnLst/>
            <a:rect l="l" t="t" r="r" b="b"/>
            <a:pathLst>
              <a:path w="7580313" h="31750">
                <a:moveTo>
                  <a:pt x="0" y="0"/>
                </a:moveTo>
                <a:lnTo>
                  <a:pt x="7580313" y="0"/>
                </a:lnTo>
                <a:lnTo>
                  <a:pt x="7580313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47A248"/>
          </a:solidFill>
          <a:ln/>
        </p:spPr>
      </p:sp>
      <p:sp>
        <p:nvSpPr>
          <p:cNvPr id="42" name="Shape 40"/>
          <p:cNvSpPr/>
          <p:nvPr/>
        </p:nvSpPr>
        <p:spPr>
          <a:xfrm>
            <a:off x="476250" y="58102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0" y="0"/>
                </a:moveTo>
                <a:lnTo>
                  <a:pt x="317500" y="0"/>
                </a:lnTo>
                <a:lnTo>
                  <a:pt x="317500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47A248">
              <a:alpha val="1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65547" y="5889625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38906" y="63810"/>
                </a:moveTo>
                <a:cubicBezTo>
                  <a:pt x="134317" y="66849"/>
                  <a:pt x="129046" y="69298"/>
                  <a:pt x="123558" y="71251"/>
                </a:cubicBezTo>
                <a:cubicBezTo>
                  <a:pt x="108986" y="76460"/>
                  <a:pt x="89855" y="79375"/>
                  <a:pt x="69453" y="79375"/>
                </a:cubicBezTo>
                <a:cubicBezTo>
                  <a:pt x="49051" y="79375"/>
                  <a:pt x="29890" y="76429"/>
                  <a:pt x="15348" y="71251"/>
                </a:cubicBezTo>
                <a:cubicBezTo>
                  <a:pt x="9891" y="69298"/>
                  <a:pt x="4589" y="66849"/>
                  <a:pt x="0" y="63810"/>
                </a:cubicBezTo>
                <a:lnTo>
                  <a:pt x="0" y="89297"/>
                </a:lnTo>
                <a:cubicBezTo>
                  <a:pt x="0" y="103001"/>
                  <a:pt x="31099" y="114102"/>
                  <a:pt x="69453" y="114102"/>
                </a:cubicBezTo>
                <a:cubicBezTo>
                  <a:pt x="107807" y="114102"/>
                  <a:pt x="138906" y="103001"/>
                  <a:pt x="138906" y="89297"/>
                </a:cubicBezTo>
                <a:lnTo>
                  <a:pt x="138906" y="63810"/>
                </a:lnTo>
                <a:close/>
                <a:moveTo>
                  <a:pt x="138906" y="39688"/>
                </a:moveTo>
                <a:lnTo>
                  <a:pt x="138906" y="24805"/>
                </a:lnTo>
                <a:cubicBezTo>
                  <a:pt x="138906" y="11100"/>
                  <a:pt x="107807" y="0"/>
                  <a:pt x="69453" y="0"/>
                </a:cubicBezTo>
                <a:cubicBezTo>
                  <a:pt x="31099" y="0"/>
                  <a:pt x="0" y="11100"/>
                  <a:pt x="0" y="24805"/>
                </a:cubicBezTo>
                <a:lnTo>
                  <a:pt x="0" y="39688"/>
                </a:lnTo>
                <a:cubicBezTo>
                  <a:pt x="0" y="53392"/>
                  <a:pt x="31099" y="64492"/>
                  <a:pt x="69453" y="64492"/>
                </a:cubicBezTo>
                <a:cubicBezTo>
                  <a:pt x="107807" y="64492"/>
                  <a:pt x="138906" y="53392"/>
                  <a:pt x="138906" y="39688"/>
                </a:cubicBezTo>
                <a:close/>
                <a:moveTo>
                  <a:pt x="123558" y="120861"/>
                </a:moveTo>
                <a:cubicBezTo>
                  <a:pt x="109017" y="126039"/>
                  <a:pt x="89886" y="128984"/>
                  <a:pt x="69453" y="128984"/>
                </a:cubicBezTo>
                <a:cubicBezTo>
                  <a:pt x="49020" y="128984"/>
                  <a:pt x="29890" y="126039"/>
                  <a:pt x="15348" y="120861"/>
                </a:cubicBezTo>
                <a:cubicBezTo>
                  <a:pt x="9891" y="118907"/>
                  <a:pt x="4589" y="116458"/>
                  <a:pt x="0" y="113419"/>
                </a:cubicBezTo>
                <a:lnTo>
                  <a:pt x="0" y="133945"/>
                </a:lnTo>
                <a:cubicBezTo>
                  <a:pt x="0" y="147650"/>
                  <a:pt x="31099" y="158750"/>
                  <a:pt x="69453" y="158750"/>
                </a:cubicBezTo>
                <a:cubicBezTo>
                  <a:pt x="107807" y="158750"/>
                  <a:pt x="138906" y="147650"/>
                  <a:pt x="138906" y="133945"/>
                </a:cubicBezTo>
                <a:lnTo>
                  <a:pt x="138906" y="113419"/>
                </a:lnTo>
                <a:cubicBezTo>
                  <a:pt x="134317" y="116458"/>
                  <a:pt x="129046" y="118907"/>
                  <a:pt x="123558" y="120861"/>
                </a:cubicBezTo>
                <a:close/>
              </a:path>
            </a:pathLst>
          </a:custGeom>
          <a:solidFill>
            <a:srgbClr val="47A248"/>
          </a:solidFill>
          <a:ln/>
        </p:spPr>
      </p:sp>
      <p:sp>
        <p:nvSpPr>
          <p:cNvPr id="44" name="Text 42"/>
          <p:cNvSpPr/>
          <p:nvPr/>
        </p:nvSpPr>
        <p:spPr>
          <a:xfrm>
            <a:off x="889000" y="5857875"/>
            <a:ext cx="754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76250" y="6254750"/>
            <a:ext cx="3579813" cy="508000"/>
          </a:xfrm>
          <a:custGeom>
            <a:avLst/>
            <a:gdLst/>
            <a:ahLst/>
            <a:cxnLst/>
            <a:rect l="l" t="t" r="r" b="b"/>
            <a:pathLst>
              <a:path w="3579813" h="508000">
                <a:moveTo>
                  <a:pt x="0" y="0"/>
                </a:moveTo>
                <a:lnTo>
                  <a:pt x="3579813" y="0"/>
                </a:lnTo>
                <a:lnTo>
                  <a:pt x="3579813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46" name="Text 44"/>
          <p:cNvSpPr/>
          <p:nvPr/>
        </p:nvSpPr>
        <p:spPr>
          <a:xfrm>
            <a:off x="571500" y="6350000"/>
            <a:ext cx="3444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MongoDB Atlas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71500" y="6540500"/>
            <a:ext cx="3436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NoSQL database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153917" y="6254750"/>
            <a:ext cx="3579813" cy="508000"/>
          </a:xfrm>
          <a:custGeom>
            <a:avLst/>
            <a:gdLst/>
            <a:ahLst/>
            <a:cxnLst/>
            <a:rect l="l" t="t" r="r" b="b"/>
            <a:pathLst>
              <a:path w="3579813" h="508000">
                <a:moveTo>
                  <a:pt x="0" y="0"/>
                </a:moveTo>
                <a:lnTo>
                  <a:pt x="3579813" y="0"/>
                </a:lnTo>
                <a:lnTo>
                  <a:pt x="3579813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49" name="Text 47"/>
          <p:cNvSpPr/>
          <p:nvPr/>
        </p:nvSpPr>
        <p:spPr>
          <a:xfrm>
            <a:off x="4249167" y="6350000"/>
            <a:ext cx="3444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Mongoose ODM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249167" y="6540500"/>
            <a:ext cx="3436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Schema modeling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76250" y="6858000"/>
            <a:ext cx="3579813" cy="508000"/>
          </a:xfrm>
          <a:custGeom>
            <a:avLst/>
            <a:gdLst/>
            <a:ahLst/>
            <a:cxnLst/>
            <a:rect l="l" t="t" r="r" b="b"/>
            <a:pathLst>
              <a:path w="3579813" h="508000">
                <a:moveTo>
                  <a:pt x="0" y="0"/>
                </a:moveTo>
                <a:lnTo>
                  <a:pt x="3579813" y="0"/>
                </a:lnTo>
                <a:lnTo>
                  <a:pt x="3579813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52" name="Text 50"/>
          <p:cNvSpPr/>
          <p:nvPr/>
        </p:nvSpPr>
        <p:spPr>
          <a:xfrm>
            <a:off x="571500" y="6953250"/>
            <a:ext cx="3444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Redis Cache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71500" y="7143750"/>
            <a:ext cx="3436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Optional performance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153917" y="6858000"/>
            <a:ext cx="3579813" cy="508000"/>
          </a:xfrm>
          <a:custGeom>
            <a:avLst/>
            <a:gdLst/>
            <a:ahLst/>
            <a:cxnLst/>
            <a:rect l="l" t="t" r="r" b="b"/>
            <a:pathLst>
              <a:path w="3579813" h="508000">
                <a:moveTo>
                  <a:pt x="0" y="0"/>
                </a:moveTo>
                <a:lnTo>
                  <a:pt x="3579813" y="0"/>
                </a:lnTo>
                <a:lnTo>
                  <a:pt x="3579813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55" name="Text 53"/>
          <p:cNvSpPr/>
          <p:nvPr/>
        </p:nvSpPr>
        <p:spPr>
          <a:xfrm>
            <a:off x="4249167" y="6953250"/>
            <a:ext cx="3444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 Vars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249167" y="7143750"/>
            <a:ext cx="3436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configuration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085708" y="1555750"/>
            <a:ext cx="3786188" cy="4572000"/>
          </a:xfrm>
          <a:custGeom>
            <a:avLst/>
            <a:gdLst/>
            <a:ahLst/>
            <a:cxnLst/>
            <a:rect l="l" t="t" r="r" b="b"/>
            <a:pathLst>
              <a:path w="3786188" h="4572000">
                <a:moveTo>
                  <a:pt x="0" y="0"/>
                </a:moveTo>
                <a:lnTo>
                  <a:pt x="3786188" y="0"/>
                </a:lnTo>
                <a:lnTo>
                  <a:pt x="3786188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58" name="Text 56"/>
          <p:cNvSpPr/>
          <p:nvPr/>
        </p:nvSpPr>
        <p:spPr>
          <a:xfrm>
            <a:off x="8244458" y="1714500"/>
            <a:ext cx="3548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Data Flow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244458" y="20637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0"/>
                </a:moveTo>
                <a:lnTo>
                  <a:pt x="254000" y="0"/>
                </a:lnTo>
                <a:lnTo>
                  <a:pt x="25400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61DAFB"/>
          </a:solidFill>
          <a:ln/>
        </p:spPr>
      </p:sp>
      <p:sp>
        <p:nvSpPr>
          <p:cNvPr id="60" name="Text 58"/>
          <p:cNvSpPr/>
          <p:nvPr/>
        </p:nvSpPr>
        <p:spPr>
          <a:xfrm>
            <a:off x="8216677" y="2063750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593708" y="2111375"/>
            <a:ext cx="172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8F5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interacts with React frontend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9932417" y="2444750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42019" y="124668"/>
                </a:moveTo>
                <a:cubicBezTo>
                  <a:pt x="45120" y="127769"/>
                  <a:pt x="50155" y="127769"/>
                  <a:pt x="53256" y="124668"/>
                </a:cubicBezTo>
                <a:lnTo>
                  <a:pt x="92943" y="84981"/>
                </a:lnTo>
                <a:cubicBezTo>
                  <a:pt x="96044" y="81880"/>
                  <a:pt x="96044" y="76845"/>
                  <a:pt x="92943" y="73744"/>
                </a:cubicBezTo>
                <a:cubicBezTo>
                  <a:pt x="89843" y="70644"/>
                  <a:pt x="84807" y="70644"/>
                  <a:pt x="81707" y="73744"/>
                </a:cubicBezTo>
                <a:lnTo>
                  <a:pt x="55563" y="99888"/>
                </a:lnTo>
                <a:lnTo>
                  <a:pt x="55563" y="7938"/>
                </a:lnTo>
                <a:cubicBezTo>
                  <a:pt x="55563" y="3547"/>
                  <a:pt x="52015" y="0"/>
                  <a:pt x="47625" y="0"/>
                </a:cubicBezTo>
                <a:cubicBezTo>
                  <a:pt x="43235" y="0"/>
                  <a:pt x="39688" y="3547"/>
                  <a:pt x="39688" y="7938"/>
                </a:cubicBezTo>
                <a:lnTo>
                  <a:pt x="39688" y="99888"/>
                </a:lnTo>
                <a:lnTo>
                  <a:pt x="13543" y="73744"/>
                </a:lnTo>
                <a:cubicBezTo>
                  <a:pt x="10443" y="70644"/>
                  <a:pt x="5407" y="70644"/>
                  <a:pt x="2307" y="73744"/>
                </a:cubicBezTo>
                <a:cubicBezTo>
                  <a:pt x="-794" y="76845"/>
                  <a:pt x="-794" y="81880"/>
                  <a:pt x="2307" y="84981"/>
                </a:cubicBezTo>
                <a:lnTo>
                  <a:pt x="41994" y="124668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63" name="Shape 61"/>
          <p:cNvSpPr/>
          <p:nvPr/>
        </p:nvSpPr>
        <p:spPr>
          <a:xfrm>
            <a:off x="8244458" y="26987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0"/>
                </a:moveTo>
                <a:lnTo>
                  <a:pt x="254000" y="0"/>
                </a:lnTo>
                <a:lnTo>
                  <a:pt x="25400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68A063"/>
          </a:solidFill>
          <a:ln/>
        </p:spPr>
      </p:sp>
      <p:sp>
        <p:nvSpPr>
          <p:cNvPr id="64" name="Text 62"/>
          <p:cNvSpPr/>
          <p:nvPr/>
        </p:nvSpPr>
        <p:spPr>
          <a:xfrm>
            <a:off x="8216677" y="2698750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8F5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593708" y="2746375"/>
            <a:ext cx="2071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8F5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Axios sends HTTP request to Express API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9932417" y="3079750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42019" y="124668"/>
                </a:moveTo>
                <a:cubicBezTo>
                  <a:pt x="45120" y="127769"/>
                  <a:pt x="50155" y="127769"/>
                  <a:pt x="53256" y="124668"/>
                </a:cubicBezTo>
                <a:lnTo>
                  <a:pt x="92943" y="84981"/>
                </a:lnTo>
                <a:cubicBezTo>
                  <a:pt x="96044" y="81880"/>
                  <a:pt x="96044" y="76845"/>
                  <a:pt x="92943" y="73744"/>
                </a:cubicBezTo>
                <a:cubicBezTo>
                  <a:pt x="89843" y="70644"/>
                  <a:pt x="84807" y="70644"/>
                  <a:pt x="81707" y="73744"/>
                </a:cubicBezTo>
                <a:lnTo>
                  <a:pt x="55563" y="99888"/>
                </a:lnTo>
                <a:lnTo>
                  <a:pt x="55563" y="7938"/>
                </a:lnTo>
                <a:cubicBezTo>
                  <a:pt x="55563" y="3547"/>
                  <a:pt x="52015" y="0"/>
                  <a:pt x="47625" y="0"/>
                </a:cubicBezTo>
                <a:cubicBezTo>
                  <a:pt x="43235" y="0"/>
                  <a:pt x="39688" y="3547"/>
                  <a:pt x="39688" y="7938"/>
                </a:cubicBezTo>
                <a:lnTo>
                  <a:pt x="39688" y="99888"/>
                </a:lnTo>
                <a:lnTo>
                  <a:pt x="13543" y="73744"/>
                </a:lnTo>
                <a:cubicBezTo>
                  <a:pt x="10443" y="70644"/>
                  <a:pt x="5407" y="70644"/>
                  <a:pt x="2307" y="73744"/>
                </a:cubicBezTo>
                <a:cubicBezTo>
                  <a:pt x="-794" y="76845"/>
                  <a:pt x="-794" y="81880"/>
                  <a:pt x="2307" y="84981"/>
                </a:cubicBezTo>
                <a:lnTo>
                  <a:pt x="41994" y="124668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67" name="Shape 65"/>
          <p:cNvSpPr/>
          <p:nvPr/>
        </p:nvSpPr>
        <p:spPr>
          <a:xfrm>
            <a:off x="8244458" y="33337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0"/>
                </a:moveTo>
                <a:lnTo>
                  <a:pt x="254000" y="0"/>
                </a:lnTo>
                <a:lnTo>
                  <a:pt x="25400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68A063"/>
          </a:solidFill>
          <a:ln/>
        </p:spPr>
      </p:sp>
      <p:sp>
        <p:nvSpPr>
          <p:cNvPr id="68" name="Text 66"/>
          <p:cNvSpPr/>
          <p:nvPr/>
        </p:nvSpPr>
        <p:spPr>
          <a:xfrm>
            <a:off x="8216677" y="3333750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8F5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593708" y="3381375"/>
            <a:ext cx="2071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8F5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JWT middleware validates authentication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9932417" y="3714750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42019" y="124668"/>
                </a:moveTo>
                <a:cubicBezTo>
                  <a:pt x="45120" y="127769"/>
                  <a:pt x="50155" y="127769"/>
                  <a:pt x="53256" y="124668"/>
                </a:cubicBezTo>
                <a:lnTo>
                  <a:pt x="92943" y="84981"/>
                </a:lnTo>
                <a:cubicBezTo>
                  <a:pt x="96044" y="81880"/>
                  <a:pt x="96044" y="76845"/>
                  <a:pt x="92943" y="73744"/>
                </a:cubicBezTo>
                <a:cubicBezTo>
                  <a:pt x="89843" y="70644"/>
                  <a:pt x="84807" y="70644"/>
                  <a:pt x="81707" y="73744"/>
                </a:cubicBezTo>
                <a:lnTo>
                  <a:pt x="55563" y="99888"/>
                </a:lnTo>
                <a:lnTo>
                  <a:pt x="55563" y="7938"/>
                </a:lnTo>
                <a:cubicBezTo>
                  <a:pt x="55563" y="3547"/>
                  <a:pt x="52015" y="0"/>
                  <a:pt x="47625" y="0"/>
                </a:cubicBezTo>
                <a:cubicBezTo>
                  <a:pt x="43235" y="0"/>
                  <a:pt x="39688" y="3547"/>
                  <a:pt x="39688" y="7938"/>
                </a:cubicBezTo>
                <a:lnTo>
                  <a:pt x="39688" y="99888"/>
                </a:lnTo>
                <a:lnTo>
                  <a:pt x="13543" y="73744"/>
                </a:lnTo>
                <a:cubicBezTo>
                  <a:pt x="10443" y="70644"/>
                  <a:pt x="5407" y="70644"/>
                  <a:pt x="2307" y="73744"/>
                </a:cubicBezTo>
                <a:cubicBezTo>
                  <a:pt x="-794" y="76845"/>
                  <a:pt x="-794" y="81880"/>
                  <a:pt x="2307" y="84981"/>
                </a:cubicBezTo>
                <a:lnTo>
                  <a:pt x="41994" y="124668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71" name="Shape 69"/>
          <p:cNvSpPr/>
          <p:nvPr/>
        </p:nvSpPr>
        <p:spPr>
          <a:xfrm>
            <a:off x="8244458" y="39687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0"/>
                </a:moveTo>
                <a:lnTo>
                  <a:pt x="254000" y="0"/>
                </a:lnTo>
                <a:lnTo>
                  <a:pt x="25400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47A248"/>
          </a:solidFill>
          <a:ln/>
        </p:spPr>
      </p:sp>
      <p:sp>
        <p:nvSpPr>
          <p:cNvPr id="72" name="Text 70"/>
          <p:cNvSpPr/>
          <p:nvPr/>
        </p:nvSpPr>
        <p:spPr>
          <a:xfrm>
            <a:off x="8216677" y="3968750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8F5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593708" y="4016375"/>
            <a:ext cx="1484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8F5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Mongoose queries MongoDB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9932417" y="4349750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42019" y="124668"/>
                </a:moveTo>
                <a:cubicBezTo>
                  <a:pt x="45120" y="127769"/>
                  <a:pt x="50155" y="127769"/>
                  <a:pt x="53256" y="124668"/>
                </a:cubicBezTo>
                <a:lnTo>
                  <a:pt x="92943" y="84981"/>
                </a:lnTo>
                <a:cubicBezTo>
                  <a:pt x="96044" y="81880"/>
                  <a:pt x="96044" y="76845"/>
                  <a:pt x="92943" y="73744"/>
                </a:cubicBezTo>
                <a:cubicBezTo>
                  <a:pt x="89843" y="70644"/>
                  <a:pt x="84807" y="70644"/>
                  <a:pt x="81707" y="73744"/>
                </a:cubicBezTo>
                <a:lnTo>
                  <a:pt x="55563" y="99888"/>
                </a:lnTo>
                <a:lnTo>
                  <a:pt x="55563" y="7938"/>
                </a:lnTo>
                <a:cubicBezTo>
                  <a:pt x="55563" y="3547"/>
                  <a:pt x="52015" y="0"/>
                  <a:pt x="47625" y="0"/>
                </a:cubicBezTo>
                <a:cubicBezTo>
                  <a:pt x="43235" y="0"/>
                  <a:pt x="39688" y="3547"/>
                  <a:pt x="39688" y="7938"/>
                </a:cubicBezTo>
                <a:lnTo>
                  <a:pt x="39688" y="99888"/>
                </a:lnTo>
                <a:lnTo>
                  <a:pt x="13543" y="73744"/>
                </a:lnTo>
                <a:cubicBezTo>
                  <a:pt x="10443" y="70644"/>
                  <a:pt x="5407" y="70644"/>
                  <a:pt x="2307" y="73744"/>
                </a:cubicBezTo>
                <a:cubicBezTo>
                  <a:pt x="-794" y="76845"/>
                  <a:pt x="-794" y="81880"/>
                  <a:pt x="2307" y="84981"/>
                </a:cubicBezTo>
                <a:lnTo>
                  <a:pt x="41994" y="124668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75" name="Shape 73"/>
          <p:cNvSpPr/>
          <p:nvPr/>
        </p:nvSpPr>
        <p:spPr>
          <a:xfrm>
            <a:off x="8244458" y="46037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0"/>
                </a:moveTo>
                <a:lnTo>
                  <a:pt x="254000" y="0"/>
                </a:lnTo>
                <a:lnTo>
                  <a:pt x="25400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68A063"/>
          </a:solidFill>
          <a:ln/>
        </p:spPr>
      </p:sp>
      <p:sp>
        <p:nvSpPr>
          <p:cNvPr id="76" name="Text 74"/>
          <p:cNvSpPr/>
          <p:nvPr/>
        </p:nvSpPr>
        <p:spPr>
          <a:xfrm>
            <a:off x="8216677" y="4603750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8F5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8593708" y="4651375"/>
            <a:ext cx="1825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8F5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JSON response returned to frontend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8101583" y="6254750"/>
            <a:ext cx="3770313" cy="1270000"/>
          </a:xfrm>
          <a:custGeom>
            <a:avLst/>
            <a:gdLst/>
            <a:ahLst/>
            <a:cxnLst/>
            <a:rect l="l" t="t" r="r" b="b"/>
            <a:pathLst>
              <a:path w="3770313" h="1270000">
                <a:moveTo>
                  <a:pt x="0" y="0"/>
                </a:moveTo>
                <a:lnTo>
                  <a:pt x="3770313" y="0"/>
                </a:lnTo>
                <a:lnTo>
                  <a:pt x="3770313" y="1270000"/>
                </a:lnTo>
                <a:lnTo>
                  <a:pt x="0" y="1270000"/>
                </a:lnTo>
                <a:lnTo>
                  <a:pt x="0" y="0"/>
                </a:lnTo>
                <a:close/>
              </a:path>
            </a:pathLst>
          </a:custGeom>
          <a:solidFill>
            <a:srgbClr val="C8A48C">
              <a:alpha val="10196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8101583" y="6254750"/>
            <a:ext cx="31750" cy="1270000"/>
          </a:xfrm>
          <a:custGeom>
            <a:avLst/>
            <a:gdLst/>
            <a:ahLst/>
            <a:cxnLst/>
            <a:rect l="l" t="t" r="r" b="b"/>
            <a:pathLst>
              <a:path w="31750" h="1270000">
                <a:moveTo>
                  <a:pt x="0" y="0"/>
                </a:moveTo>
                <a:lnTo>
                  <a:pt x="31750" y="0"/>
                </a:lnTo>
                <a:lnTo>
                  <a:pt x="31750" y="1270000"/>
                </a:lnTo>
                <a:lnTo>
                  <a:pt x="0" y="1270000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80" name="Text 78"/>
          <p:cNvSpPr/>
          <p:nvPr/>
        </p:nvSpPr>
        <p:spPr>
          <a:xfrm>
            <a:off x="8244458" y="6381750"/>
            <a:ext cx="3571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Architecture Benefits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8267278" y="6699250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82" name="Text 80"/>
          <p:cNvSpPr/>
          <p:nvPr/>
        </p:nvSpPr>
        <p:spPr>
          <a:xfrm>
            <a:off x="8446864" y="6667500"/>
            <a:ext cx="2293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Clear separation enables parallel development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8267278" y="6889750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84" name="Text 82"/>
          <p:cNvSpPr/>
          <p:nvPr/>
        </p:nvSpPr>
        <p:spPr>
          <a:xfrm>
            <a:off x="8446864" y="6858000"/>
            <a:ext cx="1682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Each tier can scale independently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8267278" y="7080250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86" name="Text 84"/>
          <p:cNvSpPr/>
          <p:nvPr/>
        </p:nvSpPr>
        <p:spPr>
          <a:xfrm>
            <a:off x="8446864" y="7048500"/>
            <a:ext cx="1905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Easy to test and maintain components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8267278" y="7270750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88" name="Text 86"/>
          <p:cNvSpPr/>
          <p:nvPr/>
        </p:nvSpPr>
        <p:spPr>
          <a:xfrm>
            <a:off x="8446864" y="7239000"/>
            <a:ext cx="2166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can serve multiple clients (web/mobile)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116" y="359116"/>
            <a:ext cx="1153661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spc="198" kern="0" dirty="0">
                <a:solidFill>
                  <a:srgbClr val="C8A4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SPECIFICATIONS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9116" y="610498"/>
            <a:ext cx="11689237" cy="430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93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Functional Requirements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9116" y="1113261"/>
            <a:ext cx="11554568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Detailed requirements with Definition of Done (DoD) criteria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9116" y="1508289"/>
            <a:ext cx="718233" cy="35912"/>
          </a:xfrm>
          <a:custGeom>
            <a:avLst/>
            <a:gdLst/>
            <a:ahLst/>
            <a:cxnLst/>
            <a:rect l="l" t="t" r="r" b="b"/>
            <a:pathLst>
              <a:path w="718233" h="35912">
                <a:moveTo>
                  <a:pt x="0" y="0"/>
                </a:moveTo>
                <a:lnTo>
                  <a:pt x="718233" y="0"/>
                </a:lnTo>
                <a:lnTo>
                  <a:pt x="718233" y="35912"/>
                </a:lnTo>
                <a:lnTo>
                  <a:pt x="0" y="35912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6" name="Shape 4"/>
          <p:cNvSpPr/>
          <p:nvPr/>
        </p:nvSpPr>
        <p:spPr>
          <a:xfrm>
            <a:off x="359116" y="1705803"/>
            <a:ext cx="3725832" cy="1238951"/>
          </a:xfrm>
          <a:custGeom>
            <a:avLst/>
            <a:gdLst/>
            <a:ahLst/>
            <a:cxnLst/>
            <a:rect l="l" t="t" r="r" b="b"/>
            <a:pathLst>
              <a:path w="3725832" h="1238951">
                <a:moveTo>
                  <a:pt x="0" y="0"/>
                </a:moveTo>
                <a:lnTo>
                  <a:pt x="3725832" y="0"/>
                </a:lnTo>
                <a:lnTo>
                  <a:pt x="3725832" y="1238951"/>
                </a:lnTo>
                <a:lnTo>
                  <a:pt x="0" y="12389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359116" y="1705803"/>
            <a:ext cx="3725832" cy="35912"/>
          </a:xfrm>
          <a:custGeom>
            <a:avLst/>
            <a:gdLst/>
            <a:ahLst/>
            <a:cxnLst/>
            <a:rect l="l" t="t" r="r" b="b"/>
            <a:pathLst>
              <a:path w="3725832" h="35912">
                <a:moveTo>
                  <a:pt x="0" y="0"/>
                </a:moveTo>
                <a:lnTo>
                  <a:pt x="3725832" y="0"/>
                </a:lnTo>
                <a:lnTo>
                  <a:pt x="3725832" y="35912"/>
                </a:lnTo>
                <a:lnTo>
                  <a:pt x="0" y="35912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8" name="Shape 6"/>
          <p:cNvSpPr/>
          <p:nvPr/>
        </p:nvSpPr>
        <p:spPr>
          <a:xfrm>
            <a:off x="502763" y="1885361"/>
            <a:ext cx="421962" cy="215470"/>
          </a:xfrm>
          <a:custGeom>
            <a:avLst/>
            <a:gdLst/>
            <a:ahLst/>
            <a:cxnLst/>
            <a:rect l="l" t="t" r="r" b="b"/>
            <a:pathLst>
              <a:path w="421962" h="215470">
                <a:moveTo>
                  <a:pt x="0" y="0"/>
                </a:moveTo>
                <a:lnTo>
                  <a:pt x="421962" y="0"/>
                </a:lnTo>
                <a:lnTo>
                  <a:pt x="421962" y="215470"/>
                </a:lnTo>
                <a:lnTo>
                  <a:pt x="0" y="215470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9" name="Text 7"/>
          <p:cNvSpPr/>
          <p:nvPr/>
        </p:nvSpPr>
        <p:spPr>
          <a:xfrm>
            <a:off x="502763" y="1885361"/>
            <a:ext cx="475829" cy="215470"/>
          </a:xfrm>
          <a:prstGeom prst="rect">
            <a:avLst/>
          </a:prstGeom>
          <a:noFill/>
          <a:ln/>
        </p:spPr>
        <p:txBody>
          <a:bodyPr wrap="square" lIns="71823" tIns="35912" rIns="71823" bIns="35912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F8F5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FR-01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0616" y="1867405"/>
            <a:ext cx="1104283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Product Catalog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763" y="2226521"/>
            <a:ext cx="3501384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Browse products with list/grid view, category filters, and price sorting.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763" y="2657461"/>
            <a:ext cx="3492406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DoD:</a:t>
            </a:r>
            <a:pPr>
              <a:lnSpc>
                <a:spcPct val="110000"/>
              </a:lnSpc>
            </a:pPr>
            <a:r>
              <a:rPr lang="en-US" sz="848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Loads on minimum hardware spec.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32242" y="1705803"/>
            <a:ext cx="3725832" cy="1238951"/>
          </a:xfrm>
          <a:custGeom>
            <a:avLst/>
            <a:gdLst/>
            <a:ahLst/>
            <a:cxnLst/>
            <a:rect l="l" t="t" r="r" b="b"/>
            <a:pathLst>
              <a:path w="3725832" h="1238951">
                <a:moveTo>
                  <a:pt x="0" y="0"/>
                </a:moveTo>
                <a:lnTo>
                  <a:pt x="3725832" y="0"/>
                </a:lnTo>
                <a:lnTo>
                  <a:pt x="3725832" y="1238951"/>
                </a:lnTo>
                <a:lnTo>
                  <a:pt x="0" y="12389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232242" y="1705803"/>
            <a:ext cx="3725832" cy="35912"/>
          </a:xfrm>
          <a:custGeom>
            <a:avLst/>
            <a:gdLst/>
            <a:ahLst/>
            <a:cxnLst/>
            <a:rect l="l" t="t" r="r" b="b"/>
            <a:pathLst>
              <a:path w="3725832" h="35912">
                <a:moveTo>
                  <a:pt x="0" y="0"/>
                </a:moveTo>
                <a:lnTo>
                  <a:pt x="3725832" y="0"/>
                </a:lnTo>
                <a:lnTo>
                  <a:pt x="3725832" y="35912"/>
                </a:lnTo>
                <a:lnTo>
                  <a:pt x="0" y="35912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15" name="Shape 13"/>
          <p:cNvSpPr/>
          <p:nvPr/>
        </p:nvSpPr>
        <p:spPr>
          <a:xfrm>
            <a:off x="4375889" y="1885361"/>
            <a:ext cx="448895" cy="215470"/>
          </a:xfrm>
          <a:custGeom>
            <a:avLst/>
            <a:gdLst/>
            <a:ahLst/>
            <a:cxnLst/>
            <a:rect l="l" t="t" r="r" b="b"/>
            <a:pathLst>
              <a:path w="448895" h="215470">
                <a:moveTo>
                  <a:pt x="0" y="0"/>
                </a:moveTo>
                <a:lnTo>
                  <a:pt x="448895" y="0"/>
                </a:lnTo>
                <a:lnTo>
                  <a:pt x="448895" y="215470"/>
                </a:lnTo>
                <a:lnTo>
                  <a:pt x="0" y="215470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16" name="Text 14"/>
          <p:cNvSpPr/>
          <p:nvPr/>
        </p:nvSpPr>
        <p:spPr>
          <a:xfrm>
            <a:off x="4375889" y="1885361"/>
            <a:ext cx="502763" cy="215470"/>
          </a:xfrm>
          <a:prstGeom prst="rect">
            <a:avLst/>
          </a:prstGeom>
          <a:noFill/>
          <a:ln/>
        </p:spPr>
        <p:txBody>
          <a:bodyPr wrap="square" lIns="71823" tIns="35912" rIns="71823" bIns="35912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F8F5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FR-02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93241" y="1867405"/>
            <a:ext cx="1068371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Product Details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75889" y="2226521"/>
            <a:ext cx="3501384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Display key attributes, images, stock status with "Add to Cart".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75889" y="2477903"/>
            <a:ext cx="3492406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DoD:</a:t>
            </a:r>
            <a:pPr>
              <a:lnSpc>
                <a:spcPct val="110000"/>
              </a:lnSpc>
            </a:pPr>
            <a:r>
              <a:rPr lang="en-US" sz="848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Functional cart integration.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05368" y="1705803"/>
            <a:ext cx="3725832" cy="1238951"/>
          </a:xfrm>
          <a:custGeom>
            <a:avLst/>
            <a:gdLst/>
            <a:ahLst/>
            <a:cxnLst/>
            <a:rect l="l" t="t" r="r" b="b"/>
            <a:pathLst>
              <a:path w="3725832" h="1238951">
                <a:moveTo>
                  <a:pt x="0" y="0"/>
                </a:moveTo>
                <a:lnTo>
                  <a:pt x="3725832" y="0"/>
                </a:lnTo>
                <a:lnTo>
                  <a:pt x="3725832" y="1238951"/>
                </a:lnTo>
                <a:lnTo>
                  <a:pt x="0" y="12389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8105368" y="1705803"/>
            <a:ext cx="3725832" cy="35912"/>
          </a:xfrm>
          <a:custGeom>
            <a:avLst/>
            <a:gdLst/>
            <a:ahLst/>
            <a:cxnLst/>
            <a:rect l="l" t="t" r="r" b="b"/>
            <a:pathLst>
              <a:path w="3725832" h="35912">
                <a:moveTo>
                  <a:pt x="0" y="0"/>
                </a:moveTo>
                <a:lnTo>
                  <a:pt x="3725832" y="0"/>
                </a:lnTo>
                <a:lnTo>
                  <a:pt x="3725832" y="35912"/>
                </a:lnTo>
                <a:lnTo>
                  <a:pt x="0" y="35912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22" name="Shape 20"/>
          <p:cNvSpPr/>
          <p:nvPr/>
        </p:nvSpPr>
        <p:spPr>
          <a:xfrm>
            <a:off x="8249015" y="1885361"/>
            <a:ext cx="448895" cy="215470"/>
          </a:xfrm>
          <a:custGeom>
            <a:avLst/>
            <a:gdLst/>
            <a:ahLst/>
            <a:cxnLst/>
            <a:rect l="l" t="t" r="r" b="b"/>
            <a:pathLst>
              <a:path w="448895" h="215470">
                <a:moveTo>
                  <a:pt x="0" y="0"/>
                </a:moveTo>
                <a:lnTo>
                  <a:pt x="448895" y="0"/>
                </a:lnTo>
                <a:lnTo>
                  <a:pt x="448895" y="215470"/>
                </a:lnTo>
                <a:lnTo>
                  <a:pt x="0" y="215470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23" name="Text 21"/>
          <p:cNvSpPr/>
          <p:nvPr/>
        </p:nvSpPr>
        <p:spPr>
          <a:xfrm>
            <a:off x="8249015" y="1885361"/>
            <a:ext cx="502763" cy="215470"/>
          </a:xfrm>
          <a:prstGeom prst="rect">
            <a:avLst/>
          </a:prstGeom>
          <a:noFill/>
          <a:ln/>
        </p:spPr>
        <p:txBody>
          <a:bodyPr wrap="square" lIns="71823" tIns="35912" rIns="71823" bIns="35912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F8F5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FR-03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767349" y="1867405"/>
            <a:ext cx="987570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Shopping Cart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49015" y="2226521"/>
            <a:ext cx="3501384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CRUD operations in cart, persisted for logged-in users, real-time subtotal.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49015" y="2657461"/>
            <a:ext cx="3492406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DoD:</a:t>
            </a:r>
            <a:pPr>
              <a:lnSpc>
                <a:spcPct val="110000"/>
              </a:lnSpc>
            </a:pPr>
            <a:r>
              <a:rPr lang="en-US" sz="848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Cart persists across sessions.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59116" y="3106356"/>
            <a:ext cx="3725832" cy="1238951"/>
          </a:xfrm>
          <a:custGeom>
            <a:avLst/>
            <a:gdLst/>
            <a:ahLst/>
            <a:cxnLst/>
            <a:rect l="l" t="t" r="r" b="b"/>
            <a:pathLst>
              <a:path w="3725832" h="1238951">
                <a:moveTo>
                  <a:pt x="0" y="0"/>
                </a:moveTo>
                <a:lnTo>
                  <a:pt x="3725832" y="0"/>
                </a:lnTo>
                <a:lnTo>
                  <a:pt x="3725832" y="1238951"/>
                </a:lnTo>
                <a:lnTo>
                  <a:pt x="0" y="12389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359116" y="3106356"/>
            <a:ext cx="3725832" cy="35912"/>
          </a:xfrm>
          <a:custGeom>
            <a:avLst/>
            <a:gdLst/>
            <a:ahLst/>
            <a:cxnLst/>
            <a:rect l="l" t="t" r="r" b="b"/>
            <a:pathLst>
              <a:path w="3725832" h="35912">
                <a:moveTo>
                  <a:pt x="0" y="0"/>
                </a:moveTo>
                <a:lnTo>
                  <a:pt x="3725832" y="0"/>
                </a:lnTo>
                <a:lnTo>
                  <a:pt x="3725832" y="35912"/>
                </a:lnTo>
                <a:lnTo>
                  <a:pt x="0" y="35912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29" name="Shape 27"/>
          <p:cNvSpPr/>
          <p:nvPr/>
        </p:nvSpPr>
        <p:spPr>
          <a:xfrm>
            <a:off x="502763" y="3285915"/>
            <a:ext cx="448895" cy="215470"/>
          </a:xfrm>
          <a:custGeom>
            <a:avLst/>
            <a:gdLst/>
            <a:ahLst/>
            <a:cxnLst/>
            <a:rect l="l" t="t" r="r" b="b"/>
            <a:pathLst>
              <a:path w="448895" h="215470">
                <a:moveTo>
                  <a:pt x="0" y="0"/>
                </a:moveTo>
                <a:lnTo>
                  <a:pt x="448895" y="0"/>
                </a:lnTo>
                <a:lnTo>
                  <a:pt x="448895" y="215470"/>
                </a:lnTo>
                <a:lnTo>
                  <a:pt x="0" y="215470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30" name="Text 28"/>
          <p:cNvSpPr/>
          <p:nvPr/>
        </p:nvSpPr>
        <p:spPr>
          <a:xfrm>
            <a:off x="502763" y="3285915"/>
            <a:ext cx="502763" cy="215470"/>
          </a:xfrm>
          <a:prstGeom prst="rect">
            <a:avLst/>
          </a:prstGeom>
          <a:noFill/>
          <a:ln/>
        </p:spPr>
        <p:txBody>
          <a:bodyPr wrap="square" lIns="71823" tIns="35912" rIns="71823" bIns="35912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F8F5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FR-04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21097" y="3267959"/>
            <a:ext cx="1140194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Secure Checkout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2763" y="3627075"/>
            <a:ext cx="3501384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5-step flow with JWT session management. Inventory updates on success.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2763" y="4058015"/>
            <a:ext cx="3492406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DoD:</a:t>
            </a:r>
            <a:pPr>
              <a:lnSpc>
                <a:spcPct val="110000"/>
              </a:lnSpc>
            </a:pPr>
            <a:r>
              <a:rPr lang="en-US" sz="848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Order created, stock deducted.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232242" y="3106356"/>
            <a:ext cx="3725832" cy="1238951"/>
          </a:xfrm>
          <a:custGeom>
            <a:avLst/>
            <a:gdLst/>
            <a:ahLst/>
            <a:cxnLst/>
            <a:rect l="l" t="t" r="r" b="b"/>
            <a:pathLst>
              <a:path w="3725832" h="1238951">
                <a:moveTo>
                  <a:pt x="0" y="0"/>
                </a:moveTo>
                <a:lnTo>
                  <a:pt x="3725832" y="0"/>
                </a:lnTo>
                <a:lnTo>
                  <a:pt x="3725832" y="1238951"/>
                </a:lnTo>
                <a:lnTo>
                  <a:pt x="0" y="12389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232242" y="3106356"/>
            <a:ext cx="3725832" cy="35912"/>
          </a:xfrm>
          <a:custGeom>
            <a:avLst/>
            <a:gdLst/>
            <a:ahLst/>
            <a:cxnLst/>
            <a:rect l="l" t="t" r="r" b="b"/>
            <a:pathLst>
              <a:path w="3725832" h="35912">
                <a:moveTo>
                  <a:pt x="0" y="0"/>
                </a:moveTo>
                <a:lnTo>
                  <a:pt x="3725832" y="0"/>
                </a:lnTo>
                <a:lnTo>
                  <a:pt x="3725832" y="35912"/>
                </a:lnTo>
                <a:lnTo>
                  <a:pt x="0" y="35912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36" name="Shape 34"/>
          <p:cNvSpPr/>
          <p:nvPr/>
        </p:nvSpPr>
        <p:spPr>
          <a:xfrm>
            <a:off x="4375889" y="3285915"/>
            <a:ext cx="448895" cy="215470"/>
          </a:xfrm>
          <a:custGeom>
            <a:avLst/>
            <a:gdLst/>
            <a:ahLst/>
            <a:cxnLst/>
            <a:rect l="l" t="t" r="r" b="b"/>
            <a:pathLst>
              <a:path w="448895" h="215470">
                <a:moveTo>
                  <a:pt x="0" y="0"/>
                </a:moveTo>
                <a:lnTo>
                  <a:pt x="448895" y="0"/>
                </a:lnTo>
                <a:lnTo>
                  <a:pt x="448895" y="215470"/>
                </a:lnTo>
                <a:lnTo>
                  <a:pt x="0" y="215470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37" name="Text 35"/>
          <p:cNvSpPr/>
          <p:nvPr/>
        </p:nvSpPr>
        <p:spPr>
          <a:xfrm>
            <a:off x="4375889" y="3285915"/>
            <a:ext cx="502763" cy="215470"/>
          </a:xfrm>
          <a:prstGeom prst="rect">
            <a:avLst/>
          </a:prstGeom>
          <a:noFill/>
          <a:ln/>
        </p:spPr>
        <p:txBody>
          <a:bodyPr wrap="square" lIns="71823" tIns="35912" rIns="71823" bIns="35912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F8F5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FR-05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892820" y="3267959"/>
            <a:ext cx="709255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User Auth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375889" y="3627075"/>
            <a:ext cx="3501384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registration &amp; login with password handling, JWT, session mgmt.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375889" y="4058015"/>
            <a:ext cx="3492406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DoD:</a:t>
            </a:r>
            <a:pPr>
              <a:lnSpc>
                <a:spcPct val="110000"/>
              </a:lnSpc>
            </a:pPr>
            <a:r>
              <a:rPr lang="en-US" sz="848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Tokens expire in 24h.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05368" y="3106356"/>
            <a:ext cx="3725832" cy="1238951"/>
          </a:xfrm>
          <a:custGeom>
            <a:avLst/>
            <a:gdLst/>
            <a:ahLst/>
            <a:cxnLst/>
            <a:rect l="l" t="t" r="r" b="b"/>
            <a:pathLst>
              <a:path w="3725832" h="1238951">
                <a:moveTo>
                  <a:pt x="0" y="0"/>
                </a:moveTo>
                <a:lnTo>
                  <a:pt x="3725832" y="0"/>
                </a:lnTo>
                <a:lnTo>
                  <a:pt x="3725832" y="1238951"/>
                </a:lnTo>
                <a:lnTo>
                  <a:pt x="0" y="12389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8105368" y="3106356"/>
            <a:ext cx="3725832" cy="35912"/>
          </a:xfrm>
          <a:custGeom>
            <a:avLst/>
            <a:gdLst/>
            <a:ahLst/>
            <a:cxnLst/>
            <a:rect l="l" t="t" r="r" b="b"/>
            <a:pathLst>
              <a:path w="3725832" h="35912">
                <a:moveTo>
                  <a:pt x="0" y="0"/>
                </a:moveTo>
                <a:lnTo>
                  <a:pt x="3725832" y="0"/>
                </a:lnTo>
                <a:lnTo>
                  <a:pt x="3725832" y="35912"/>
                </a:lnTo>
                <a:lnTo>
                  <a:pt x="0" y="35912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43" name="Shape 41"/>
          <p:cNvSpPr/>
          <p:nvPr/>
        </p:nvSpPr>
        <p:spPr>
          <a:xfrm>
            <a:off x="8249015" y="3285915"/>
            <a:ext cx="448895" cy="215470"/>
          </a:xfrm>
          <a:custGeom>
            <a:avLst/>
            <a:gdLst/>
            <a:ahLst/>
            <a:cxnLst/>
            <a:rect l="l" t="t" r="r" b="b"/>
            <a:pathLst>
              <a:path w="448895" h="215470">
                <a:moveTo>
                  <a:pt x="0" y="0"/>
                </a:moveTo>
                <a:lnTo>
                  <a:pt x="448895" y="0"/>
                </a:lnTo>
                <a:lnTo>
                  <a:pt x="448895" y="215470"/>
                </a:lnTo>
                <a:lnTo>
                  <a:pt x="0" y="215470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44" name="Text 42"/>
          <p:cNvSpPr/>
          <p:nvPr/>
        </p:nvSpPr>
        <p:spPr>
          <a:xfrm>
            <a:off x="8249015" y="3285915"/>
            <a:ext cx="502763" cy="215470"/>
          </a:xfrm>
          <a:prstGeom prst="rect">
            <a:avLst/>
          </a:prstGeom>
          <a:noFill/>
          <a:ln/>
        </p:spPr>
        <p:txBody>
          <a:bodyPr wrap="square" lIns="71823" tIns="35912" rIns="71823" bIns="35912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F8F5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FR-06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768190" y="3267959"/>
            <a:ext cx="834946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User Profile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249015" y="3627075"/>
            <a:ext cx="3501384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 name, email, shipping addresses. Type safety enforced.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249015" y="4058015"/>
            <a:ext cx="3492406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DoD:</a:t>
            </a:r>
            <a:pPr>
              <a:lnSpc>
                <a:spcPct val="110000"/>
              </a:lnSpc>
            </a:pPr>
            <a:r>
              <a:rPr lang="en-US" sz="848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Validation on all fields.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59116" y="4506910"/>
            <a:ext cx="3725832" cy="1059393"/>
          </a:xfrm>
          <a:custGeom>
            <a:avLst/>
            <a:gdLst/>
            <a:ahLst/>
            <a:cxnLst/>
            <a:rect l="l" t="t" r="r" b="b"/>
            <a:pathLst>
              <a:path w="3725832" h="1059393">
                <a:moveTo>
                  <a:pt x="0" y="0"/>
                </a:moveTo>
                <a:lnTo>
                  <a:pt x="3725832" y="0"/>
                </a:lnTo>
                <a:lnTo>
                  <a:pt x="3725832" y="1059393"/>
                </a:lnTo>
                <a:lnTo>
                  <a:pt x="0" y="1059393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49" name="Shape 47"/>
          <p:cNvSpPr/>
          <p:nvPr/>
        </p:nvSpPr>
        <p:spPr>
          <a:xfrm>
            <a:off x="359116" y="4506910"/>
            <a:ext cx="3725832" cy="35912"/>
          </a:xfrm>
          <a:custGeom>
            <a:avLst/>
            <a:gdLst/>
            <a:ahLst/>
            <a:cxnLst/>
            <a:rect l="l" t="t" r="r" b="b"/>
            <a:pathLst>
              <a:path w="3725832" h="35912">
                <a:moveTo>
                  <a:pt x="0" y="0"/>
                </a:moveTo>
                <a:lnTo>
                  <a:pt x="3725832" y="0"/>
                </a:lnTo>
                <a:lnTo>
                  <a:pt x="3725832" y="35912"/>
                </a:lnTo>
                <a:lnTo>
                  <a:pt x="0" y="35912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50" name="Shape 48"/>
          <p:cNvSpPr/>
          <p:nvPr/>
        </p:nvSpPr>
        <p:spPr>
          <a:xfrm>
            <a:off x="502763" y="4686468"/>
            <a:ext cx="448895" cy="215470"/>
          </a:xfrm>
          <a:custGeom>
            <a:avLst/>
            <a:gdLst/>
            <a:ahLst/>
            <a:cxnLst/>
            <a:rect l="l" t="t" r="r" b="b"/>
            <a:pathLst>
              <a:path w="448895" h="215470">
                <a:moveTo>
                  <a:pt x="0" y="0"/>
                </a:moveTo>
                <a:lnTo>
                  <a:pt x="448895" y="0"/>
                </a:lnTo>
                <a:lnTo>
                  <a:pt x="448895" y="215470"/>
                </a:lnTo>
                <a:lnTo>
                  <a:pt x="0" y="215470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51" name="Text 49"/>
          <p:cNvSpPr/>
          <p:nvPr/>
        </p:nvSpPr>
        <p:spPr>
          <a:xfrm>
            <a:off x="502763" y="4686468"/>
            <a:ext cx="502763" cy="215470"/>
          </a:xfrm>
          <a:prstGeom prst="rect">
            <a:avLst/>
          </a:prstGeom>
          <a:noFill/>
          <a:ln/>
        </p:spPr>
        <p:txBody>
          <a:bodyPr wrap="square" lIns="71823" tIns="35912" rIns="71823" bIns="35912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FR-08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23762" y="4668513"/>
            <a:ext cx="960636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Admin Access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02763" y="5027629"/>
            <a:ext cx="3501384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F8F5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 route protection via role-based middleware.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02763" y="5279010"/>
            <a:ext cx="3492406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F8F5F2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DoD:</a:t>
            </a:r>
            <a:pPr>
              <a:lnSpc>
                <a:spcPct val="110000"/>
              </a:lnSpc>
            </a:pPr>
            <a:r>
              <a:rPr lang="en-US" sz="848" dirty="0">
                <a:solidFill>
                  <a:srgbClr val="F8F5F2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Non-admins blocked.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232242" y="4506910"/>
            <a:ext cx="3725832" cy="1059393"/>
          </a:xfrm>
          <a:custGeom>
            <a:avLst/>
            <a:gdLst/>
            <a:ahLst/>
            <a:cxnLst/>
            <a:rect l="l" t="t" r="r" b="b"/>
            <a:pathLst>
              <a:path w="3725832" h="1059393">
                <a:moveTo>
                  <a:pt x="0" y="0"/>
                </a:moveTo>
                <a:lnTo>
                  <a:pt x="3725832" y="0"/>
                </a:lnTo>
                <a:lnTo>
                  <a:pt x="3725832" y="1059393"/>
                </a:lnTo>
                <a:lnTo>
                  <a:pt x="0" y="1059393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56" name="Shape 54"/>
          <p:cNvSpPr/>
          <p:nvPr/>
        </p:nvSpPr>
        <p:spPr>
          <a:xfrm>
            <a:off x="4232242" y="4506910"/>
            <a:ext cx="3725832" cy="35912"/>
          </a:xfrm>
          <a:custGeom>
            <a:avLst/>
            <a:gdLst/>
            <a:ahLst/>
            <a:cxnLst/>
            <a:rect l="l" t="t" r="r" b="b"/>
            <a:pathLst>
              <a:path w="3725832" h="35912">
                <a:moveTo>
                  <a:pt x="0" y="0"/>
                </a:moveTo>
                <a:lnTo>
                  <a:pt x="3725832" y="0"/>
                </a:lnTo>
                <a:lnTo>
                  <a:pt x="3725832" y="35912"/>
                </a:lnTo>
                <a:lnTo>
                  <a:pt x="0" y="35912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57" name="Shape 55"/>
          <p:cNvSpPr/>
          <p:nvPr/>
        </p:nvSpPr>
        <p:spPr>
          <a:xfrm>
            <a:off x="4375889" y="4686468"/>
            <a:ext cx="448895" cy="215470"/>
          </a:xfrm>
          <a:custGeom>
            <a:avLst/>
            <a:gdLst/>
            <a:ahLst/>
            <a:cxnLst/>
            <a:rect l="l" t="t" r="r" b="b"/>
            <a:pathLst>
              <a:path w="448895" h="215470">
                <a:moveTo>
                  <a:pt x="0" y="0"/>
                </a:moveTo>
                <a:lnTo>
                  <a:pt x="448895" y="0"/>
                </a:lnTo>
                <a:lnTo>
                  <a:pt x="448895" y="215470"/>
                </a:lnTo>
                <a:lnTo>
                  <a:pt x="0" y="215470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58" name="Text 56"/>
          <p:cNvSpPr/>
          <p:nvPr/>
        </p:nvSpPr>
        <p:spPr>
          <a:xfrm>
            <a:off x="4375889" y="4686468"/>
            <a:ext cx="502763" cy="215470"/>
          </a:xfrm>
          <a:prstGeom prst="rect">
            <a:avLst/>
          </a:prstGeom>
          <a:noFill/>
          <a:ln/>
        </p:spPr>
        <p:txBody>
          <a:bodyPr wrap="square" lIns="71823" tIns="35912" rIns="71823" bIns="35912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FR-09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4895064" y="4668513"/>
            <a:ext cx="1014504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Product Mgmt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4375889" y="5027629"/>
            <a:ext cx="3501384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F8F5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product lifecycle management with image upload.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375889" y="5279010"/>
            <a:ext cx="3492406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F8F5F2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DoD:</a:t>
            </a:r>
            <a:pPr>
              <a:lnSpc>
                <a:spcPct val="110000"/>
              </a:lnSpc>
            </a:pPr>
            <a:r>
              <a:rPr lang="en-US" sz="848" dirty="0">
                <a:solidFill>
                  <a:srgbClr val="F8F5F2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CRUD operations functional.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105368" y="4506910"/>
            <a:ext cx="3725832" cy="1059393"/>
          </a:xfrm>
          <a:custGeom>
            <a:avLst/>
            <a:gdLst/>
            <a:ahLst/>
            <a:cxnLst/>
            <a:rect l="l" t="t" r="r" b="b"/>
            <a:pathLst>
              <a:path w="3725832" h="1059393">
                <a:moveTo>
                  <a:pt x="0" y="0"/>
                </a:moveTo>
                <a:lnTo>
                  <a:pt x="3725832" y="0"/>
                </a:lnTo>
                <a:lnTo>
                  <a:pt x="3725832" y="1059393"/>
                </a:lnTo>
                <a:lnTo>
                  <a:pt x="0" y="1059393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63" name="Shape 61"/>
          <p:cNvSpPr/>
          <p:nvPr/>
        </p:nvSpPr>
        <p:spPr>
          <a:xfrm>
            <a:off x="8105368" y="4506910"/>
            <a:ext cx="3725832" cy="35912"/>
          </a:xfrm>
          <a:custGeom>
            <a:avLst/>
            <a:gdLst/>
            <a:ahLst/>
            <a:cxnLst/>
            <a:rect l="l" t="t" r="r" b="b"/>
            <a:pathLst>
              <a:path w="3725832" h="35912">
                <a:moveTo>
                  <a:pt x="0" y="0"/>
                </a:moveTo>
                <a:lnTo>
                  <a:pt x="3725832" y="0"/>
                </a:lnTo>
                <a:lnTo>
                  <a:pt x="3725832" y="35912"/>
                </a:lnTo>
                <a:lnTo>
                  <a:pt x="0" y="35912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64" name="Shape 62"/>
          <p:cNvSpPr/>
          <p:nvPr/>
        </p:nvSpPr>
        <p:spPr>
          <a:xfrm>
            <a:off x="8249015" y="4686468"/>
            <a:ext cx="404006" cy="215470"/>
          </a:xfrm>
          <a:custGeom>
            <a:avLst/>
            <a:gdLst/>
            <a:ahLst/>
            <a:cxnLst/>
            <a:rect l="l" t="t" r="r" b="b"/>
            <a:pathLst>
              <a:path w="404006" h="215470">
                <a:moveTo>
                  <a:pt x="0" y="0"/>
                </a:moveTo>
                <a:lnTo>
                  <a:pt x="404006" y="0"/>
                </a:lnTo>
                <a:lnTo>
                  <a:pt x="404006" y="215470"/>
                </a:lnTo>
                <a:lnTo>
                  <a:pt x="0" y="215470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65" name="Text 63"/>
          <p:cNvSpPr/>
          <p:nvPr/>
        </p:nvSpPr>
        <p:spPr>
          <a:xfrm>
            <a:off x="8249015" y="4686468"/>
            <a:ext cx="457873" cy="215470"/>
          </a:xfrm>
          <a:prstGeom prst="rect">
            <a:avLst/>
          </a:prstGeom>
          <a:noFill/>
          <a:ln/>
        </p:spPr>
        <p:txBody>
          <a:bodyPr wrap="square" lIns="71823" tIns="35912" rIns="71823" bIns="35912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FR-11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721337" y="4668513"/>
            <a:ext cx="861879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Order Mgmt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249015" y="5027629"/>
            <a:ext cx="3501384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F8F5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View all orders, update status (reflected in customer view).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249015" y="5279010"/>
            <a:ext cx="3492406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F8F5F2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DoD:</a:t>
            </a:r>
            <a:pPr>
              <a:lnSpc>
                <a:spcPct val="110000"/>
              </a:lnSpc>
            </a:pPr>
            <a:r>
              <a:rPr lang="en-US" sz="848" dirty="0">
                <a:solidFill>
                  <a:srgbClr val="F8F5F2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Status changes sync.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377072" y="5709950"/>
            <a:ext cx="11455811" cy="969614"/>
          </a:xfrm>
          <a:custGeom>
            <a:avLst/>
            <a:gdLst/>
            <a:ahLst/>
            <a:cxnLst/>
            <a:rect l="l" t="t" r="r" b="b"/>
            <a:pathLst>
              <a:path w="11455811" h="969614">
                <a:moveTo>
                  <a:pt x="0" y="0"/>
                </a:moveTo>
                <a:lnTo>
                  <a:pt x="11455811" y="0"/>
                </a:lnTo>
                <a:lnTo>
                  <a:pt x="11455811" y="969614"/>
                </a:lnTo>
                <a:lnTo>
                  <a:pt x="0" y="969614"/>
                </a:lnTo>
                <a:lnTo>
                  <a:pt x="0" y="0"/>
                </a:lnTo>
                <a:close/>
              </a:path>
            </a:pathLst>
          </a:custGeom>
          <a:solidFill>
            <a:srgbClr val="C8A48C">
              <a:alpha val="10196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77072" y="5709950"/>
            <a:ext cx="35912" cy="969614"/>
          </a:xfrm>
          <a:custGeom>
            <a:avLst/>
            <a:gdLst/>
            <a:ahLst/>
            <a:cxnLst/>
            <a:rect l="l" t="t" r="r" b="b"/>
            <a:pathLst>
              <a:path w="35912" h="969614">
                <a:moveTo>
                  <a:pt x="0" y="0"/>
                </a:moveTo>
                <a:lnTo>
                  <a:pt x="35912" y="0"/>
                </a:lnTo>
                <a:lnTo>
                  <a:pt x="35912" y="969614"/>
                </a:lnTo>
                <a:lnTo>
                  <a:pt x="0" y="969614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71" name="Shape 69"/>
          <p:cNvSpPr/>
          <p:nvPr/>
        </p:nvSpPr>
        <p:spPr>
          <a:xfrm>
            <a:off x="579075" y="5853596"/>
            <a:ext cx="161602" cy="215470"/>
          </a:xfrm>
          <a:custGeom>
            <a:avLst/>
            <a:gdLst/>
            <a:ahLst/>
            <a:cxnLst/>
            <a:rect l="l" t="t" r="r" b="b"/>
            <a:pathLst>
              <a:path w="161602" h="215470">
                <a:moveTo>
                  <a:pt x="131049" y="13467"/>
                </a:moveTo>
                <a:lnTo>
                  <a:pt x="134669" y="13467"/>
                </a:lnTo>
                <a:cubicBezTo>
                  <a:pt x="149524" y="13467"/>
                  <a:pt x="161602" y="25545"/>
                  <a:pt x="161602" y="40401"/>
                </a:cubicBezTo>
                <a:lnTo>
                  <a:pt x="161602" y="188536"/>
                </a:lnTo>
                <a:cubicBezTo>
                  <a:pt x="161602" y="203392"/>
                  <a:pt x="149524" y="215470"/>
                  <a:pt x="134669" y="215470"/>
                </a:cubicBezTo>
                <a:lnTo>
                  <a:pt x="26934" y="215470"/>
                </a:lnTo>
                <a:cubicBezTo>
                  <a:pt x="12078" y="215470"/>
                  <a:pt x="0" y="203392"/>
                  <a:pt x="0" y="188536"/>
                </a:cubicBezTo>
                <a:lnTo>
                  <a:pt x="0" y="40401"/>
                </a:lnTo>
                <a:cubicBezTo>
                  <a:pt x="0" y="25545"/>
                  <a:pt x="12078" y="13467"/>
                  <a:pt x="26934" y="13467"/>
                </a:cubicBezTo>
                <a:lnTo>
                  <a:pt x="30553" y="13467"/>
                </a:lnTo>
                <a:cubicBezTo>
                  <a:pt x="35182" y="5429"/>
                  <a:pt x="43894" y="0"/>
                  <a:pt x="53867" y="0"/>
                </a:cubicBezTo>
                <a:lnTo>
                  <a:pt x="107735" y="0"/>
                </a:lnTo>
                <a:cubicBezTo>
                  <a:pt x="117709" y="0"/>
                  <a:pt x="126420" y="5429"/>
                  <a:pt x="131049" y="13467"/>
                </a:cubicBezTo>
                <a:close/>
                <a:moveTo>
                  <a:pt x="104368" y="47134"/>
                </a:moveTo>
                <a:cubicBezTo>
                  <a:pt x="109965" y="47134"/>
                  <a:pt x="114468" y="42631"/>
                  <a:pt x="114468" y="37034"/>
                </a:cubicBezTo>
                <a:cubicBezTo>
                  <a:pt x="114468" y="31437"/>
                  <a:pt x="109965" y="26934"/>
                  <a:pt x="104368" y="26934"/>
                </a:cubicBezTo>
                <a:lnTo>
                  <a:pt x="57234" y="26934"/>
                </a:lnTo>
                <a:cubicBezTo>
                  <a:pt x="51637" y="26934"/>
                  <a:pt x="47134" y="31437"/>
                  <a:pt x="47134" y="37034"/>
                </a:cubicBezTo>
                <a:cubicBezTo>
                  <a:pt x="47134" y="42631"/>
                  <a:pt x="51637" y="47134"/>
                  <a:pt x="57234" y="47134"/>
                </a:cubicBezTo>
                <a:lnTo>
                  <a:pt x="104368" y="47134"/>
                </a:lnTo>
                <a:close/>
                <a:moveTo>
                  <a:pt x="116320" y="109713"/>
                </a:moveTo>
                <a:cubicBezTo>
                  <a:pt x="119266" y="104999"/>
                  <a:pt x="117835" y="98771"/>
                  <a:pt x="113122" y="95783"/>
                </a:cubicBezTo>
                <a:cubicBezTo>
                  <a:pt x="108408" y="92795"/>
                  <a:pt x="102180" y="94268"/>
                  <a:pt x="99192" y="98981"/>
                </a:cubicBezTo>
                <a:lnTo>
                  <a:pt x="73352" y="140350"/>
                </a:lnTo>
                <a:lnTo>
                  <a:pt x="61990" y="125200"/>
                </a:lnTo>
                <a:cubicBezTo>
                  <a:pt x="58623" y="120739"/>
                  <a:pt x="52310" y="119813"/>
                  <a:pt x="47849" y="123180"/>
                </a:cubicBezTo>
                <a:cubicBezTo>
                  <a:pt x="43389" y="126546"/>
                  <a:pt x="42463" y="132859"/>
                  <a:pt x="45829" y="137320"/>
                </a:cubicBezTo>
                <a:lnTo>
                  <a:pt x="66030" y="164254"/>
                </a:lnTo>
                <a:cubicBezTo>
                  <a:pt x="68008" y="166905"/>
                  <a:pt x="71206" y="168420"/>
                  <a:pt x="74531" y="168294"/>
                </a:cubicBezTo>
                <a:cubicBezTo>
                  <a:pt x="77855" y="168167"/>
                  <a:pt x="80885" y="166400"/>
                  <a:pt x="82653" y="163538"/>
                </a:cubicBezTo>
                <a:lnTo>
                  <a:pt x="116320" y="109671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72" name="Text 70"/>
          <p:cNvSpPr/>
          <p:nvPr/>
        </p:nvSpPr>
        <p:spPr>
          <a:xfrm>
            <a:off x="886849" y="5853596"/>
            <a:ext cx="10881225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Definition of Done (DoD)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86849" y="6176801"/>
            <a:ext cx="10863270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requirements must meet: ① Implemented per spec ② Tested with no critical bugs ③ Integrated with existing components ④ Documented with minimal notes ⑤ Code reviewed &amp; merged ⑥ Accepted by Product Owner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274" y="341274"/>
            <a:ext cx="11569176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spc="188" kern="0" dirty="0">
                <a:solidFill>
                  <a:srgbClr val="C8A4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FRAMEWORK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1274" y="580165"/>
            <a:ext cx="11714217" cy="409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25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Security Implementation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1274" y="1057948"/>
            <a:ext cx="11586239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security strategy protecting customer data and system integrity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1274" y="1433349"/>
            <a:ext cx="682547" cy="34127"/>
          </a:xfrm>
          <a:custGeom>
            <a:avLst/>
            <a:gdLst/>
            <a:ahLst/>
            <a:cxnLst/>
            <a:rect l="l" t="t" r="r" b="b"/>
            <a:pathLst>
              <a:path w="682547" h="34127">
                <a:moveTo>
                  <a:pt x="0" y="0"/>
                </a:moveTo>
                <a:lnTo>
                  <a:pt x="682547" y="0"/>
                </a:lnTo>
                <a:lnTo>
                  <a:pt x="682547" y="34127"/>
                </a:lnTo>
                <a:lnTo>
                  <a:pt x="0" y="34127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6" name="Shape 4"/>
          <p:cNvSpPr/>
          <p:nvPr/>
        </p:nvSpPr>
        <p:spPr>
          <a:xfrm>
            <a:off x="358337" y="1603986"/>
            <a:ext cx="5673674" cy="1911132"/>
          </a:xfrm>
          <a:custGeom>
            <a:avLst/>
            <a:gdLst/>
            <a:ahLst/>
            <a:cxnLst/>
            <a:rect l="l" t="t" r="r" b="b"/>
            <a:pathLst>
              <a:path w="5673674" h="1911132">
                <a:moveTo>
                  <a:pt x="0" y="0"/>
                </a:moveTo>
                <a:lnTo>
                  <a:pt x="5673674" y="0"/>
                </a:lnTo>
                <a:lnTo>
                  <a:pt x="5673674" y="1911132"/>
                </a:lnTo>
                <a:lnTo>
                  <a:pt x="0" y="19111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358337" y="1603986"/>
            <a:ext cx="34127" cy="1911132"/>
          </a:xfrm>
          <a:custGeom>
            <a:avLst/>
            <a:gdLst/>
            <a:ahLst/>
            <a:cxnLst/>
            <a:rect l="l" t="t" r="r" b="b"/>
            <a:pathLst>
              <a:path w="34127" h="1911132">
                <a:moveTo>
                  <a:pt x="0" y="0"/>
                </a:moveTo>
                <a:lnTo>
                  <a:pt x="34127" y="0"/>
                </a:lnTo>
                <a:lnTo>
                  <a:pt x="34127" y="1911132"/>
                </a:lnTo>
                <a:lnTo>
                  <a:pt x="0" y="1911132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8" name="Shape 6"/>
          <p:cNvSpPr/>
          <p:nvPr/>
        </p:nvSpPr>
        <p:spPr>
          <a:xfrm>
            <a:off x="546038" y="1774623"/>
            <a:ext cx="409528" cy="409528"/>
          </a:xfrm>
          <a:custGeom>
            <a:avLst/>
            <a:gdLst/>
            <a:ahLst/>
            <a:cxnLst/>
            <a:rect l="l" t="t" r="r" b="b"/>
            <a:pathLst>
              <a:path w="409528" h="409528">
                <a:moveTo>
                  <a:pt x="0" y="0"/>
                </a:moveTo>
                <a:lnTo>
                  <a:pt x="409528" y="0"/>
                </a:lnTo>
                <a:lnTo>
                  <a:pt x="409528" y="409528"/>
                </a:lnTo>
                <a:lnTo>
                  <a:pt x="0" y="409528"/>
                </a:lnTo>
                <a:lnTo>
                  <a:pt x="0" y="0"/>
                </a:lnTo>
                <a:close/>
              </a:path>
            </a:pathLst>
          </a:custGeom>
          <a:solidFill>
            <a:srgbClr val="C8A48C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5484" y="1894069"/>
            <a:ext cx="170637" cy="170637"/>
          </a:xfrm>
          <a:custGeom>
            <a:avLst/>
            <a:gdLst/>
            <a:ahLst/>
            <a:cxnLst/>
            <a:rect l="l" t="t" r="r" b="b"/>
            <a:pathLst>
              <a:path w="170637" h="170637">
                <a:moveTo>
                  <a:pt x="111980" y="117313"/>
                </a:moveTo>
                <a:cubicBezTo>
                  <a:pt x="144375" y="117313"/>
                  <a:pt x="170637" y="91051"/>
                  <a:pt x="170637" y="58656"/>
                </a:cubicBezTo>
                <a:cubicBezTo>
                  <a:pt x="170637" y="26262"/>
                  <a:pt x="144375" y="0"/>
                  <a:pt x="111980" y="0"/>
                </a:cubicBezTo>
                <a:cubicBezTo>
                  <a:pt x="79586" y="0"/>
                  <a:pt x="53324" y="26262"/>
                  <a:pt x="53324" y="58656"/>
                </a:cubicBezTo>
                <a:cubicBezTo>
                  <a:pt x="53324" y="64889"/>
                  <a:pt x="54291" y="70921"/>
                  <a:pt x="56090" y="76553"/>
                </a:cubicBezTo>
                <a:lnTo>
                  <a:pt x="2333" y="130311"/>
                </a:lnTo>
                <a:cubicBezTo>
                  <a:pt x="833" y="131810"/>
                  <a:pt x="0" y="133843"/>
                  <a:pt x="0" y="135976"/>
                </a:cubicBezTo>
                <a:lnTo>
                  <a:pt x="0" y="162638"/>
                </a:lnTo>
                <a:cubicBezTo>
                  <a:pt x="0" y="167071"/>
                  <a:pt x="3566" y="170637"/>
                  <a:pt x="7999" y="170637"/>
                </a:cubicBezTo>
                <a:lnTo>
                  <a:pt x="34661" y="170637"/>
                </a:lnTo>
                <a:cubicBezTo>
                  <a:pt x="39093" y="170637"/>
                  <a:pt x="42659" y="167071"/>
                  <a:pt x="42659" y="162638"/>
                </a:cubicBezTo>
                <a:lnTo>
                  <a:pt x="42659" y="149307"/>
                </a:lnTo>
                <a:lnTo>
                  <a:pt x="55990" y="149307"/>
                </a:lnTo>
                <a:cubicBezTo>
                  <a:pt x="60423" y="149307"/>
                  <a:pt x="63989" y="145741"/>
                  <a:pt x="63989" y="141309"/>
                </a:cubicBezTo>
                <a:lnTo>
                  <a:pt x="63989" y="127978"/>
                </a:lnTo>
                <a:lnTo>
                  <a:pt x="77320" y="127978"/>
                </a:lnTo>
                <a:cubicBezTo>
                  <a:pt x="79453" y="127978"/>
                  <a:pt x="81486" y="127144"/>
                  <a:pt x="82985" y="125645"/>
                </a:cubicBezTo>
                <a:lnTo>
                  <a:pt x="94084" y="114547"/>
                </a:lnTo>
                <a:cubicBezTo>
                  <a:pt x="99716" y="116346"/>
                  <a:pt x="105748" y="117313"/>
                  <a:pt x="111980" y="117313"/>
                </a:cubicBezTo>
                <a:close/>
                <a:moveTo>
                  <a:pt x="125311" y="31994"/>
                </a:moveTo>
                <a:cubicBezTo>
                  <a:pt x="132669" y="31994"/>
                  <a:pt x="138642" y="37968"/>
                  <a:pt x="138642" y="45325"/>
                </a:cubicBezTo>
                <a:cubicBezTo>
                  <a:pt x="138642" y="52683"/>
                  <a:pt x="132669" y="58656"/>
                  <a:pt x="125311" y="58656"/>
                </a:cubicBezTo>
                <a:cubicBezTo>
                  <a:pt x="117954" y="58656"/>
                  <a:pt x="111980" y="52683"/>
                  <a:pt x="111980" y="45325"/>
                </a:cubicBezTo>
                <a:cubicBezTo>
                  <a:pt x="111980" y="37968"/>
                  <a:pt x="117954" y="31994"/>
                  <a:pt x="125311" y="31994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10" name="Text 8"/>
          <p:cNvSpPr/>
          <p:nvPr/>
        </p:nvSpPr>
        <p:spPr>
          <a:xfrm>
            <a:off x="1057948" y="1859941"/>
            <a:ext cx="1100607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633" y="2354788"/>
            <a:ext cx="119446" cy="136509"/>
          </a:xfrm>
          <a:custGeom>
            <a:avLst/>
            <a:gdLst/>
            <a:ahLst/>
            <a:cxnLst/>
            <a:rect l="l" t="t" r="r" b="b"/>
            <a:pathLst>
              <a:path w="119446" h="136509">
                <a:moveTo>
                  <a:pt x="115926" y="18690"/>
                </a:moveTo>
                <a:cubicBezTo>
                  <a:pt x="119739" y="21463"/>
                  <a:pt x="120592" y="26795"/>
                  <a:pt x="117819" y="30608"/>
                </a:cubicBezTo>
                <a:lnTo>
                  <a:pt x="49565" y="124458"/>
                </a:lnTo>
                <a:cubicBezTo>
                  <a:pt x="48098" y="126485"/>
                  <a:pt x="45832" y="127738"/>
                  <a:pt x="43326" y="127951"/>
                </a:cubicBezTo>
                <a:cubicBezTo>
                  <a:pt x="40820" y="128164"/>
                  <a:pt x="38393" y="127231"/>
                  <a:pt x="36634" y="125471"/>
                </a:cubicBezTo>
                <a:lnTo>
                  <a:pt x="2506" y="91344"/>
                </a:lnTo>
                <a:cubicBezTo>
                  <a:pt x="-827" y="88011"/>
                  <a:pt x="-827" y="82599"/>
                  <a:pt x="2506" y="79266"/>
                </a:cubicBezTo>
                <a:cubicBezTo>
                  <a:pt x="5839" y="75933"/>
                  <a:pt x="11251" y="75933"/>
                  <a:pt x="14584" y="79266"/>
                </a:cubicBezTo>
                <a:lnTo>
                  <a:pt x="41646" y="106328"/>
                </a:lnTo>
                <a:lnTo>
                  <a:pt x="104035" y="20556"/>
                </a:lnTo>
                <a:cubicBezTo>
                  <a:pt x="106808" y="16744"/>
                  <a:pt x="112140" y="15891"/>
                  <a:pt x="115953" y="18663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12" name="Text 10"/>
          <p:cNvSpPr/>
          <p:nvPr/>
        </p:nvSpPr>
        <p:spPr>
          <a:xfrm>
            <a:off x="784929" y="2320661"/>
            <a:ext cx="3463927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JWT-based authentication</a:t>
            </a:r>
            <a:pPr>
              <a:lnSpc>
                <a:spcPct val="130000"/>
              </a:lnSpc>
            </a:pPr>
            <a:r>
              <a:rPr lang="en-US" sz="1075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24-hour token expiration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633" y="2627807"/>
            <a:ext cx="119446" cy="136509"/>
          </a:xfrm>
          <a:custGeom>
            <a:avLst/>
            <a:gdLst/>
            <a:ahLst/>
            <a:cxnLst/>
            <a:rect l="l" t="t" r="r" b="b"/>
            <a:pathLst>
              <a:path w="119446" h="136509">
                <a:moveTo>
                  <a:pt x="115926" y="18690"/>
                </a:moveTo>
                <a:cubicBezTo>
                  <a:pt x="119739" y="21463"/>
                  <a:pt x="120592" y="26795"/>
                  <a:pt x="117819" y="30608"/>
                </a:cubicBezTo>
                <a:lnTo>
                  <a:pt x="49565" y="124458"/>
                </a:lnTo>
                <a:cubicBezTo>
                  <a:pt x="48098" y="126485"/>
                  <a:pt x="45832" y="127738"/>
                  <a:pt x="43326" y="127951"/>
                </a:cubicBezTo>
                <a:cubicBezTo>
                  <a:pt x="40820" y="128164"/>
                  <a:pt x="38393" y="127231"/>
                  <a:pt x="36634" y="125471"/>
                </a:cubicBezTo>
                <a:lnTo>
                  <a:pt x="2506" y="91344"/>
                </a:lnTo>
                <a:cubicBezTo>
                  <a:pt x="-827" y="88011"/>
                  <a:pt x="-827" y="82599"/>
                  <a:pt x="2506" y="79266"/>
                </a:cubicBezTo>
                <a:cubicBezTo>
                  <a:pt x="5839" y="75933"/>
                  <a:pt x="11251" y="75933"/>
                  <a:pt x="14584" y="79266"/>
                </a:cubicBezTo>
                <a:lnTo>
                  <a:pt x="41646" y="106328"/>
                </a:lnTo>
                <a:lnTo>
                  <a:pt x="104035" y="20556"/>
                </a:lnTo>
                <a:cubicBezTo>
                  <a:pt x="106808" y="16744"/>
                  <a:pt x="112140" y="15891"/>
                  <a:pt x="115953" y="18663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14" name="Text 12"/>
          <p:cNvSpPr/>
          <p:nvPr/>
        </p:nvSpPr>
        <p:spPr>
          <a:xfrm>
            <a:off x="784929" y="2593679"/>
            <a:ext cx="3395672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Refresh token mechanism</a:t>
            </a:r>
            <a:pPr>
              <a:lnSpc>
                <a:spcPct val="130000"/>
              </a:lnSpc>
            </a:pPr>
            <a:r>
              <a:rPr lang="en-US" sz="1075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seamless user experience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1633" y="2900826"/>
            <a:ext cx="119446" cy="136509"/>
          </a:xfrm>
          <a:custGeom>
            <a:avLst/>
            <a:gdLst/>
            <a:ahLst/>
            <a:cxnLst/>
            <a:rect l="l" t="t" r="r" b="b"/>
            <a:pathLst>
              <a:path w="119446" h="136509">
                <a:moveTo>
                  <a:pt x="115926" y="18690"/>
                </a:moveTo>
                <a:cubicBezTo>
                  <a:pt x="119739" y="21463"/>
                  <a:pt x="120592" y="26795"/>
                  <a:pt x="117819" y="30608"/>
                </a:cubicBezTo>
                <a:lnTo>
                  <a:pt x="49565" y="124458"/>
                </a:lnTo>
                <a:cubicBezTo>
                  <a:pt x="48098" y="126485"/>
                  <a:pt x="45832" y="127738"/>
                  <a:pt x="43326" y="127951"/>
                </a:cubicBezTo>
                <a:cubicBezTo>
                  <a:pt x="40820" y="128164"/>
                  <a:pt x="38393" y="127231"/>
                  <a:pt x="36634" y="125471"/>
                </a:cubicBezTo>
                <a:lnTo>
                  <a:pt x="2506" y="91344"/>
                </a:lnTo>
                <a:cubicBezTo>
                  <a:pt x="-827" y="88011"/>
                  <a:pt x="-827" y="82599"/>
                  <a:pt x="2506" y="79266"/>
                </a:cubicBezTo>
                <a:cubicBezTo>
                  <a:pt x="5839" y="75933"/>
                  <a:pt x="11251" y="75933"/>
                  <a:pt x="14584" y="79266"/>
                </a:cubicBezTo>
                <a:lnTo>
                  <a:pt x="41646" y="106328"/>
                </a:lnTo>
                <a:lnTo>
                  <a:pt x="104035" y="20556"/>
                </a:lnTo>
                <a:cubicBezTo>
                  <a:pt x="106808" y="16744"/>
                  <a:pt x="112140" y="15891"/>
                  <a:pt x="115953" y="18663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16" name="Text 14"/>
          <p:cNvSpPr/>
          <p:nvPr/>
        </p:nvSpPr>
        <p:spPr>
          <a:xfrm>
            <a:off x="784929" y="2866698"/>
            <a:ext cx="2576616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Password hashing</a:t>
            </a:r>
            <a:pPr>
              <a:lnSpc>
                <a:spcPct val="130000"/>
              </a:lnSpc>
            </a:pPr>
            <a:r>
              <a:rPr lang="en-US" sz="1075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bcrypt (12 rounds)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1633" y="3173845"/>
            <a:ext cx="119446" cy="136509"/>
          </a:xfrm>
          <a:custGeom>
            <a:avLst/>
            <a:gdLst/>
            <a:ahLst/>
            <a:cxnLst/>
            <a:rect l="l" t="t" r="r" b="b"/>
            <a:pathLst>
              <a:path w="119446" h="136509">
                <a:moveTo>
                  <a:pt x="115926" y="18690"/>
                </a:moveTo>
                <a:cubicBezTo>
                  <a:pt x="119739" y="21463"/>
                  <a:pt x="120592" y="26795"/>
                  <a:pt x="117819" y="30608"/>
                </a:cubicBezTo>
                <a:lnTo>
                  <a:pt x="49565" y="124458"/>
                </a:lnTo>
                <a:cubicBezTo>
                  <a:pt x="48098" y="126485"/>
                  <a:pt x="45832" y="127738"/>
                  <a:pt x="43326" y="127951"/>
                </a:cubicBezTo>
                <a:cubicBezTo>
                  <a:pt x="40820" y="128164"/>
                  <a:pt x="38393" y="127231"/>
                  <a:pt x="36634" y="125471"/>
                </a:cubicBezTo>
                <a:lnTo>
                  <a:pt x="2506" y="91344"/>
                </a:lnTo>
                <a:cubicBezTo>
                  <a:pt x="-827" y="88011"/>
                  <a:pt x="-827" y="82599"/>
                  <a:pt x="2506" y="79266"/>
                </a:cubicBezTo>
                <a:cubicBezTo>
                  <a:pt x="5839" y="75933"/>
                  <a:pt x="11251" y="75933"/>
                  <a:pt x="14584" y="79266"/>
                </a:cubicBezTo>
                <a:lnTo>
                  <a:pt x="41646" y="106328"/>
                </a:lnTo>
                <a:lnTo>
                  <a:pt x="104035" y="20556"/>
                </a:lnTo>
                <a:cubicBezTo>
                  <a:pt x="106808" y="16744"/>
                  <a:pt x="112140" y="15891"/>
                  <a:pt x="115953" y="18663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18" name="Text 16"/>
          <p:cNvSpPr/>
          <p:nvPr/>
        </p:nvSpPr>
        <p:spPr>
          <a:xfrm>
            <a:off x="784929" y="3139717"/>
            <a:ext cx="3020272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 management</a:t>
            </a:r>
            <a:pPr>
              <a:lnSpc>
                <a:spcPct val="130000"/>
              </a:lnSpc>
            </a:pPr>
            <a:r>
              <a:rPr lang="en-US" sz="1075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secure cookie settings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82652" y="1603986"/>
            <a:ext cx="5673674" cy="1911132"/>
          </a:xfrm>
          <a:custGeom>
            <a:avLst/>
            <a:gdLst/>
            <a:ahLst/>
            <a:cxnLst/>
            <a:rect l="l" t="t" r="r" b="b"/>
            <a:pathLst>
              <a:path w="5673674" h="1911132">
                <a:moveTo>
                  <a:pt x="0" y="0"/>
                </a:moveTo>
                <a:lnTo>
                  <a:pt x="5673674" y="0"/>
                </a:lnTo>
                <a:lnTo>
                  <a:pt x="5673674" y="1911132"/>
                </a:lnTo>
                <a:lnTo>
                  <a:pt x="0" y="19111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182652" y="1603986"/>
            <a:ext cx="34127" cy="1911132"/>
          </a:xfrm>
          <a:custGeom>
            <a:avLst/>
            <a:gdLst/>
            <a:ahLst/>
            <a:cxnLst/>
            <a:rect l="l" t="t" r="r" b="b"/>
            <a:pathLst>
              <a:path w="34127" h="1911132">
                <a:moveTo>
                  <a:pt x="0" y="0"/>
                </a:moveTo>
                <a:lnTo>
                  <a:pt x="34127" y="0"/>
                </a:lnTo>
                <a:lnTo>
                  <a:pt x="34127" y="1911132"/>
                </a:lnTo>
                <a:lnTo>
                  <a:pt x="0" y="1911132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1" name="Shape 19"/>
          <p:cNvSpPr/>
          <p:nvPr/>
        </p:nvSpPr>
        <p:spPr>
          <a:xfrm>
            <a:off x="6370352" y="1774623"/>
            <a:ext cx="409528" cy="409528"/>
          </a:xfrm>
          <a:custGeom>
            <a:avLst/>
            <a:gdLst/>
            <a:ahLst/>
            <a:cxnLst/>
            <a:rect l="l" t="t" r="r" b="b"/>
            <a:pathLst>
              <a:path w="409528" h="409528">
                <a:moveTo>
                  <a:pt x="0" y="0"/>
                </a:moveTo>
                <a:lnTo>
                  <a:pt x="409528" y="0"/>
                </a:lnTo>
                <a:lnTo>
                  <a:pt x="409528" y="409528"/>
                </a:lnTo>
                <a:lnTo>
                  <a:pt x="0" y="409528"/>
                </a:lnTo>
                <a:lnTo>
                  <a:pt x="0" y="0"/>
                </a:lnTo>
                <a:close/>
              </a:path>
            </a:pathLst>
          </a:custGeom>
          <a:solidFill>
            <a:srgbClr val="4A4A4A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468468" y="1894069"/>
            <a:ext cx="213296" cy="170637"/>
          </a:xfrm>
          <a:custGeom>
            <a:avLst/>
            <a:gdLst/>
            <a:ahLst/>
            <a:cxnLst/>
            <a:rect l="l" t="t" r="r" b="b"/>
            <a:pathLst>
              <a:path w="213296" h="170637">
                <a:moveTo>
                  <a:pt x="85352" y="2666"/>
                </a:moveTo>
                <a:cubicBezTo>
                  <a:pt x="107424" y="2666"/>
                  <a:pt x="125345" y="20586"/>
                  <a:pt x="125345" y="42659"/>
                </a:cubicBezTo>
                <a:cubicBezTo>
                  <a:pt x="125345" y="64732"/>
                  <a:pt x="107424" y="82652"/>
                  <a:pt x="85352" y="82652"/>
                </a:cubicBezTo>
                <a:cubicBezTo>
                  <a:pt x="63279" y="82652"/>
                  <a:pt x="45359" y="64732"/>
                  <a:pt x="45359" y="42659"/>
                </a:cubicBezTo>
                <a:cubicBezTo>
                  <a:pt x="45359" y="20586"/>
                  <a:pt x="63279" y="2666"/>
                  <a:pt x="85352" y="2666"/>
                </a:cubicBezTo>
                <a:close/>
                <a:moveTo>
                  <a:pt x="75453" y="101316"/>
                </a:moveTo>
                <a:lnTo>
                  <a:pt x="95250" y="101316"/>
                </a:lnTo>
                <a:cubicBezTo>
                  <a:pt x="97483" y="101316"/>
                  <a:pt x="99649" y="101449"/>
                  <a:pt x="101816" y="101682"/>
                </a:cubicBezTo>
                <a:cubicBezTo>
                  <a:pt x="101516" y="103315"/>
                  <a:pt x="101349" y="104982"/>
                  <a:pt x="101349" y="106681"/>
                </a:cubicBezTo>
                <a:lnTo>
                  <a:pt x="101349" y="137376"/>
                </a:lnTo>
                <a:cubicBezTo>
                  <a:pt x="101349" y="145874"/>
                  <a:pt x="104715" y="154006"/>
                  <a:pt x="110714" y="160005"/>
                </a:cubicBezTo>
                <a:lnTo>
                  <a:pt x="121345" y="170637"/>
                </a:lnTo>
                <a:lnTo>
                  <a:pt x="25929" y="170637"/>
                </a:lnTo>
                <a:cubicBezTo>
                  <a:pt x="20463" y="170637"/>
                  <a:pt x="16031" y="166204"/>
                  <a:pt x="16031" y="160739"/>
                </a:cubicBezTo>
                <a:cubicBezTo>
                  <a:pt x="16031" y="127911"/>
                  <a:pt x="42626" y="101316"/>
                  <a:pt x="75453" y="101316"/>
                </a:cubicBezTo>
                <a:close/>
                <a:moveTo>
                  <a:pt x="117346" y="137376"/>
                </a:moveTo>
                <a:lnTo>
                  <a:pt x="117346" y="106681"/>
                </a:lnTo>
                <a:cubicBezTo>
                  <a:pt x="117346" y="100782"/>
                  <a:pt x="122112" y="96017"/>
                  <a:pt x="128011" y="96017"/>
                </a:cubicBezTo>
                <a:lnTo>
                  <a:pt x="158706" y="96017"/>
                </a:lnTo>
                <a:cubicBezTo>
                  <a:pt x="162938" y="96017"/>
                  <a:pt x="167004" y="97716"/>
                  <a:pt x="170004" y="100716"/>
                </a:cubicBezTo>
                <a:lnTo>
                  <a:pt x="201998" y="132710"/>
                </a:lnTo>
                <a:cubicBezTo>
                  <a:pt x="208230" y="138942"/>
                  <a:pt x="208230" y="149074"/>
                  <a:pt x="201998" y="155339"/>
                </a:cubicBezTo>
                <a:lnTo>
                  <a:pt x="176636" y="180702"/>
                </a:lnTo>
                <a:cubicBezTo>
                  <a:pt x="170404" y="186934"/>
                  <a:pt x="160272" y="186934"/>
                  <a:pt x="154006" y="180702"/>
                </a:cubicBezTo>
                <a:lnTo>
                  <a:pt x="122012" y="148707"/>
                </a:lnTo>
                <a:cubicBezTo>
                  <a:pt x="119013" y="145708"/>
                  <a:pt x="117313" y="141642"/>
                  <a:pt x="117313" y="137409"/>
                </a:cubicBezTo>
                <a:close/>
                <a:moveTo>
                  <a:pt x="152007" y="122645"/>
                </a:moveTo>
                <a:cubicBezTo>
                  <a:pt x="152007" y="118231"/>
                  <a:pt x="148423" y="114647"/>
                  <a:pt x="144008" y="114647"/>
                </a:cubicBezTo>
                <a:cubicBezTo>
                  <a:pt x="139594" y="114647"/>
                  <a:pt x="136010" y="118231"/>
                  <a:pt x="136010" y="122645"/>
                </a:cubicBezTo>
                <a:cubicBezTo>
                  <a:pt x="136010" y="127060"/>
                  <a:pt x="139594" y="130644"/>
                  <a:pt x="144008" y="130644"/>
                </a:cubicBezTo>
                <a:cubicBezTo>
                  <a:pt x="148423" y="130644"/>
                  <a:pt x="152007" y="127060"/>
                  <a:pt x="152007" y="122645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3" name="Text 21"/>
          <p:cNvSpPr/>
          <p:nvPr/>
        </p:nvSpPr>
        <p:spPr>
          <a:xfrm>
            <a:off x="6882262" y="1859941"/>
            <a:ext cx="1023821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Authorization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95948" y="2354788"/>
            <a:ext cx="119446" cy="136509"/>
          </a:xfrm>
          <a:custGeom>
            <a:avLst/>
            <a:gdLst/>
            <a:ahLst/>
            <a:cxnLst/>
            <a:rect l="l" t="t" r="r" b="b"/>
            <a:pathLst>
              <a:path w="119446" h="136509">
                <a:moveTo>
                  <a:pt x="115926" y="18690"/>
                </a:moveTo>
                <a:cubicBezTo>
                  <a:pt x="119739" y="21463"/>
                  <a:pt x="120592" y="26795"/>
                  <a:pt x="117819" y="30608"/>
                </a:cubicBezTo>
                <a:lnTo>
                  <a:pt x="49565" y="124458"/>
                </a:lnTo>
                <a:cubicBezTo>
                  <a:pt x="48098" y="126485"/>
                  <a:pt x="45832" y="127738"/>
                  <a:pt x="43326" y="127951"/>
                </a:cubicBezTo>
                <a:cubicBezTo>
                  <a:pt x="40820" y="128164"/>
                  <a:pt x="38393" y="127231"/>
                  <a:pt x="36634" y="125471"/>
                </a:cubicBezTo>
                <a:lnTo>
                  <a:pt x="2506" y="91344"/>
                </a:lnTo>
                <a:cubicBezTo>
                  <a:pt x="-827" y="88011"/>
                  <a:pt x="-827" y="82599"/>
                  <a:pt x="2506" y="79266"/>
                </a:cubicBezTo>
                <a:cubicBezTo>
                  <a:pt x="5839" y="75933"/>
                  <a:pt x="11251" y="75933"/>
                  <a:pt x="14584" y="79266"/>
                </a:cubicBezTo>
                <a:lnTo>
                  <a:pt x="41646" y="106328"/>
                </a:lnTo>
                <a:lnTo>
                  <a:pt x="104035" y="20556"/>
                </a:lnTo>
                <a:cubicBezTo>
                  <a:pt x="106808" y="16744"/>
                  <a:pt x="112140" y="15891"/>
                  <a:pt x="115953" y="18663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5" name="Text 23"/>
          <p:cNvSpPr/>
          <p:nvPr/>
        </p:nvSpPr>
        <p:spPr>
          <a:xfrm>
            <a:off x="6609244" y="2320661"/>
            <a:ext cx="2832571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Role-based access control</a:t>
            </a:r>
            <a:pPr>
              <a:lnSpc>
                <a:spcPct val="130000"/>
              </a:lnSpc>
            </a:pPr>
            <a:r>
              <a:rPr lang="en-US" sz="1075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(User/Admin roles)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95948" y="2627807"/>
            <a:ext cx="119446" cy="136509"/>
          </a:xfrm>
          <a:custGeom>
            <a:avLst/>
            <a:gdLst/>
            <a:ahLst/>
            <a:cxnLst/>
            <a:rect l="l" t="t" r="r" b="b"/>
            <a:pathLst>
              <a:path w="119446" h="136509">
                <a:moveTo>
                  <a:pt x="115926" y="18690"/>
                </a:moveTo>
                <a:cubicBezTo>
                  <a:pt x="119739" y="21463"/>
                  <a:pt x="120592" y="26795"/>
                  <a:pt x="117819" y="30608"/>
                </a:cubicBezTo>
                <a:lnTo>
                  <a:pt x="49565" y="124458"/>
                </a:lnTo>
                <a:cubicBezTo>
                  <a:pt x="48098" y="126485"/>
                  <a:pt x="45832" y="127738"/>
                  <a:pt x="43326" y="127951"/>
                </a:cubicBezTo>
                <a:cubicBezTo>
                  <a:pt x="40820" y="128164"/>
                  <a:pt x="38393" y="127231"/>
                  <a:pt x="36634" y="125471"/>
                </a:cubicBezTo>
                <a:lnTo>
                  <a:pt x="2506" y="91344"/>
                </a:lnTo>
                <a:cubicBezTo>
                  <a:pt x="-827" y="88011"/>
                  <a:pt x="-827" y="82599"/>
                  <a:pt x="2506" y="79266"/>
                </a:cubicBezTo>
                <a:cubicBezTo>
                  <a:pt x="5839" y="75933"/>
                  <a:pt x="11251" y="75933"/>
                  <a:pt x="14584" y="79266"/>
                </a:cubicBezTo>
                <a:lnTo>
                  <a:pt x="41646" y="106328"/>
                </a:lnTo>
                <a:lnTo>
                  <a:pt x="104035" y="20556"/>
                </a:lnTo>
                <a:cubicBezTo>
                  <a:pt x="106808" y="16744"/>
                  <a:pt x="112140" y="15891"/>
                  <a:pt x="115953" y="18663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7" name="Text 25"/>
          <p:cNvSpPr/>
          <p:nvPr/>
        </p:nvSpPr>
        <p:spPr>
          <a:xfrm>
            <a:off x="6609244" y="2593679"/>
            <a:ext cx="2440106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Middleware protection</a:t>
            </a:r>
            <a:pPr>
              <a:lnSpc>
                <a:spcPct val="130000"/>
              </a:lnSpc>
            </a:pPr>
            <a:r>
              <a:rPr lang="en-US" sz="1075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admin routes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95948" y="2900826"/>
            <a:ext cx="119446" cy="136509"/>
          </a:xfrm>
          <a:custGeom>
            <a:avLst/>
            <a:gdLst/>
            <a:ahLst/>
            <a:cxnLst/>
            <a:rect l="l" t="t" r="r" b="b"/>
            <a:pathLst>
              <a:path w="119446" h="136509">
                <a:moveTo>
                  <a:pt x="115926" y="18690"/>
                </a:moveTo>
                <a:cubicBezTo>
                  <a:pt x="119739" y="21463"/>
                  <a:pt x="120592" y="26795"/>
                  <a:pt x="117819" y="30608"/>
                </a:cubicBezTo>
                <a:lnTo>
                  <a:pt x="49565" y="124458"/>
                </a:lnTo>
                <a:cubicBezTo>
                  <a:pt x="48098" y="126485"/>
                  <a:pt x="45832" y="127738"/>
                  <a:pt x="43326" y="127951"/>
                </a:cubicBezTo>
                <a:cubicBezTo>
                  <a:pt x="40820" y="128164"/>
                  <a:pt x="38393" y="127231"/>
                  <a:pt x="36634" y="125471"/>
                </a:cubicBezTo>
                <a:lnTo>
                  <a:pt x="2506" y="91344"/>
                </a:lnTo>
                <a:cubicBezTo>
                  <a:pt x="-827" y="88011"/>
                  <a:pt x="-827" y="82599"/>
                  <a:pt x="2506" y="79266"/>
                </a:cubicBezTo>
                <a:cubicBezTo>
                  <a:pt x="5839" y="75933"/>
                  <a:pt x="11251" y="75933"/>
                  <a:pt x="14584" y="79266"/>
                </a:cubicBezTo>
                <a:lnTo>
                  <a:pt x="41646" y="106328"/>
                </a:lnTo>
                <a:lnTo>
                  <a:pt x="104035" y="20556"/>
                </a:lnTo>
                <a:cubicBezTo>
                  <a:pt x="106808" y="16744"/>
                  <a:pt x="112140" y="15891"/>
                  <a:pt x="115953" y="18663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9" name="Text 27"/>
          <p:cNvSpPr/>
          <p:nvPr/>
        </p:nvSpPr>
        <p:spPr>
          <a:xfrm>
            <a:off x="6609244" y="2866698"/>
            <a:ext cx="2917889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data isolation</a:t>
            </a:r>
            <a:pPr>
              <a:lnSpc>
                <a:spcPct val="130000"/>
              </a:lnSpc>
            </a:pPr>
            <a:r>
              <a:rPr lang="en-US" sz="1075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users access only own data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95948" y="3173845"/>
            <a:ext cx="119446" cy="136509"/>
          </a:xfrm>
          <a:custGeom>
            <a:avLst/>
            <a:gdLst/>
            <a:ahLst/>
            <a:cxnLst/>
            <a:rect l="l" t="t" r="r" b="b"/>
            <a:pathLst>
              <a:path w="119446" h="136509">
                <a:moveTo>
                  <a:pt x="115926" y="18690"/>
                </a:moveTo>
                <a:cubicBezTo>
                  <a:pt x="119739" y="21463"/>
                  <a:pt x="120592" y="26795"/>
                  <a:pt x="117819" y="30608"/>
                </a:cubicBezTo>
                <a:lnTo>
                  <a:pt x="49565" y="124458"/>
                </a:lnTo>
                <a:cubicBezTo>
                  <a:pt x="48098" y="126485"/>
                  <a:pt x="45832" y="127738"/>
                  <a:pt x="43326" y="127951"/>
                </a:cubicBezTo>
                <a:cubicBezTo>
                  <a:pt x="40820" y="128164"/>
                  <a:pt x="38393" y="127231"/>
                  <a:pt x="36634" y="125471"/>
                </a:cubicBezTo>
                <a:lnTo>
                  <a:pt x="2506" y="91344"/>
                </a:lnTo>
                <a:cubicBezTo>
                  <a:pt x="-827" y="88011"/>
                  <a:pt x="-827" y="82599"/>
                  <a:pt x="2506" y="79266"/>
                </a:cubicBezTo>
                <a:cubicBezTo>
                  <a:pt x="5839" y="75933"/>
                  <a:pt x="11251" y="75933"/>
                  <a:pt x="14584" y="79266"/>
                </a:cubicBezTo>
                <a:lnTo>
                  <a:pt x="41646" y="106328"/>
                </a:lnTo>
                <a:lnTo>
                  <a:pt x="104035" y="20556"/>
                </a:lnTo>
                <a:cubicBezTo>
                  <a:pt x="106808" y="16744"/>
                  <a:pt x="112140" y="15891"/>
                  <a:pt x="115953" y="18663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31" name="Text 29"/>
          <p:cNvSpPr/>
          <p:nvPr/>
        </p:nvSpPr>
        <p:spPr>
          <a:xfrm>
            <a:off x="6609244" y="3139717"/>
            <a:ext cx="2730189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endpoint protection</a:t>
            </a:r>
            <a:pPr>
              <a:lnSpc>
                <a:spcPct val="130000"/>
              </a:lnSpc>
            </a:pPr>
            <a:r>
              <a:rPr lang="en-US" sz="1075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role verification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58337" y="3651628"/>
            <a:ext cx="5673674" cy="1911132"/>
          </a:xfrm>
          <a:custGeom>
            <a:avLst/>
            <a:gdLst/>
            <a:ahLst/>
            <a:cxnLst/>
            <a:rect l="l" t="t" r="r" b="b"/>
            <a:pathLst>
              <a:path w="5673674" h="1911132">
                <a:moveTo>
                  <a:pt x="0" y="0"/>
                </a:moveTo>
                <a:lnTo>
                  <a:pt x="5673674" y="0"/>
                </a:lnTo>
                <a:lnTo>
                  <a:pt x="5673674" y="1911132"/>
                </a:lnTo>
                <a:lnTo>
                  <a:pt x="0" y="19111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358337" y="3651628"/>
            <a:ext cx="34127" cy="1911132"/>
          </a:xfrm>
          <a:custGeom>
            <a:avLst/>
            <a:gdLst/>
            <a:ahLst/>
            <a:cxnLst/>
            <a:rect l="l" t="t" r="r" b="b"/>
            <a:pathLst>
              <a:path w="34127" h="1911132">
                <a:moveTo>
                  <a:pt x="0" y="0"/>
                </a:moveTo>
                <a:lnTo>
                  <a:pt x="34127" y="0"/>
                </a:lnTo>
                <a:lnTo>
                  <a:pt x="34127" y="1911132"/>
                </a:lnTo>
                <a:lnTo>
                  <a:pt x="0" y="1911132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34" name="Shape 32"/>
          <p:cNvSpPr/>
          <p:nvPr/>
        </p:nvSpPr>
        <p:spPr>
          <a:xfrm>
            <a:off x="546038" y="3822265"/>
            <a:ext cx="409528" cy="409528"/>
          </a:xfrm>
          <a:custGeom>
            <a:avLst/>
            <a:gdLst/>
            <a:ahLst/>
            <a:cxnLst/>
            <a:rect l="l" t="t" r="r" b="b"/>
            <a:pathLst>
              <a:path w="409528" h="409528">
                <a:moveTo>
                  <a:pt x="0" y="0"/>
                </a:moveTo>
                <a:lnTo>
                  <a:pt x="409528" y="0"/>
                </a:lnTo>
                <a:lnTo>
                  <a:pt x="409528" y="409528"/>
                </a:lnTo>
                <a:lnTo>
                  <a:pt x="0" y="409528"/>
                </a:lnTo>
                <a:lnTo>
                  <a:pt x="0" y="0"/>
                </a:lnTo>
                <a:close/>
              </a:path>
            </a:pathLst>
          </a:custGeom>
          <a:solidFill>
            <a:srgbClr val="C8A48C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65484" y="3941710"/>
            <a:ext cx="170637" cy="170637"/>
          </a:xfrm>
          <a:custGeom>
            <a:avLst/>
            <a:gdLst/>
            <a:ahLst/>
            <a:cxnLst/>
            <a:rect l="l" t="t" r="r" b="b"/>
            <a:pathLst>
              <a:path w="170637" h="170637">
                <a:moveTo>
                  <a:pt x="84452" y="966"/>
                </a:moveTo>
                <a:cubicBezTo>
                  <a:pt x="83052" y="333"/>
                  <a:pt x="81552" y="0"/>
                  <a:pt x="79986" y="0"/>
                </a:cubicBezTo>
                <a:cubicBezTo>
                  <a:pt x="78420" y="0"/>
                  <a:pt x="76920" y="333"/>
                  <a:pt x="75520" y="966"/>
                </a:cubicBezTo>
                <a:lnTo>
                  <a:pt x="12764" y="27595"/>
                </a:lnTo>
                <a:cubicBezTo>
                  <a:pt x="5432" y="30695"/>
                  <a:pt x="-33" y="37927"/>
                  <a:pt x="0" y="46659"/>
                </a:cubicBezTo>
                <a:cubicBezTo>
                  <a:pt x="167" y="79719"/>
                  <a:pt x="13764" y="140209"/>
                  <a:pt x="71188" y="167704"/>
                </a:cubicBezTo>
                <a:cubicBezTo>
                  <a:pt x="76753" y="170370"/>
                  <a:pt x="83219" y="170370"/>
                  <a:pt x="88784" y="167704"/>
                </a:cubicBezTo>
                <a:cubicBezTo>
                  <a:pt x="146241" y="140209"/>
                  <a:pt x="159839" y="79719"/>
                  <a:pt x="159972" y="46659"/>
                </a:cubicBezTo>
                <a:cubicBezTo>
                  <a:pt x="160005" y="37927"/>
                  <a:pt x="154540" y="30695"/>
                  <a:pt x="147208" y="27595"/>
                </a:cubicBezTo>
                <a:lnTo>
                  <a:pt x="84452" y="966"/>
                </a:lnTo>
                <a:close/>
                <a:moveTo>
                  <a:pt x="79986" y="42659"/>
                </a:moveTo>
                <a:cubicBezTo>
                  <a:pt x="84419" y="42659"/>
                  <a:pt x="87985" y="46225"/>
                  <a:pt x="87985" y="50658"/>
                </a:cubicBezTo>
                <a:cubicBezTo>
                  <a:pt x="87985" y="58290"/>
                  <a:pt x="97216" y="62122"/>
                  <a:pt x="102615" y="56723"/>
                </a:cubicBezTo>
                <a:cubicBezTo>
                  <a:pt x="105748" y="53591"/>
                  <a:pt x="110814" y="53591"/>
                  <a:pt x="113913" y="56723"/>
                </a:cubicBezTo>
                <a:cubicBezTo>
                  <a:pt x="117013" y="59856"/>
                  <a:pt x="117046" y="64922"/>
                  <a:pt x="113913" y="68021"/>
                </a:cubicBezTo>
                <a:cubicBezTo>
                  <a:pt x="108514" y="73420"/>
                  <a:pt x="112347" y="82652"/>
                  <a:pt x="119979" y="82652"/>
                </a:cubicBezTo>
                <a:cubicBezTo>
                  <a:pt x="124412" y="82652"/>
                  <a:pt x="127978" y="86218"/>
                  <a:pt x="127978" y="90651"/>
                </a:cubicBezTo>
                <a:cubicBezTo>
                  <a:pt x="127978" y="95083"/>
                  <a:pt x="124412" y="98649"/>
                  <a:pt x="119979" y="98649"/>
                </a:cubicBezTo>
                <a:cubicBezTo>
                  <a:pt x="112347" y="98649"/>
                  <a:pt x="108514" y="107881"/>
                  <a:pt x="113913" y="113280"/>
                </a:cubicBezTo>
                <a:cubicBezTo>
                  <a:pt x="117046" y="116413"/>
                  <a:pt x="117046" y="121479"/>
                  <a:pt x="113913" y="124578"/>
                </a:cubicBezTo>
                <a:cubicBezTo>
                  <a:pt x="110781" y="127678"/>
                  <a:pt x="105715" y="127711"/>
                  <a:pt x="102615" y="124578"/>
                </a:cubicBezTo>
                <a:cubicBezTo>
                  <a:pt x="97216" y="119179"/>
                  <a:pt x="87985" y="123012"/>
                  <a:pt x="87985" y="130644"/>
                </a:cubicBezTo>
                <a:cubicBezTo>
                  <a:pt x="87985" y="135076"/>
                  <a:pt x="84419" y="138642"/>
                  <a:pt x="79986" y="138642"/>
                </a:cubicBezTo>
                <a:cubicBezTo>
                  <a:pt x="75553" y="138642"/>
                  <a:pt x="71987" y="135076"/>
                  <a:pt x="71987" y="130644"/>
                </a:cubicBezTo>
                <a:cubicBezTo>
                  <a:pt x="71987" y="123012"/>
                  <a:pt x="62756" y="119179"/>
                  <a:pt x="57357" y="124578"/>
                </a:cubicBezTo>
                <a:cubicBezTo>
                  <a:pt x="54224" y="127711"/>
                  <a:pt x="49158" y="127711"/>
                  <a:pt x="46059" y="124578"/>
                </a:cubicBezTo>
                <a:cubicBezTo>
                  <a:pt x="42959" y="121445"/>
                  <a:pt x="42926" y="116380"/>
                  <a:pt x="46059" y="113280"/>
                </a:cubicBezTo>
                <a:cubicBezTo>
                  <a:pt x="51458" y="107881"/>
                  <a:pt x="47625" y="98649"/>
                  <a:pt x="39993" y="98649"/>
                </a:cubicBezTo>
                <a:cubicBezTo>
                  <a:pt x="35560" y="98649"/>
                  <a:pt x="31994" y="95083"/>
                  <a:pt x="31994" y="90651"/>
                </a:cubicBezTo>
                <a:cubicBezTo>
                  <a:pt x="31994" y="86218"/>
                  <a:pt x="35560" y="82652"/>
                  <a:pt x="39993" y="82652"/>
                </a:cubicBezTo>
                <a:cubicBezTo>
                  <a:pt x="47625" y="82652"/>
                  <a:pt x="51458" y="73420"/>
                  <a:pt x="46059" y="68021"/>
                </a:cubicBezTo>
                <a:cubicBezTo>
                  <a:pt x="42926" y="64889"/>
                  <a:pt x="42926" y="59823"/>
                  <a:pt x="46059" y="56723"/>
                </a:cubicBezTo>
                <a:cubicBezTo>
                  <a:pt x="49191" y="53624"/>
                  <a:pt x="54257" y="53591"/>
                  <a:pt x="57357" y="56723"/>
                </a:cubicBezTo>
                <a:cubicBezTo>
                  <a:pt x="62756" y="62122"/>
                  <a:pt x="71987" y="58290"/>
                  <a:pt x="71987" y="50658"/>
                </a:cubicBezTo>
                <a:cubicBezTo>
                  <a:pt x="71987" y="46225"/>
                  <a:pt x="75553" y="42659"/>
                  <a:pt x="79986" y="42659"/>
                </a:cubicBezTo>
                <a:close/>
                <a:moveTo>
                  <a:pt x="69321" y="87985"/>
                </a:moveTo>
                <a:cubicBezTo>
                  <a:pt x="73736" y="87985"/>
                  <a:pt x="77320" y="84401"/>
                  <a:pt x="77320" y="79986"/>
                </a:cubicBezTo>
                <a:cubicBezTo>
                  <a:pt x="77320" y="75571"/>
                  <a:pt x="73736" y="71987"/>
                  <a:pt x="69321" y="71987"/>
                </a:cubicBezTo>
                <a:cubicBezTo>
                  <a:pt x="64907" y="71987"/>
                  <a:pt x="61323" y="75571"/>
                  <a:pt x="61323" y="79986"/>
                </a:cubicBezTo>
                <a:cubicBezTo>
                  <a:pt x="61323" y="84401"/>
                  <a:pt x="64907" y="87985"/>
                  <a:pt x="69321" y="87985"/>
                </a:cubicBezTo>
                <a:close/>
                <a:moveTo>
                  <a:pt x="98649" y="101316"/>
                </a:moveTo>
                <a:cubicBezTo>
                  <a:pt x="98649" y="96901"/>
                  <a:pt x="95065" y="93317"/>
                  <a:pt x="90651" y="93317"/>
                </a:cubicBezTo>
                <a:cubicBezTo>
                  <a:pt x="86236" y="93317"/>
                  <a:pt x="82652" y="96901"/>
                  <a:pt x="82652" y="101316"/>
                </a:cubicBezTo>
                <a:cubicBezTo>
                  <a:pt x="82652" y="105730"/>
                  <a:pt x="86236" y="109314"/>
                  <a:pt x="90651" y="109314"/>
                </a:cubicBezTo>
                <a:cubicBezTo>
                  <a:pt x="95065" y="109314"/>
                  <a:pt x="98649" y="105730"/>
                  <a:pt x="98649" y="101316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36" name="Text 34"/>
          <p:cNvSpPr/>
          <p:nvPr/>
        </p:nvSpPr>
        <p:spPr>
          <a:xfrm>
            <a:off x="1057948" y="3907583"/>
            <a:ext cx="1185926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Input Validation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71633" y="4402430"/>
            <a:ext cx="119446" cy="136509"/>
          </a:xfrm>
          <a:custGeom>
            <a:avLst/>
            <a:gdLst/>
            <a:ahLst/>
            <a:cxnLst/>
            <a:rect l="l" t="t" r="r" b="b"/>
            <a:pathLst>
              <a:path w="119446" h="136509">
                <a:moveTo>
                  <a:pt x="115926" y="18690"/>
                </a:moveTo>
                <a:cubicBezTo>
                  <a:pt x="119739" y="21463"/>
                  <a:pt x="120592" y="26795"/>
                  <a:pt x="117819" y="30608"/>
                </a:cubicBezTo>
                <a:lnTo>
                  <a:pt x="49565" y="124458"/>
                </a:lnTo>
                <a:cubicBezTo>
                  <a:pt x="48098" y="126485"/>
                  <a:pt x="45832" y="127738"/>
                  <a:pt x="43326" y="127951"/>
                </a:cubicBezTo>
                <a:cubicBezTo>
                  <a:pt x="40820" y="128164"/>
                  <a:pt x="38393" y="127231"/>
                  <a:pt x="36634" y="125471"/>
                </a:cubicBezTo>
                <a:lnTo>
                  <a:pt x="2506" y="91344"/>
                </a:lnTo>
                <a:cubicBezTo>
                  <a:pt x="-827" y="88011"/>
                  <a:pt x="-827" y="82599"/>
                  <a:pt x="2506" y="79266"/>
                </a:cubicBezTo>
                <a:cubicBezTo>
                  <a:pt x="5839" y="75933"/>
                  <a:pt x="11251" y="75933"/>
                  <a:pt x="14584" y="79266"/>
                </a:cubicBezTo>
                <a:lnTo>
                  <a:pt x="41646" y="106328"/>
                </a:lnTo>
                <a:lnTo>
                  <a:pt x="104035" y="20556"/>
                </a:lnTo>
                <a:cubicBezTo>
                  <a:pt x="106808" y="16744"/>
                  <a:pt x="112140" y="15891"/>
                  <a:pt x="115953" y="18663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38" name="Text 36"/>
          <p:cNvSpPr/>
          <p:nvPr/>
        </p:nvSpPr>
        <p:spPr>
          <a:xfrm>
            <a:off x="784929" y="4368302"/>
            <a:ext cx="2354788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Joi schema validation</a:t>
            </a:r>
            <a:pPr>
              <a:lnSpc>
                <a:spcPct val="130000"/>
              </a:lnSpc>
            </a:pPr>
            <a:r>
              <a:rPr lang="en-US" sz="1075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all API inputs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71633" y="4675449"/>
            <a:ext cx="119446" cy="136509"/>
          </a:xfrm>
          <a:custGeom>
            <a:avLst/>
            <a:gdLst/>
            <a:ahLst/>
            <a:cxnLst/>
            <a:rect l="l" t="t" r="r" b="b"/>
            <a:pathLst>
              <a:path w="119446" h="136509">
                <a:moveTo>
                  <a:pt x="115926" y="18690"/>
                </a:moveTo>
                <a:cubicBezTo>
                  <a:pt x="119739" y="21463"/>
                  <a:pt x="120592" y="26795"/>
                  <a:pt x="117819" y="30608"/>
                </a:cubicBezTo>
                <a:lnTo>
                  <a:pt x="49565" y="124458"/>
                </a:lnTo>
                <a:cubicBezTo>
                  <a:pt x="48098" y="126485"/>
                  <a:pt x="45832" y="127738"/>
                  <a:pt x="43326" y="127951"/>
                </a:cubicBezTo>
                <a:cubicBezTo>
                  <a:pt x="40820" y="128164"/>
                  <a:pt x="38393" y="127231"/>
                  <a:pt x="36634" y="125471"/>
                </a:cubicBezTo>
                <a:lnTo>
                  <a:pt x="2506" y="91344"/>
                </a:lnTo>
                <a:cubicBezTo>
                  <a:pt x="-827" y="88011"/>
                  <a:pt x="-827" y="82599"/>
                  <a:pt x="2506" y="79266"/>
                </a:cubicBezTo>
                <a:cubicBezTo>
                  <a:pt x="5839" y="75933"/>
                  <a:pt x="11251" y="75933"/>
                  <a:pt x="14584" y="79266"/>
                </a:cubicBezTo>
                <a:lnTo>
                  <a:pt x="41646" y="106328"/>
                </a:lnTo>
                <a:lnTo>
                  <a:pt x="104035" y="20556"/>
                </a:lnTo>
                <a:cubicBezTo>
                  <a:pt x="106808" y="16744"/>
                  <a:pt x="112140" y="15891"/>
                  <a:pt x="115953" y="18663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40" name="Text 38"/>
          <p:cNvSpPr/>
          <p:nvPr/>
        </p:nvSpPr>
        <p:spPr>
          <a:xfrm>
            <a:off x="784929" y="4641321"/>
            <a:ext cx="3071463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XSS protection headers</a:t>
            </a:r>
            <a:pPr>
              <a:lnSpc>
                <a:spcPct val="130000"/>
              </a:lnSpc>
            </a:pPr>
            <a:r>
              <a:rPr lang="en-US" sz="1075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preventing script injection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71633" y="4948467"/>
            <a:ext cx="119446" cy="136509"/>
          </a:xfrm>
          <a:custGeom>
            <a:avLst/>
            <a:gdLst/>
            <a:ahLst/>
            <a:cxnLst/>
            <a:rect l="l" t="t" r="r" b="b"/>
            <a:pathLst>
              <a:path w="119446" h="136509">
                <a:moveTo>
                  <a:pt x="115926" y="18690"/>
                </a:moveTo>
                <a:cubicBezTo>
                  <a:pt x="119739" y="21463"/>
                  <a:pt x="120592" y="26795"/>
                  <a:pt x="117819" y="30608"/>
                </a:cubicBezTo>
                <a:lnTo>
                  <a:pt x="49565" y="124458"/>
                </a:lnTo>
                <a:cubicBezTo>
                  <a:pt x="48098" y="126485"/>
                  <a:pt x="45832" y="127738"/>
                  <a:pt x="43326" y="127951"/>
                </a:cubicBezTo>
                <a:cubicBezTo>
                  <a:pt x="40820" y="128164"/>
                  <a:pt x="38393" y="127231"/>
                  <a:pt x="36634" y="125471"/>
                </a:cubicBezTo>
                <a:lnTo>
                  <a:pt x="2506" y="91344"/>
                </a:lnTo>
                <a:cubicBezTo>
                  <a:pt x="-827" y="88011"/>
                  <a:pt x="-827" y="82599"/>
                  <a:pt x="2506" y="79266"/>
                </a:cubicBezTo>
                <a:cubicBezTo>
                  <a:pt x="5839" y="75933"/>
                  <a:pt x="11251" y="75933"/>
                  <a:pt x="14584" y="79266"/>
                </a:cubicBezTo>
                <a:lnTo>
                  <a:pt x="41646" y="106328"/>
                </a:lnTo>
                <a:lnTo>
                  <a:pt x="104035" y="20556"/>
                </a:lnTo>
                <a:cubicBezTo>
                  <a:pt x="106808" y="16744"/>
                  <a:pt x="112140" y="15891"/>
                  <a:pt x="115953" y="18663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42" name="Text 40"/>
          <p:cNvSpPr/>
          <p:nvPr/>
        </p:nvSpPr>
        <p:spPr>
          <a:xfrm>
            <a:off x="784929" y="4914340"/>
            <a:ext cx="3037335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NoSQL injection prevention</a:t>
            </a:r>
            <a:pPr>
              <a:lnSpc>
                <a:spcPct val="130000"/>
              </a:lnSpc>
            </a:pPr>
            <a:r>
              <a:rPr lang="en-US" sz="1075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sanitized queries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71633" y="5221486"/>
            <a:ext cx="119446" cy="136509"/>
          </a:xfrm>
          <a:custGeom>
            <a:avLst/>
            <a:gdLst/>
            <a:ahLst/>
            <a:cxnLst/>
            <a:rect l="l" t="t" r="r" b="b"/>
            <a:pathLst>
              <a:path w="119446" h="136509">
                <a:moveTo>
                  <a:pt x="115926" y="18690"/>
                </a:moveTo>
                <a:cubicBezTo>
                  <a:pt x="119739" y="21463"/>
                  <a:pt x="120592" y="26795"/>
                  <a:pt x="117819" y="30608"/>
                </a:cubicBezTo>
                <a:lnTo>
                  <a:pt x="49565" y="124458"/>
                </a:lnTo>
                <a:cubicBezTo>
                  <a:pt x="48098" y="126485"/>
                  <a:pt x="45832" y="127738"/>
                  <a:pt x="43326" y="127951"/>
                </a:cubicBezTo>
                <a:cubicBezTo>
                  <a:pt x="40820" y="128164"/>
                  <a:pt x="38393" y="127231"/>
                  <a:pt x="36634" y="125471"/>
                </a:cubicBezTo>
                <a:lnTo>
                  <a:pt x="2506" y="91344"/>
                </a:lnTo>
                <a:cubicBezTo>
                  <a:pt x="-827" y="88011"/>
                  <a:pt x="-827" y="82599"/>
                  <a:pt x="2506" y="79266"/>
                </a:cubicBezTo>
                <a:cubicBezTo>
                  <a:pt x="5839" y="75933"/>
                  <a:pt x="11251" y="75933"/>
                  <a:pt x="14584" y="79266"/>
                </a:cubicBezTo>
                <a:lnTo>
                  <a:pt x="41646" y="106328"/>
                </a:lnTo>
                <a:lnTo>
                  <a:pt x="104035" y="20556"/>
                </a:lnTo>
                <a:cubicBezTo>
                  <a:pt x="106808" y="16744"/>
                  <a:pt x="112140" y="15891"/>
                  <a:pt x="115953" y="18663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44" name="Text 42"/>
          <p:cNvSpPr/>
          <p:nvPr/>
        </p:nvSpPr>
        <p:spPr>
          <a:xfrm>
            <a:off x="784929" y="5187359"/>
            <a:ext cx="2934953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Rate limiting:</a:t>
            </a:r>
            <a:pPr>
              <a:lnSpc>
                <a:spcPct val="130000"/>
              </a:lnSpc>
            </a:pPr>
            <a:r>
              <a:rPr lang="en-US" sz="1075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100 req/15min (API), 5/hour (auth)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82652" y="3651628"/>
            <a:ext cx="5673674" cy="1911132"/>
          </a:xfrm>
          <a:custGeom>
            <a:avLst/>
            <a:gdLst/>
            <a:ahLst/>
            <a:cxnLst/>
            <a:rect l="l" t="t" r="r" b="b"/>
            <a:pathLst>
              <a:path w="5673674" h="1911132">
                <a:moveTo>
                  <a:pt x="0" y="0"/>
                </a:moveTo>
                <a:lnTo>
                  <a:pt x="5673674" y="0"/>
                </a:lnTo>
                <a:lnTo>
                  <a:pt x="5673674" y="1911132"/>
                </a:lnTo>
                <a:lnTo>
                  <a:pt x="0" y="19111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6182652" y="3651628"/>
            <a:ext cx="34127" cy="1911132"/>
          </a:xfrm>
          <a:custGeom>
            <a:avLst/>
            <a:gdLst/>
            <a:ahLst/>
            <a:cxnLst/>
            <a:rect l="l" t="t" r="r" b="b"/>
            <a:pathLst>
              <a:path w="34127" h="1911132">
                <a:moveTo>
                  <a:pt x="0" y="0"/>
                </a:moveTo>
                <a:lnTo>
                  <a:pt x="34127" y="0"/>
                </a:lnTo>
                <a:lnTo>
                  <a:pt x="34127" y="1911132"/>
                </a:lnTo>
                <a:lnTo>
                  <a:pt x="0" y="1911132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47" name="Shape 45"/>
          <p:cNvSpPr/>
          <p:nvPr/>
        </p:nvSpPr>
        <p:spPr>
          <a:xfrm>
            <a:off x="6370352" y="3822265"/>
            <a:ext cx="409528" cy="409528"/>
          </a:xfrm>
          <a:custGeom>
            <a:avLst/>
            <a:gdLst/>
            <a:ahLst/>
            <a:cxnLst/>
            <a:rect l="l" t="t" r="r" b="b"/>
            <a:pathLst>
              <a:path w="409528" h="409528">
                <a:moveTo>
                  <a:pt x="0" y="0"/>
                </a:moveTo>
                <a:lnTo>
                  <a:pt x="409528" y="0"/>
                </a:lnTo>
                <a:lnTo>
                  <a:pt x="409528" y="409528"/>
                </a:lnTo>
                <a:lnTo>
                  <a:pt x="0" y="409528"/>
                </a:lnTo>
                <a:lnTo>
                  <a:pt x="0" y="0"/>
                </a:lnTo>
                <a:close/>
              </a:path>
            </a:pathLst>
          </a:custGeom>
          <a:solidFill>
            <a:srgbClr val="4A4A4A">
              <a:alpha val="1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511127" y="3941710"/>
            <a:ext cx="127978" cy="170637"/>
          </a:xfrm>
          <a:custGeom>
            <a:avLst/>
            <a:gdLst/>
            <a:ahLst/>
            <a:cxnLst/>
            <a:rect l="l" t="t" r="r" b="b"/>
            <a:pathLst>
              <a:path w="127978" h="170637">
                <a:moveTo>
                  <a:pt x="42659" y="31994"/>
                </a:moveTo>
                <a:lnTo>
                  <a:pt x="42659" y="53324"/>
                </a:lnTo>
                <a:lnTo>
                  <a:pt x="85318" y="53324"/>
                </a:lnTo>
                <a:lnTo>
                  <a:pt x="85318" y="31994"/>
                </a:lnTo>
                <a:cubicBezTo>
                  <a:pt x="85318" y="20230"/>
                  <a:pt x="75753" y="10665"/>
                  <a:pt x="63989" y="10665"/>
                </a:cubicBezTo>
                <a:cubicBezTo>
                  <a:pt x="52224" y="10665"/>
                  <a:pt x="42659" y="20230"/>
                  <a:pt x="42659" y="31994"/>
                </a:cubicBezTo>
                <a:close/>
                <a:moveTo>
                  <a:pt x="21330" y="53324"/>
                </a:moveTo>
                <a:lnTo>
                  <a:pt x="21330" y="31994"/>
                </a:lnTo>
                <a:cubicBezTo>
                  <a:pt x="21330" y="8432"/>
                  <a:pt x="40426" y="-10665"/>
                  <a:pt x="63989" y="-10665"/>
                </a:cubicBezTo>
                <a:cubicBezTo>
                  <a:pt x="87551" y="-10665"/>
                  <a:pt x="106648" y="8432"/>
                  <a:pt x="106648" y="31994"/>
                </a:cubicBezTo>
                <a:lnTo>
                  <a:pt x="106648" y="53324"/>
                </a:lnTo>
                <a:cubicBezTo>
                  <a:pt x="118413" y="53324"/>
                  <a:pt x="127978" y="62889"/>
                  <a:pt x="127978" y="74654"/>
                </a:cubicBezTo>
                <a:lnTo>
                  <a:pt x="127978" y="149307"/>
                </a:lnTo>
                <a:cubicBezTo>
                  <a:pt x="127978" y="161072"/>
                  <a:pt x="118413" y="170637"/>
                  <a:pt x="106648" y="170637"/>
                </a:cubicBezTo>
                <a:lnTo>
                  <a:pt x="21330" y="170637"/>
                </a:lnTo>
                <a:cubicBezTo>
                  <a:pt x="9565" y="170637"/>
                  <a:pt x="0" y="161072"/>
                  <a:pt x="0" y="149307"/>
                </a:cubicBezTo>
                <a:lnTo>
                  <a:pt x="0" y="74654"/>
                </a:lnTo>
                <a:cubicBezTo>
                  <a:pt x="0" y="62889"/>
                  <a:pt x="9565" y="53324"/>
                  <a:pt x="21330" y="53324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49" name="Text 47"/>
          <p:cNvSpPr/>
          <p:nvPr/>
        </p:nvSpPr>
        <p:spPr>
          <a:xfrm>
            <a:off x="6882262" y="3907583"/>
            <a:ext cx="1151798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Data Protection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95948" y="4402430"/>
            <a:ext cx="119446" cy="136509"/>
          </a:xfrm>
          <a:custGeom>
            <a:avLst/>
            <a:gdLst/>
            <a:ahLst/>
            <a:cxnLst/>
            <a:rect l="l" t="t" r="r" b="b"/>
            <a:pathLst>
              <a:path w="119446" h="136509">
                <a:moveTo>
                  <a:pt x="115926" y="18690"/>
                </a:moveTo>
                <a:cubicBezTo>
                  <a:pt x="119739" y="21463"/>
                  <a:pt x="120592" y="26795"/>
                  <a:pt x="117819" y="30608"/>
                </a:cubicBezTo>
                <a:lnTo>
                  <a:pt x="49565" y="124458"/>
                </a:lnTo>
                <a:cubicBezTo>
                  <a:pt x="48098" y="126485"/>
                  <a:pt x="45832" y="127738"/>
                  <a:pt x="43326" y="127951"/>
                </a:cubicBezTo>
                <a:cubicBezTo>
                  <a:pt x="40820" y="128164"/>
                  <a:pt x="38393" y="127231"/>
                  <a:pt x="36634" y="125471"/>
                </a:cubicBezTo>
                <a:lnTo>
                  <a:pt x="2506" y="91344"/>
                </a:lnTo>
                <a:cubicBezTo>
                  <a:pt x="-827" y="88011"/>
                  <a:pt x="-827" y="82599"/>
                  <a:pt x="2506" y="79266"/>
                </a:cubicBezTo>
                <a:cubicBezTo>
                  <a:pt x="5839" y="75933"/>
                  <a:pt x="11251" y="75933"/>
                  <a:pt x="14584" y="79266"/>
                </a:cubicBezTo>
                <a:lnTo>
                  <a:pt x="41646" y="106328"/>
                </a:lnTo>
                <a:lnTo>
                  <a:pt x="104035" y="20556"/>
                </a:lnTo>
                <a:cubicBezTo>
                  <a:pt x="106808" y="16744"/>
                  <a:pt x="112140" y="15891"/>
                  <a:pt x="115953" y="18663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51" name="Text 49"/>
          <p:cNvSpPr/>
          <p:nvPr/>
        </p:nvSpPr>
        <p:spPr>
          <a:xfrm>
            <a:off x="6609244" y="4368302"/>
            <a:ext cx="2789912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 variables</a:t>
            </a:r>
            <a:pPr>
              <a:lnSpc>
                <a:spcPct val="130000"/>
              </a:lnSpc>
            </a:pPr>
            <a:r>
              <a:rPr lang="en-US" sz="1075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all secrets and keys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95948" y="4675449"/>
            <a:ext cx="119446" cy="136509"/>
          </a:xfrm>
          <a:custGeom>
            <a:avLst/>
            <a:gdLst/>
            <a:ahLst/>
            <a:cxnLst/>
            <a:rect l="l" t="t" r="r" b="b"/>
            <a:pathLst>
              <a:path w="119446" h="136509">
                <a:moveTo>
                  <a:pt x="115926" y="18690"/>
                </a:moveTo>
                <a:cubicBezTo>
                  <a:pt x="119739" y="21463"/>
                  <a:pt x="120592" y="26795"/>
                  <a:pt x="117819" y="30608"/>
                </a:cubicBezTo>
                <a:lnTo>
                  <a:pt x="49565" y="124458"/>
                </a:lnTo>
                <a:cubicBezTo>
                  <a:pt x="48098" y="126485"/>
                  <a:pt x="45832" y="127738"/>
                  <a:pt x="43326" y="127951"/>
                </a:cubicBezTo>
                <a:cubicBezTo>
                  <a:pt x="40820" y="128164"/>
                  <a:pt x="38393" y="127231"/>
                  <a:pt x="36634" y="125471"/>
                </a:cubicBezTo>
                <a:lnTo>
                  <a:pt x="2506" y="91344"/>
                </a:lnTo>
                <a:cubicBezTo>
                  <a:pt x="-827" y="88011"/>
                  <a:pt x="-827" y="82599"/>
                  <a:pt x="2506" y="79266"/>
                </a:cubicBezTo>
                <a:cubicBezTo>
                  <a:pt x="5839" y="75933"/>
                  <a:pt x="11251" y="75933"/>
                  <a:pt x="14584" y="79266"/>
                </a:cubicBezTo>
                <a:lnTo>
                  <a:pt x="41646" y="106328"/>
                </a:lnTo>
                <a:lnTo>
                  <a:pt x="104035" y="20556"/>
                </a:lnTo>
                <a:cubicBezTo>
                  <a:pt x="106808" y="16744"/>
                  <a:pt x="112140" y="15891"/>
                  <a:pt x="115953" y="18663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53" name="Text 51"/>
          <p:cNvSpPr/>
          <p:nvPr/>
        </p:nvSpPr>
        <p:spPr>
          <a:xfrm>
            <a:off x="6609244" y="4641321"/>
            <a:ext cx="2687530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 enforcement</a:t>
            </a:r>
            <a:pPr>
              <a:lnSpc>
                <a:spcPct val="130000"/>
              </a:lnSpc>
            </a:pPr>
            <a:r>
              <a:rPr lang="en-US" sz="1075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all communications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95948" y="4948467"/>
            <a:ext cx="119446" cy="136509"/>
          </a:xfrm>
          <a:custGeom>
            <a:avLst/>
            <a:gdLst/>
            <a:ahLst/>
            <a:cxnLst/>
            <a:rect l="l" t="t" r="r" b="b"/>
            <a:pathLst>
              <a:path w="119446" h="136509">
                <a:moveTo>
                  <a:pt x="115926" y="18690"/>
                </a:moveTo>
                <a:cubicBezTo>
                  <a:pt x="119739" y="21463"/>
                  <a:pt x="120592" y="26795"/>
                  <a:pt x="117819" y="30608"/>
                </a:cubicBezTo>
                <a:lnTo>
                  <a:pt x="49565" y="124458"/>
                </a:lnTo>
                <a:cubicBezTo>
                  <a:pt x="48098" y="126485"/>
                  <a:pt x="45832" y="127738"/>
                  <a:pt x="43326" y="127951"/>
                </a:cubicBezTo>
                <a:cubicBezTo>
                  <a:pt x="40820" y="128164"/>
                  <a:pt x="38393" y="127231"/>
                  <a:pt x="36634" y="125471"/>
                </a:cubicBezTo>
                <a:lnTo>
                  <a:pt x="2506" y="91344"/>
                </a:lnTo>
                <a:cubicBezTo>
                  <a:pt x="-827" y="88011"/>
                  <a:pt x="-827" y="82599"/>
                  <a:pt x="2506" y="79266"/>
                </a:cubicBezTo>
                <a:cubicBezTo>
                  <a:pt x="5839" y="75933"/>
                  <a:pt x="11251" y="75933"/>
                  <a:pt x="14584" y="79266"/>
                </a:cubicBezTo>
                <a:lnTo>
                  <a:pt x="41646" y="106328"/>
                </a:lnTo>
                <a:lnTo>
                  <a:pt x="104035" y="20556"/>
                </a:lnTo>
                <a:cubicBezTo>
                  <a:pt x="106808" y="16744"/>
                  <a:pt x="112140" y="15891"/>
                  <a:pt x="115953" y="18663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55" name="Text 53"/>
          <p:cNvSpPr/>
          <p:nvPr/>
        </p:nvSpPr>
        <p:spPr>
          <a:xfrm>
            <a:off x="6609244" y="4914340"/>
            <a:ext cx="2448638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Password policy:</a:t>
            </a:r>
            <a:pPr>
              <a:lnSpc>
                <a:spcPct val="130000"/>
              </a:lnSpc>
            </a:pPr>
            <a:r>
              <a:rPr lang="en-US" sz="1075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minimum 8 characters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95948" y="5221486"/>
            <a:ext cx="119446" cy="136509"/>
          </a:xfrm>
          <a:custGeom>
            <a:avLst/>
            <a:gdLst/>
            <a:ahLst/>
            <a:cxnLst/>
            <a:rect l="l" t="t" r="r" b="b"/>
            <a:pathLst>
              <a:path w="119446" h="136509">
                <a:moveTo>
                  <a:pt x="115926" y="18690"/>
                </a:moveTo>
                <a:cubicBezTo>
                  <a:pt x="119739" y="21463"/>
                  <a:pt x="120592" y="26795"/>
                  <a:pt x="117819" y="30608"/>
                </a:cubicBezTo>
                <a:lnTo>
                  <a:pt x="49565" y="124458"/>
                </a:lnTo>
                <a:cubicBezTo>
                  <a:pt x="48098" y="126485"/>
                  <a:pt x="45832" y="127738"/>
                  <a:pt x="43326" y="127951"/>
                </a:cubicBezTo>
                <a:cubicBezTo>
                  <a:pt x="40820" y="128164"/>
                  <a:pt x="38393" y="127231"/>
                  <a:pt x="36634" y="125471"/>
                </a:cubicBezTo>
                <a:lnTo>
                  <a:pt x="2506" y="91344"/>
                </a:lnTo>
                <a:cubicBezTo>
                  <a:pt x="-827" y="88011"/>
                  <a:pt x="-827" y="82599"/>
                  <a:pt x="2506" y="79266"/>
                </a:cubicBezTo>
                <a:cubicBezTo>
                  <a:pt x="5839" y="75933"/>
                  <a:pt x="11251" y="75933"/>
                  <a:pt x="14584" y="79266"/>
                </a:cubicBezTo>
                <a:lnTo>
                  <a:pt x="41646" y="106328"/>
                </a:lnTo>
                <a:lnTo>
                  <a:pt x="104035" y="20556"/>
                </a:lnTo>
                <a:cubicBezTo>
                  <a:pt x="106808" y="16744"/>
                  <a:pt x="112140" y="15891"/>
                  <a:pt x="115953" y="18663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57" name="Text 55"/>
          <p:cNvSpPr/>
          <p:nvPr/>
        </p:nvSpPr>
        <p:spPr>
          <a:xfrm>
            <a:off x="6609244" y="5187359"/>
            <a:ext cx="2465702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headers</a:t>
            </a:r>
            <a:pPr>
              <a:lnSpc>
                <a:spcPct val="130000"/>
              </a:lnSpc>
            </a:pPr>
            <a:r>
              <a:rPr lang="en-US" sz="1075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(CSP, X-Frame, HSTS)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41274" y="5699269"/>
            <a:ext cx="11509453" cy="1160330"/>
          </a:xfrm>
          <a:custGeom>
            <a:avLst/>
            <a:gdLst/>
            <a:ahLst/>
            <a:cxnLst/>
            <a:rect l="l" t="t" r="r" b="b"/>
            <a:pathLst>
              <a:path w="11509453" h="1160330">
                <a:moveTo>
                  <a:pt x="0" y="0"/>
                </a:moveTo>
                <a:lnTo>
                  <a:pt x="11509453" y="0"/>
                </a:lnTo>
                <a:lnTo>
                  <a:pt x="11509453" y="1160330"/>
                </a:lnTo>
                <a:lnTo>
                  <a:pt x="0" y="1160330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59" name="Text 57"/>
          <p:cNvSpPr/>
          <p:nvPr/>
        </p:nvSpPr>
        <p:spPr>
          <a:xfrm>
            <a:off x="477783" y="5835779"/>
            <a:ext cx="11313220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Secret Management Strategy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77783" y="6177052"/>
            <a:ext cx="2704593" cy="546038"/>
          </a:xfrm>
          <a:custGeom>
            <a:avLst/>
            <a:gdLst/>
            <a:ahLst/>
            <a:cxnLst/>
            <a:rect l="l" t="t" r="r" b="b"/>
            <a:pathLst>
              <a:path w="2704593" h="546038">
                <a:moveTo>
                  <a:pt x="0" y="0"/>
                </a:moveTo>
                <a:lnTo>
                  <a:pt x="2704593" y="0"/>
                </a:lnTo>
                <a:lnTo>
                  <a:pt x="2704593" y="546038"/>
                </a:lnTo>
                <a:lnTo>
                  <a:pt x="0" y="546038"/>
                </a:lnTo>
                <a:lnTo>
                  <a:pt x="0" y="0"/>
                </a:lnTo>
                <a:close/>
              </a:path>
            </a:pathLst>
          </a:custGeom>
          <a:solidFill>
            <a:srgbClr val="F8F5F2">
              <a:alpha val="10196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550304" y="6279435"/>
            <a:ext cx="2559552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1" b="1" dirty="0">
                <a:solidFill>
                  <a:srgbClr val="C8A4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JWT Secret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554570" y="6484199"/>
            <a:ext cx="2551020" cy="136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6" dirty="0">
                <a:solidFill>
                  <a:srgbClr val="F8F5F2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 variable, per-deployment rotation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3321685" y="6177052"/>
            <a:ext cx="2704593" cy="546038"/>
          </a:xfrm>
          <a:custGeom>
            <a:avLst/>
            <a:gdLst/>
            <a:ahLst/>
            <a:cxnLst/>
            <a:rect l="l" t="t" r="r" b="b"/>
            <a:pathLst>
              <a:path w="2704593" h="546038">
                <a:moveTo>
                  <a:pt x="0" y="0"/>
                </a:moveTo>
                <a:lnTo>
                  <a:pt x="2704593" y="0"/>
                </a:lnTo>
                <a:lnTo>
                  <a:pt x="2704593" y="546038"/>
                </a:lnTo>
                <a:lnTo>
                  <a:pt x="0" y="546038"/>
                </a:lnTo>
                <a:lnTo>
                  <a:pt x="0" y="0"/>
                </a:lnTo>
                <a:close/>
              </a:path>
            </a:pathLst>
          </a:custGeom>
          <a:solidFill>
            <a:srgbClr val="F8F5F2">
              <a:alpha val="10196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3394206" y="6279435"/>
            <a:ext cx="2559552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1" b="1" dirty="0">
                <a:solidFill>
                  <a:srgbClr val="C8A4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URI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3398472" y="6484199"/>
            <a:ext cx="2551020" cy="136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6" dirty="0">
                <a:solidFill>
                  <a:srgbClr val="F8F5F2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 variable, rotate if compromised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165588" y="6177052"/>
            <a:ext cx="2704593" cy="546038"/>
          </a:xfrm>
          <a:custGeom>
            <a:avLst/>
            <a:gdLst/>
            <a:ahLst/>
            <a:cxnLst/>
            <a:rect l="l" t="t" r="r" b="b"/>
            <a:pathLst>
              <a:path w="2704593" h="546038">
                <a:moveTo>
                  <a:pt x="0" y="0"/>
                </a:moveTo>
                <a:lnTo>
                  <a:pt x="2704593" y="0"/>
                </a:lnTo>
                <a:lnTo>
                  <a:pt x="2704593" y="546038"/>
                </a:lnTo>
                <a:lnTo>
                  <a:pt x="0" y="546038"/>
                </a:lnTo>
                <a:lnTo>
                  <a:pt x="0" y="0"/>
                </a:lnTo>
                <a:close/>
              </a:path>
            </a:pathLst>
          </a:custGeom>
          <a:solidFill>
            <a:srgbClr val="F8F5F2">
              <a:alpha val="10196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6238108" y="6279435"/>
            <a:ext cx="2559552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1" b="1" dirty="0">
                <a:solidFill>
                  <a:srgbClr val="C8A4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 Credentials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242374" y="6484199"/>
            <a:ext cx="2551020" cy="136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6" dirty="0">
                <a:solidFill>
                  <a:srgbClr val="F8F5F2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Hashed + salted in database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9009490" y="6177052"/>
            <a:ext cx="2704593" cy="546038"/>
          </a:xfrm>
          <a:custGeom>
            <a:avLst/>
            <a:gdLst/>
            <a:ahLst/>
            <a:cxnLst/>
            <a:rect l="l" t="t" r="r" b="b"/>
            <a:pathLst>
              <a:path w="2704593" h="546038">
                <a:moveTo>
                  <a:pt x="0" y="0"/>
                </a:moveTo>
                <a:lnTo>
                  <a:pt x="2704593" y="0"/>
                </a:lnTo>
                <a:lnTo>
                  <a:pt x="2704593" y="546038"/>
                </a:lnTo>
                <a:lnTo>
                  <a:pt x="0" y="546038"/>
                </a:lnTo>
                <a:lnTo>
                  <a:pt x="0" y="0"/>
                </a:lnTo>
                <a:close/>
              </a:path>
            </a:pathLst>
          </a:custGeom>
          <a:solidFill>
            <a:srgbClr val="F8F5F2">
              <a:alpha val="10196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9082011" y="6279435"/>
            <a:ext cx="2559552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1" b="1" dirty="0">
                <a:solidFill>
                  <a:srgbClr val="C8A4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Keys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9086277" y="6484199"/>
            <a:ext cx="2551020" cy="136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6" dirty="0">
                <a:solidFill>
                  <a:srgbClr val="F8F5F2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 variable, quarterly rotation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10" kern="0" dirty="0">
                <a:solidFill>
                  <a:srgbClr val="C8A4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EXECUTION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Development Timeline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811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40-hour development plan across four 10-hour micro-sprints using Agile Scrum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6002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1809750"/>
            <a:ext cx="2743200" cy="3228975"/>
          </a:xfrm>
          <a:custGeom>
            <a:avLst/>
            <a:gdLst/>
            <a:ahLst/>
            <a:cxnLst/>
            <a:rect l="l" t="t" r="r" b="b"/>
            <a:pathLst>
              <a:path w="2743200" h="3228975">
                <a:moveTo>
                  <a:pt x="0" y="0"/>
                </a:moveTo>
                <a:lnTo>
                  <a:pt x="2743200" y="0"/>
                </a:lnTo>
                <a:lnTo>
                  <a:pt x="2743200" y="3228975"/>
                </a:lnTo>
                <a:lnTo>
                  <a:pt x="0" y="32289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381000" y="18097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0" y="0"/>
                </a:moveTo>
                <a:lnTo>
                  <a:pt x="2743200" y="0"/>
                </a:lnTo>
                <a:lnTo>
                  <a:pt x="2743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8" name="Shape 6"/>
          <p:cNvSpPr/>
          <p:nvPr/>
        </p:nvSpPr>
        <p:spPr>
          <a:xfrm>
            <a:off x="381000" y="1828800"/>
            <a:ext cx="2743200" cy="762000"/>
          </a:xfrm>
          <a:custGeom>
            <a:avLst/>
            <a:gdLst/>
            <a:ahLst/>
            <a:cxnLst/>
            <a:rect l="l" t="t" r="r" b="b"/>
            <a:pathLst>
              <a:path w="2743200" h="762000">
                <a:moveTo>
                  <a:pt x="0" y="0"/>
                </a:moveTo>
                <a:lnTo>
                  <a:pt x="2743200" y="0"/>
                </a:lnTo>
                <a:lnTo>
                  <a:pt x="27432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9" name="Text 7"/>
          <p:cNvSpPr/>
          <p:nvPr/>
        </p:nvSpPr>
        <p:spPr>
          <a:xfrm>
            <a:off x="423863" y="1943100"/>
            <a:ext cx="2657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963" y="2286000"/>
            <a:ext cx="2581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5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6250" y="2743200"/>
            <a:ext cx="255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8A48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10h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4825" y="3048000"/>
            <a:ext cx="2495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Micro-Sprint 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4831" y="33528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14" name="Text 12"/>
          <p:cNvSpPr/>
          <p:nvPr/>
        </p:nvSpPr>
        <p:spPr>
          <a:xfrm>
            <a:off x="752475" y="331470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setup &amp; config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4831" y="36195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16" name="Text 14"/>
          <p:cNvSpPr/>
          <p:nvPr/>
        </p:nvSpPr>
        <p:spPr>
          <a:xfrm>
            <a:off x="752475" y="3581400"/>
            <a:ext cx="153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schema design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4831" y="38862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18" name="Text 16"/>
          <p:cNvSpPr/>
          <p:nvPr/>
        </p:nvSpPr>
        <p:spPr>
          <a:xfrm>
            <a:off x="752475" y="3848100"/>
            <a:ext cx="170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Express server + TypeScript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4831" y="41529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20" name="Text 18"/>
          <p:cNvSpPr/>
          <p:nvPr/>
        </p:nvSpPr>
        <p:spPr>
          <a:xfrm>
            <a:off x="752475" y="4114800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MongoDB connection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3400" y="4424363"/>
            <a:ext cx="2438400" cy="9525"/>
          </a:xfrm>
          <a:custGeom>
            <a:avLst/>
            <a:gdLst/>
            <a:ahLst/>
            <a:cxnLst/>
            <a:rect l="l" t="t" r="r" b="b"/>
            <a:pathLst>
              <a:path w="2438400" h="9525">
                <a:moveTo>
                  <a:pt x="0" y="0"/>
                </a:moveTo>
                <a:lnTo>
                  <a:pt x="2438400" y="0"/>
                </a:lnTo>
                <a:lnTo>
                  <a:pt x="24384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22" name="Text 20"/>
          <p:cNvSpPr/>
          <p:nvPr/>
        </p:nvSpPr>
        <p:spPr>
          <a:xfrm>
            <a:off x="533400" y="4505325"/>
            <a:ext cx="2495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Deliverables: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3400" y="4695825"/>
            <a:ext cx="809625" cy="190500"/>
          </a:xfrm>
          <a:custGeom>
            <a:avLst/>
            <a:gdLst/>
            <a:ahLst/>
            <a:cxnLst/>
            <a:rect l="l" t="t" r="r" b="b"/>
            <a:pathLst>
              <a:path w="809625" h="190500">
                <a:moveTo>
                  <a:pt x="0" y="0"/>
                </a:moveTo>
                <a:lnTo>
                  <a:pt x="809625" y="0"/>
                </a:lnTo>
                <a:lnTo>
                  <a:pt x="809625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>
            <a:srgbClr val="C8A48C">
              <a:alpha val="1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33400" y="4695825"/>
            <a:ext cx="86677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structure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381720" y="4695825"/>
            <a:ext cx="866775" cy="190500"/>
          </a:xfrm>
          <a:custGeom>
            <a:avLst/>
            <a:gdLst/>
            <a:ahLst/>
            <a:cxnLst/>
            <a:rect l="l" t="t" r="r" b="b"/>
            <a:pathLst>
              <a:path w="866775" h="190500">
                <a:moveTo>
                  <a:pt x="0" y="0"/>
                </a:moveTo>
                <a:lnTo>
                  <a:pt x="866775" y="0"/>
                </a:lnTo>
                <a:lnTo>
                  <a:pt x="866775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>
            <a:srgbClr val="C8A48C">
              <a:alpha val="1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381720" y="4695825"/>
            <a:ext cx="92392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DB connected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276600" y="1809750"/>
            <a:ext cx="2743200" cy="3228975"/>
          </a:xfrm>
          <a:custGeom>
            <a:avLst/>
            <a:gdLst/>
            <a:ahLst/>
            <a:cxnLst/>
            <a:rect l="l" t="t" r="r" b="b"/>
            <a:pathLst>
              <a:path w="2743200" h="3228975">
                <a:moveTo>
                  <a:pt x="0" y="0"/>
                </a:moveTo>
                <a:lnTo>
                  <a:pt x="2743200" y="0"/>
                </a:lnTo>
                <a:lnTo>
                  <a:pt x="2743200" y="3228975"/>
                </a:lnTo>
                <a:lnTo>
                  <a:pt x="0" y="32289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3276600" y="18097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0" y="0"/>
                </a:moveTo>
                <a:lnTo>
                  <a:pt x="2743200" y="0"/>
                </a:lnTo>
                <a:lnTo>
                  <a:pt x="2743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9" name="Shape 27"/>
          <p:cNvSpPr/>
          <p:nvPr/>
        </p:nvSpPr>
        <p:spPr>
          <a:xfrm>
            <a:off x="3276600" y="1828800"/>
            <a:ext cx="2743200" cy="762000"/>
          </a:xfrm>
          <a:custGeom>
            <a:avLst/>
            <a:gdLst/>
            <a:ahLst/>
            <a:cxnLst/>
            <a:rect l="l" t="t" r="r" b="b"/>
            <a:pathLst>
              <a:path w="2743200" h="762000">
                <a:moveTo>
                  <a:pt x="0" y="0"/>
                </a:moveTo>
                <a:lnTo>
                  <a:pt x="2743200" y="0"/>
                </a:lnTo>
                <a:lnTo>
                  <a:pt x="27432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30" name="Text 28"/>
          <p:cNvSpPr/>
          <p:nvPr/>
        </p:nvSpPr>
        <p:spPr>
          <a:xfrm>
            <a:off x="3319463" y="1943100"/>
            <a:ext cx="2657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357563" y="2286000"/>
            <a:ext cx="2581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5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371850" y="2743200"/>
            <a:ext cx="255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10h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400425" y="3048000"/>
            <a:ext cx="2495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Micro-Sprint 2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450431" y="33528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35" name="Text 33"/>
          <p:cNvSpPr/>
          <p:nvPr/>
        </p:nvSpPr>
        <p:spPr>
          <a:xfrm>
            <a:off x="3648075" y="3314700"/>
            <a:ext cx="103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auth (JWT)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450431" y="36195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37" name="Text 35"/>
          <p:cNvSpPr/>
          <p:nvPr/>
        </p:nvSpPr>
        <p:spPr>
          <a:xfrm>
            <a:off x="3648075" y="3581400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API endpoints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450431" y="38862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39" name="Text 37"/>
          <p:cNvSpPr/>
          <p:nvPr/>
        </p:nvSpPr>
        <p:spPr>
          <a:xfrm>
            <a:off x="3648075" y="3848100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frontend setup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450431" y="41529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41" name="Text 39"/>
          <p:cNvSpPr/>
          <p:nvPr/>
        </p:nvSpPr>
        <p:spPr>
          <a:xfrm>
            <a:off x="3648075" y="4114800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listing page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429000" y="4424363"/>
            <a:ext cx="2438400" cy="9525"/>
          </a:xfrm>
          <a:custGeom>
            <a:avLst/>
            <a:gdLst/>
            <a:ahLst/>
            <a:cxnLst/>
            <a:rect l="l" t="t" r="r" b="b"/>
            <a:pathLst>
              <a:path w="2438400" h="9525">
                <a:moveTo>
                  <a:pt x="0" y="0"/>
                </a:moveTo>
                <a:lnTo>
                  <a:pt x="2438400" y="0"/>
                </a:lnTo>
                <a:lnTo>
                  <a:pt x="24384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43" name="Text 41"/>
          <p:cNvSpPr/>
          <p:nvPr/>
        </p:nvSpPr>
        <p:spPr>
          <a:xfrm>
            <a:off x="3429000" y="4505325"/>
            <a:ext cx="2495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Deliverables: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429000" y="4695825"/>
            <a:ext cx="819150" cy="190500"/>
          </a:xfrm>
          <a:custGeom>
            <a:avLst/>
            <a:gdLst/>
            <a:ahLst/>
            <a:cxnLst/>
            <a:rect l="l" t="t" r="r" b="b"/>
            <a:pathLst>
              <a:path w="819150" h="190500">
                <a:moveTo>
                  <a:pt x="0" y="0"/>
                </a:moveTo>
                <a:lnTo>
                  <a:pt x="819150" y="0"/>
                </a:lnTo>
                <a:lnTo>
                  <a:pt x="81915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>
            <a:srgbClr val="4A4A4A">
              <a:alpha val="1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3429000" y="4695825"/>
            <a:ext cx="87630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 working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286548" y="4695825"/>
            <a:ext cx="933450" cy="190500"/>
          </a:xfrm>
          <a:custGeom>
            <a:avLst/>
            <a:gdLst/>
            <a:ahLst/>
            <a:cxnLst/>
            <a:rect l="l" t="t" r="r" b="b"/>
            <a:pathLst>
              <a:path w="933450" h="190500">
                <a:moveTo>
                  <a:pt x="0" y="0"/>
                </a:moveTo>
                <a:lnTo>
                  <a:pt x="933450" y="0"/>
                </a:lnTo>
                <a:lnTo>
                  <a:pt x="93345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>
            <a:srgbClr val="4A4A4A">
              <a:alpha val="1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4286548" y="4695825"/>
            <a:ext cx="99060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display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72200" y="1809750"/>
            <a:ext cx="2743200" cy="3228975"/>
          </a:xfrm>
          <a:custGeom>
            <a:avLst/>
            <a:gdLst/>
            <a:ahLst/>
            <a:cxnLst/>
            <a:rect l="l" t="t" r="r" b="b"/>
            <a:pathLst>
              <a:path w="2743200" h="3228975">
                <a:moveTo>
                  <a:pt x="0" y="0"/>
                </a:moveTo>
                <a:lnTo>
                  <a:pt x="2743200" y="0"/>
                </a:lnTo>
                <a:lnTo>
                  <a:pt x="2743200" y="3228975"/>
                </a:lnTo>
                <a:lnTo>
                  <a:pt x="0" y="32289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Shape 47"/>
          <p:cNvSpPr/>
          <p:nvPr/>
        </p:nvSpPr>
        <p:spPr>
          <a:xfrm>
            <a:off x="6172200" y="18097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0" y="0"/>
                </a:moveTo>
                <a:lnTo>
                  <a:pt x="2743200" y="0"/>
                </a:lnTo>
                <a:lnTo>
                  <a:pt x="2743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50" name="Shape 48"/>
          <p:cNvSpPr/>
          <p:nvPr/>
        </p:nvSpPr>
        <p:spPr>
          <a:xfrm>
            <a:off x="6172200" y="1828800"/>
            <a:ext cx="2743200" cy="762000"/>
          </a:xfrm>
          <a:custGeom>
            <a:avLst/>
            <a:gdLst/>
            <a:ahLst/>
            <a:cxnLst/>
            <a:rect l="l" t="t" r="r" b="b"/>
            <a:pathLst>
              <a:path w="2743200" h="762000">
                <a:moveTo>
                  <a:pt x="0" y="0"/>
                </a:moveTo>
                <a:lnTo>
                  <a:pt x="2743200" y="0"/>
                </a:lnTo>
                <a:lnTo>
                  <a:pt x="27432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51" name="Text 49"/>
          <p:cNvSpPr/>
          <p:nvPr/>
        </p:nvSpPr>
        <p:spPr>
          <a:xfrm>
            <a:off x="6215063" y="1943100"/>
            <a:ext cx="2657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253163" y="2286000"/>
            <a:ext cx="2581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5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Commerce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267450" y="2743200"/>
            <a:ext cx="255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8A48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10h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296025" y="3048000"/>
            <a:ext cx="2495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Micro-Sprint 3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46031" y="33528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56" name="Text 54"/>
          <p:cNvSpPr/>
          <p:nvPr/>
        </p:nvSpPr>
        <p:spPr>
          <a:xfrm>
            <a:off x="6543675" y="3314700"/>
            <a:ext cx="1647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Shopping cart functionality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46031" y="36195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58" name="Text 56"/>
          <p:cNvSpPr/>
          <p:nvPr/>
        </p:nvSpPr>
        <p:spPr>
          <a:xfrm>
            <a:off x="6543675" y="3581400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Checkout process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46031" y="38862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60" name="Text 58"/>
          <p:cNvSpPr/>
          <p:nvPr/>
        </p:nvSpPr>
        <p:spPr>
          <a:xfrm>
            <a:off x="6543675" y="3848100"/>
            <a:ext cx="143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Order management API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46031" y="41529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62" name="Text 60"/>
          <p:cNvSpPr/>
          <p:nvPr/>
        </p:nvSpPr>
        <p:spPr>
          <a:xfrm>
            <a:off x="6543675" y="4114800"/>
            <a:ext cx="120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 panel basics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24600" y="4424363"/>
            <a:ext cx="2438400" cy="9525"/>
          </a:xfrm>
          <a:custGeom>
            <a:avLst/>
            <a:gdLst/>
            <a:ahLst/>
            <a:cxnLst/>
            <a:rect l="l" t="t" r="r" b="b"/>
            <a:pathLst>
              <a:path w="2438400" h="9525">
                <a:moveTo>
                  <a:pt x="0" y="0"/>
                </a:moveTo>
                <a:lnTo>
                  <a:pt x="2438400" y="0"/>
                </a:lnTo>
                <a:lnTo>
                  <a:pt x="24384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64" name="Text 62"/>
          <p:cNvSpPr/>
          <p:nvPr/>
        </p:nvSpPr>
        <p:spPr>
          <a:xfrm>
            <a:off x="6324600" y="4505325"/>
            <a:ext cx="2495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Deliverables: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324600" y="4695825"/>
            <a:ext cx="962025" cy="190500"/>
          </a:xfrm>
          <a:custGeom>
            <a:avLst/>
            <a:gdLst/>
            <a:ahLst/>
            <a:cxnLst/>
            <a:rect l="l" t="t" r="r" b="b"/>
            <a:pathLst>
              <a:path w="962025" h="190500">
                <a:moveTo>
                  <a:pt x="0" y="0"/>
                </a:moveTo>
                <a:lnTo>
                  <a:pt x="962025" y="0"/>
                </a:lnTo>
                <a:lnTo>
                  <a:pt x="962025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>
            <a:srgbClr val="C8A48C">
              <a:alpha val="10196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6324600" y="4695825"/>
            <a:ext cx="101917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Cart &amp; checkout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7329339" y="4695825"/>
            <a:ext cx="876300" cy="190500"/>
          </a:xfrm>
          <a:custGeom>
            <a:avLst/>
            <a:gdLst/>
            <a:ahLst/>
            <a:cxnLst/>
            <a:rect l="l" t="t" r="r" b="b"/>
            <a:pathLst>
              <a:path w="876300" h="190500">
                <a:moveTo>
                  <a:pt x="0" y="0"/>
                </a:moveTo>
                <a:lnTo>
                  <a:pt x="876300" y="0"/>
                </a:lnTo>
                <a:lnTo>
                  <a:pt x="8763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>
            <a:srgbClr val="C8A48C">
              <a:alpha val="10196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7329339" y="4695825"/>
            <a:ext cx="9334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Order creation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9067800" y="1809750"/>
            <a:ext cx="2743200" cy="3228975"/>
          </a:xfrm>
          <a:custGeom>
            <a:avLst/>
            <a:gdLst/>
            <a:ahLst/>
            <a:cxnLst/>
            <a:rect l="l" t="t" r="r" b="b"/>
            <a:pathLst>
              <a:path w="2743200" h="3228975">
                <a:moveTo>
                  <a:pt x="0" y="0"/>
                </a:moveTo>
                <a:lnTo>
                  <a:pt x="2743200" y="0"/>
                </a:lnTo>
                <a:lnTo>
                  <a:pt x="2743200" y="3228975"/>
                </a:lnTo>
                <a:lnTo>
                  <a:pt x="0" y="32289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0" name="Shape 68"/>
          <p:cNvSpPr/>
          <p:nvPr/>
        </p:nvSpPr>
        <p:spPr>
          <a:xfrm>
            <a:off x="9067800" y="18097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0" y="0"/>
                </a:moveTo>
                <a:lnTo>
                  <a:pt x="2743200" y="0"/>
                </a:lnTo>
                <a:lnTo>
                  <a:pt x="2743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71" name="Shape 69"/>
          <p:cNvSpPr/>
          <p:nvPr/>
        </p:nvSpPr>
        <p:spPr>
          <a:xfrm>
            <a:off x="9067800" y="1828800"/>
            <a:ext cx="2743200" cy="762000"/>
          </a:xfrm>
          <a:custGeom>
            <a:avLst/>
            <a:gdLst/>
            <a:ahLst/>
            <a:cxnLst/>
            <a:rect l="l" t="t" r="r" b="b"/>
            <a:pathLst>
              <a:path w="2743200" h="762000">
                <a:moveTo>
                  <a:pt x="0" y="0"/>
                </a:moveTo>
                <a:lnTo>
                  <a:pt x="2743200" y="0"/>
                </a:lnTo>
                <a:lnTo>
                  <a:pt x="27432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72" name="Text 70"/>
          <p:cNvSpPr/>
          <p:nvPr/>
        </p:nvSpPr>
        <p:spPr>
          <a:xfrm>
            <a:off x="9110663" y="1943100"/>
            <a:ext cx="2657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9148763" y="2286000"/>
            <a:ext cx="2581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5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Polish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9163050" y="2743200"/>
            <a:ext cx="255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10h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9191625" y="3048000"/>
            <a:ext cx="2495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Micro-Sprint 4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9241631" y="33528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77" name="Text 75"/>
          <p:cNvSpPr/>
          <p:nvPr/>
        </p:nvSpPr>
        <p:spPr>
          <a:xfrm>
            <a:off x="9439275" y="3314700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profile management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9241631" y="36195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79" name="Text 77"/>
          <p:cNvSpPr/>
          <p:nvPr/>
        </p:nvSpPr>
        <p:spPr>
          <a:xfrm>
            <a:off x="9439275" y="3581400"/>
            <a:ext cx="83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Order history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9241631" y="38862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81" name="Text 79"/>
          <p:cNvSpPr/>
          <p:nvPr/>
        </p:nvSpPr>
        <p:spPr>
          <a:xfrm>
            <a:off x="9439275" y="3848100"/>
            <a:ext cx="117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hardening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9241631" y="41529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83" name="Text 81"/>
          <p:cNvSpPr/>
          <p:nvPr/>
        </p:nvSpPr>
        <p:spPr>
          <a:xfrm>
            <a:off x="9439275" y="4114800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 preparation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9220200" y="4424363"/>
            <a:ext cx="2438400" cy="9525"/>
          </a:xfrm>
          <a:custGeom>
            <a:avLst/>
            <a:gdLst/>
            <a:ahLst/>
            <a:cxnLst/>
            <a:rect l="l" t="t" r="r" b="b"/>
            <a:pathLst>
              <a:path w="2438400" h="9525">
                <a:moveTo>
                  <a:pt x="0" y="0"/>
                </a:moveTo>
                <a:lnTo>
                  <a:pt x="2438400" y="0"/>
                </a:lnTo>
                <a:lnTo>
                  <a:pt x="24384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85" name="Text 83"/>
          <p:cNvSpPr/>
          <p:nvPr/>
        </p:nvSpPr>
        <p:spPr>
          <a:xfrm>
            <a:off x="9220200" y="4505325"/>
            <a:ext cx="2495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Deliverables: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9220200" y="4695825"/>
            <a:ext cx="733425" cy="190500"/>
          </a:xfrm>
          <a:custGeom>
            <a:avLst/>
            <a:gdLst/>
            <a:ahLst/>
            <a:cxnLst/>
            <a:rect l="l" t="t" r="r" b="b"/>
            <a:pathLst>
              <a:path w="733425" h="190500">
                <a:moveTo>
                  <a:pt x="0" y="0"/>
                </a:moveTo>
                <a:lnTo>
                  <a:pt x="733425" y="0"/>
                </a:lnTo>
                <a:lnTo>
                  <a:pt x="733425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>
            <a:srgbClr val="4A4A4A">
              <a:alpha val="10196"/>
            </a:srgbClr>
          </a:solidFill>
          <a:ln/>
        </p:spPr>
      </p:sp>
      <p:sp>
        <p:nvSpPr>
          <p:cNvPr id="87" name="Text 85"/>
          <p:cNvSpPr/>
          <p:nvPr/>
        </p:nvSpPr>
        <p:spPr>
          <a:xfrm>
            <a:off x="9220200" y="4695825"/>
            <a:ext cx="79057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profiles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9995297" y="4695825"/>
            <a:ext cx="819150" cy="190500"/>
          </a:xfrm>
          <a:custGeom>
            <a:avLst/>
            <a:gdLst/>
            <a:ahLst/>
            <a:cxnLst/>
            <a:rect l="l" t="t" r="r" b="b"/>
            <a:pathLst>
              <a:path w="819150" h="190500">
                <a:moveTo>
                  <a:pt x="0" y="0"/>
                </a:moveTo>
                <a:lnTo>
                  <a:pt x="819150" y="0"/>
                </a:lnTo>
                <a:lnTo>
                  <a:pt x="81915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>
            <a:srgbClr val="4A4A4A">
              <a:alpha val="10196"/>
            </a:srgbClr>
          </a:solidFill>
          <a:ln/>
        </p:spPr>
      </p:sp>
      <p:sp>
        <p:nvSpPr>
          <p:cNvPr id="89" name="Text 87"/>
          <p:cNvSpPr/>
          <p:nvPr/>
        </p:nvSpPr>
        <p:spPr>
          <a:xfrm>
            <a:off x="9995297" y="4695825"/>
            <a:ext cx="87630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 ready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381000" y="5191125"/>
            <a:ext cx="11430000" cy="838200"/>
          </a:xfrm>
          <a:custGeom>
            <a:avLst/>
            <a:gdLst/>
            <a:ahLst/>
            <a:cxnLst/>
            <a:rect l="l" t="t" r="r" b="b"/>
            <a:pathLst>
              <a:path w="11430000" h="838200">
                <a:moveTo>
                  <a:pt x="0" y="0"/>
                </a:moveTo>
                <a:lnTo>
                  <a:pt x="11430000" y="0"/>
                </a:lnTo>
                <a:lnTo>
                  <a:pt x="114300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91" name="Shape 89"/>
          <p:cNvSpPr/>
          <p:nvPr/>
        </p:nvSpPr>
        <p:spPr>
          <a:xfrm>
            <a:off x="571500" y="54673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67946" y="107156"/>
                </a:moveTo>
                <a:lnTo>
                  <a:pt x="272355" y="107156"/>
                </a:lnTo>
                <a:cubicBezTo>
                  <a:pt x="279778" y="107156"/>
                  <a:pt x="285750" y="101185"/>
                  <a:pt x="285750" y="93762"/>
                </a:cubicBezTo>
                <a:lnTo>
                  <a:pt x="285750" y="13395"/>
                </a:lnTo>
                <a:cubicBezTo>
                  <a:pt x="285750" y="7981"/>
                  <a:pt x="282513" y="3070"/>
                  <a:pt x="277490" y="1005"/>
                </a:cubicBezTo>
                <a:cubicBezTo>
                  <a:pt x="272467" y="-1060"/>
                  <a:pt x="266719" y="112"/>
                  <a:pt x="262868" y="3907"/>
                </a:cubicBezTo>
                <a:lnTo>
                  <a:pt x="234014" y="32817"/>
                </a:lnTo>
                <a:cubicBezTo>
                  <a:pt x="209290" y="12334"/>
                  <a:pt x="177478" y="0"/>
                  <a:pt x="142875" y="0"/>
                </a:cubicBezTo>
                <a:cubicBezTo>
                  <a:pt x="70879" y="0"/>
                  <a:pt x="11330" y="53243"/>
                  <a:pt x="1451" y="122504"/>
                </a:cubicBezTo>
                <a:cubicBezTo>
                  <a:pt x="56" y="132271"/>
                  <a:pt x="6809" y="141312"/>
                  <a:pt x="16576" y="142708"/>
                </a:cubicBezTo>
                <a:cubicBezTo>
                  <a:pt x="26343" y="144103"/>
                  <a:pt x="35384" y="137294"/>
                  <a:pt x="36779" y="127583"/>
                </a:cubicBezTo>
                <a:cubicBezTo>
                  <a:pt x="44202" y="75623"/>
                  <a:pt x="88906" y="35719"/>
                  <a:pt x="142875" y="35719"/>
                </a:cubicBezTo>
                <a:cubicBezTo>
                  <a:pt x="167655" y="35719"/>
                  <a:pt x="190426" y="44090"/>
                  <a:pt x="208564" y="58210"/>
                </a:cubicBezTo>
                <a:lnTo>
                  <a:pt x="182500" y="84274"/>
                </a:lnTo>
                <a:cubicBezTo>
                  <a:pt x="178650" y="88125"/>
                  <a:pt x="177533" y="93873"/>
                  <a:pt x="179598" y="98896"/>
                </a:cubicBezTo>
                <a:cubicBezTo>
                  <a:pt x="181663" y="103919"/>
                  <a:pt x="186575" y="107156"/>
                  <a:pt x="191988" y="107156"/>
                </a:cubicBezTo>
                <a:lnTo>
                  <a:pt x="267946" y="107156"/>
                </a:lnTo>
                <a:close/>
                <a:moveTo>
                  <a:pt x="284355" y="163246"/>
                </a:moveTo>
                <a:cubicBezTo>
                  <a:pt x="285750" y="153479"/>
                  <a:pt x="278941" y="144438"/>
                  <a:pt x="269230" y="143042"/>
                </a:cubicBezTo>
                <a:cubicBezTo>
                  <a:pt x="259519" y="141647"/>
                  <a:pt x="250422" y="148456"/>
                  <a:pt x="249027" y="158167"/>
                </a:cubicBezTo>
                <a:cubicBezTo>
                  <a:pt x="241604" y="210071"/>
                  <a:pt x="196900" y="249975"/>
                  <a:pt x="142931" y="249975"/>
                </a:cubicBezTo>
                <a:cubicBezTo>
                  <a:pt x="118151" y="249975"/>
                  <a:pt x="95380" y="241604"/>
                  <a:pt x="77242" y="227484"/>
                </a:cubicBezTo>
                <a:lnTo>
                  <a:pt x="103250" y="201476"/>
                </a:lnTo>
                <a:cubicBezTo>
                  <a:pt x="107100" y="197625"/>
                  <a:pt x="108217" y="191877"/>
                  <a:pt x="106152" y="186854"/>
                </a:cubicBezTo>
                <a:cubicBezTo>
                  <a:pt x="104087" y="181831"/>
                  <a:pt x="99175" y="178594"/>
                  <a:pt x="93762" y="178594"/>
                </a:cubicBezTo>
                <a:lnTo>
                  <a:pt x="13395" y="178594"/>
                </a:lnTo>
                <a:cubicBezTo>
                  <a:pt x="5972" y="178594"/>
                  <a:pt x="0" y="184565"/>
                  <a:pt x="0" y="191988"/>
                </a:cubicBezTo>
                <a:lnTo>
                  <a:pt x="0" y="272355"/>
                </a:lnTo>
                <a:cubicBezTo>
                  <a:pt x="0" y="277769"/>
                  <a:pt x="3237" y="282680"/>
                  <a:pt x="8260" y="284745"/>
                </a:cubicBezTo>
                <a:cubicBezTo>
                  <a:pt x="13283" y="286810"/>
                  <a:pt x="19031" y="285638"/>
                  <a:pt x="22882" y="281843"/>
                </a:cubicBezTo>
                <a:lnTo>
                  <a:pt x="51792" y="252933"/>
                </a:lnTo>
                <a:cubicBezTo>
                  <a:pt x="76460" y="273416"/>
                  <a:pt x="108272" y="285750"/>
                  <a:pt x="142875" y="285750"/>
                </a:cubicBezTo>
                <a:cubicBezTo>
                  <a:pt x="214871" y="285750"/>
                  <a:pt x="274420" y="232507"/>
                  <a:pt x="284299" y="163246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92" name="Text 90"/>
          <p:cNvSpPr/>
          <p:nvPr/>
        </p:nvSpPr>
        <p:spPr>
          <a:xfrm>
            <a:off x="1042988" y="5362575"/>
            <a:ext cx="561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Agile Scrum Ceremonies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1042988" y="5667375"/>
            <a:ext cx="559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5F2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Sprint Planning (15m) → Daily Standup (5-10m) → Sprint Review (15m) → Retrospective (10m)</a:t>
            </a:r>
            <a:endParaRPr lang="en-US" sz="1600" dirty="0"/>
          </a:p>
        </p:txBody>
      </p:sp>
      <p:sp>
        <p:nvSpPr>
          <p:cNvPr id="94" name="Text 92"/>
          <p:cNvSpPr/>
          <p:nvPr/>
        </p:nvSpPr>
        <p:spPr>
          <a:xfrm>
            <a:off x="10836771" y="5343525"/>
            <a:ext cx="819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C8A48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2.5h</a:t>
            </a:r>
            <a:endParaRPr lang="en-US" sz="1600" dirty="0"/>
          </a:p>
        </p:txBody>
      </p:sp>
      <p:sp>
        <p:nvSpPr>
          <p:cNvPr id="95" name="Text 93"/>
          <p:cNvSpPr/>
          <p:nvPr/>
        </p:nvSpPr>
        <p:spPr>
          <a:xfrm>
            <a:off x="10912971" y="5686425"/>
            <a:ext cx="742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F8F5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Daily Focus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175" kern="0" dirty="0">
                <a:solidFill>
                  <a:srgbClr val="C8A4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Deployment Strategy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84250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Zero-cost deployment architecture using free-tier cloud services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33350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6" name="Shape 4"/>
          <p:cNvSpPr/>
          <p:nvPr/>
        </p:nvSpPr>
        <p:spPr>
          <a:xfrm>
            <a:off x="333375" y="1492250"/>
            <a:ext cx="5699125" cy="2373313"/>
          </a:xfrm>
          <a:custGeom>
            <a:avLst/>
            <a:gdLst/>
            <a:ahLst/>
            <a:cxnLst/>
            <a:rect l="l" t="t" r="r" b="b"/>
            <a:pathLst>
              <a:path w="5699125" h="2373313">
                <a:moveTo>
                  <a:pt x="0" y="0"/>
                </a:moveTo>
                <a:lnTo>
                  <a:pt x="5699125" y="0"/>
                </a:lnTo>
                <a:lnTo>
                  <a:pt x="5699125" y="2373313"/>
                </a:lnTo>
                <a:lnTo>
                  <a:pt x="0" y="23733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333375" y="1492250"/>
            <a:ext cx="31750" cy="2373313"/>
          </a:xfrm>
          <a:custGeom>
            <a:avLst/>
            <a:gdLst/>
            <a:ahLst/>
            <a:cxnLst/>
            <a:rect l="l" t="t" r="r" b="b"/>
            <a:pathLst>
              <a:path w="31750" h="2373313">
                <a:moveTo>
                  <a:pt x="0" y="0"/>
                </a:moveTo>
                <a:lnTo>
                  <a:pt x="31750" y="0"/>
                </a:lnTo>
                <a:lnTo>
                  <a:pt x="31750" y="2373313"/>
                </a:lnTo>
                <a:lnTo>
                  <a:pt x="0" y="2373313"/>
                </a:lnTo>
                <a:lnTo>
                  <a:pt x="0" y="0"/>
                </a:lnTo>
                <a:close/>
              </a:path>
            </a:pathLst>
          </a:custGeom>
          <a:solidFill>
            <a:srgbClr val="61DAFB"/>
          </a:solidFill>
          <a:ln/>
        </p:spPr>
      </p:sp>
      <p:sp>
        <p:nvSpPr>
          <p:cNvPr id="8" name="Shape 6"/>
          <p:cNvSpPr/>
          <p:nvPr/>
        </p:nvSpPr>
        <p:spPr>
          <a:xfrm>
            <a:off x="531813" y="1746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61DAFB"/>
          </a:solidFill>
          <a:ln/>
        </p:spPr>
      </p:sp>
      <p:sp>
        <p:nvSpPr>
          <p:cNvPr id="9" name="Text 7"/>
          <p:cNvSpPr/>
          <p:nvPr/>
        </p:nvSpPr>
        <p:spPr>
          <a:xfrm>
            <a:off x="841375" y="1651000"/>
            <a:ext cx="1182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Frontend Hosting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375" y="1873250"/>
            <a:ext cx="1158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8A4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Vercel or Netlify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8000" y="2512219"/>
            <a:ext cx="5365750" cy="7938"/>
          </a:xfrm>
          <a:custGeom>
            <a:avLst/>
            <a:gdLst/>
            <a:ahLst/>
            <a:cxnLst/>
            <a:rect l="l" t="t" r="r" b="b"/>
            <a:pathLst>
              <a:path w="5365750" h="7938">
                <a:moveTo>
                  <a:pt x="0" y="0"/>
                </a:moveTo>
                <a:lnTo>
                  <a:pt x="5365750" y="0"/>
                </a:lnTo>
                <a:lnTo>
                  <a:pt x="5365750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12" name="Text 10"/>
          <p:cNvSpPr/>
          <p:nvPr/>
        </p:nvSpPr>
        <p:spPr>
          <a:xfrm>
            <a:off x="508000" y="2238375"/>
            <a:ext cx="722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 Tier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26980" y="2222500"/>
            <a:ext cx="349250" cy="222250"/>
          </a:xfrm>
          <a:custGeom>
            <a:avLst/>
            <a:gdLst/>
            <a:ahLst/>
            <a:cxnLst/>
            <a:rect l="l" t="t" r="r" b="b"/>
            <a:pathLst>
              <a:path w="349250" h="222250">
                <a:moveTo>
                  <a:pt x="0" y="0"/>
                </a:moveTo>
                <a:lnTo>
                  <a:pt x="349250" y="0"/>
                </a:lnTo>
                <a:lnTo>
                  <a:pt x="349250" y="222250"/>
                </a:lnTo>
                <a:lnTo>
                  <a:pt x="0" y="222250"/>
                </a:lnTo>
                <a:lnTo>
                  <a:pt x="0" y="0"/>
                </a:lnTo>
                <a:close/>
              </a:path>
            </a:pathLst>
          </a:custGeom>
          <a:solidFill>
            <a:srgbClr val="61DAFB">
              <a:alpha val="1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526980" y="2222500"/>
            <a:ext cx="404813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8000" y="2932906"/>
            <a:ext cx="5365750" cy="7938"/>
          </a:xfrm>
          <a:custGeom>
            <a:avLst/>
            <a:gdLst/>
            <a:ahLst/>
            <a:cxnLst/>
            <a:rect l="l" t="t" r="r" b="b"/>
            <a:pathLst>
              <a:path w="5365750" h="7938">
                <a:moveTo>
                  <a:pt x="0" y="0"/>
                </a:moveTo>
                <a:lnTo>
                  <a:pt x="5365750" y="0"/>
                </a:lnTo>
                <a:lnTo>
                  <a:pt x="5365750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16" name="Text 14"/>
          <p:cNvSpPr/>
          <p:nvPr/>
        </p:nvSpPr>
        <p:spPr>
          <a:xfrm>
            <a:off x="508000" y="2659063"/>
            <a:ext cx="817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Monthly Cost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16488" y="2643188"/>
            <a:ext cx="23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61DAF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$0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8000" y="3321844"/>
            <a:ext cx="5365750" cy="7938"/>
          </a:xfrm>
          <a:custGeom>
            <a:avLst/>
            <a:gdLst/>
            <a:ahLst/>
            <a:cxnLst/>
            <a:rect l="l" t="t" r="r" b="b"/>
            <a:pathLst>
              <a:path w="5365750" h="7938">
                <a:moveTo>
                  <a:pt x="0" y="0"/>
                </a:moveTo>
                <a:lnTo>
                  <a:pt x="5365750" y="0"/>
                </a:lnTo>
                <a:lnTo>
                  <a:pt x="5365750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19" name="Text 17"/>
          <p:cNvSpPr/>
          <p:nvPr/>
        </p:nvSpPr>
        <p:spPr>
          <a:xfrm>
            <a:off x="508000" y="3063875"/>
            <a:ext cx="706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Setup Time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4564" y="3063875"/>
            <a:ext cx="452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 min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8000" y="3452813"/>
            <a:ext cx="555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44033" y="3468688"/>
            <a:ext cx="88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CI/CD, SSL, CDN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5375" y="1492250"/>
            <a:ext cx="5699125" cy="2373313"/>
          </a:xfrm>
          <a:custGeom>
            <a:avLst/>
            <a:gdLst/>
            <a:ahLst/>
            <a:cxnLst/>
            <a:rect l="l" t="t" r="r" b="b"/>
            <a:pathLst>
              <a:path w="5699125" h="2373313">
                <a:moveTo>
                  <a:pt x="0" y="0"/>
                </a:moveTo>
                <a:lnTo>
                  <a:pt x="5699125" y="0"/>
                </a:lnTo>
                <a:lnTo>
                  <a:pt x="5699125" y="2373313"/>
                </a:lnTo>
                <a:lnTo>
                  <a:pt x="0" y="23733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175375" y="1492250"/>
            <a:ext cx="31750" cy="2373313"/>
          </a:xfrm>
          <a:custGeom>
            <a:avLst/>
            <a:gdLst/>
            <a:ahLst/>
            <a:cxnLst/>
            <a:rect l="l" t="t" r="r" b="b"/>
            <a:pathLst>
              <a:path w="31750" h="2373313">
                <a:moveTo>
                  <a:pt x="0" y="0"/>
                </a:moveTo>
                <a:lnTo>
                  <a:pt x="31750" y="0"/>
                </a:lnTo>
                <a:lnTo>
                  <a:pt x="31750" y="2373313"/>
                </a:lnTo>
                <a:lnTo>
                  <a:pt x="0" y="2373313"/>
                </a:lnTo>
                <a:lnTo>
                  <a:pt x="0" y="0"/>
                </a:lnTo>
                <a:close/>
              </a:path>
            </a:pathLst>
          </a:custGeom>
          <a:solidFill>
            <a:srgbClr val="68A063"/>
          </a:solidFill>
          <a:ln/>
        </p:spPr>
      </p:sp>
      <p:sp>
        <p:nvSpPr>
          <p:cNvPr id="25" name="Shape 23"/>
          <p:cNvSpPr/>
          <p:nvPr/>
        </p:nvSpPr>
        <p:spPr>
          <a:xfrm>
            <a:off x="6385719" y="17462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68A063"/>
          </a:solidFill>
          <a:ln/>
        </p:spPr>
      </p:sp>
      <p:sp>
        <p:nvSpPr>
          <p:cNvPr id="26" name="Text 24"/>
          <p:cNvSpPr/>
          <p:nvPr/>
        </p:nvSpPr>
        <p:spPr>
          <a:xfrm>
            <a:off x="6683375" y="1651000"/>
            <a:ext cx="1135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Backend Hosting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83375" y="1873250"/>
            <a:ext cx="1111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8A4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Render or Railway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50000" y="2512219"/>
            <a:ext cx="5365750" cy="7938"/>
          </a:xfrm>
          <a:custGeom>
            <a:avLst/>
            <a:gdLst/>
            <a:ahLst/>
            <a:cxnLst/>
            <a:rect l="l" t="t" r="r" b="b"/>
            <a:pathLst>
              <a:path w="5365750" h="7938">
                <a:moveTo>
                  <a:pt x="0" y="0"/>
                </a:moveTo>
                <a:lnTo>
                  <a:pt x="5365750" y="0"/>
                </a:lnTo>
                <a:lnTo>
                  <a:pt x="5365750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29" name="Text 27"/>
          <p:cNvSpPr/>
          <p:nvPr/>
        </p:nvSpPr>
        <p:spPr>
          <a:xfrm>
            <a:off x="6350000" y="2238375"/>
            <a:ext cx="722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 Tier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1368980" y="2222500"/>
            <a:ext cx="349250" cy="222250"/>
          </a:xfrm>
          <a:custGeom>
            <a:avLst/>
            <a:gdLst/>
            <a:ahLst/>
            <a:cxnLst/>
            <a:rect l="l" t="t" r="r" b="b"/>
            <a:pathLst>
              <a:path w="349250" h="222250">
                <a:moveTo>
                  <a:pt x="0" y="0"/>
                </a:moveTo>
                <a:lnTo>
                  <a:pt x="349250" y="0"/>
                </a:lnTo>
                <a:lnTo>
                  <a:pt x="349250" y="222250"/>
                </a:lnTo>
                <a:lnTo>
                  <a:pt x="0" y="222250"/>
                </a:lnTo>
                <a:lnTo>
                  <a:pt x="0" y="0"/>
                </a:lnTo>
                <a:close/>
              </a:path>
            </a:pathLst>
          </a:custGeom>
          <a:solidFill>
            <a:srgbClr val="68A063">
              <a:alpha val="1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1368980" y="2222500"/>
            <a:ext cx="404813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50000" y="2932906"/>
            <a:ext cx="5365750" cy="7938"/>
          </a:xfrm>
          <a:custGeom>
            <a:avLst/>
            <a:gdLst/>
            <a:ahLst/>
            <a:cxnLst/>
            <a:rect l="l" t="t" r="r" b="b"/>
            <a:pathLst>
              <a:path w="5365750" h="7938">
                <a:moveTo>
                  <a:pt x="0" y="0"/>
                </a:moveTo>
                <a:lnTo>
                  <a:pt x="5365750" y="0"/>
                </a:lnTo>
                <a:lnTo>
                  <a:pt x="5365750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33" name="Text 31"/>
          <p:cNvSpPr/>
          <p:nvPr/>
        </p:nvSpPr>
        <p:spPr>
          <a:xfrm>
            <a:off x="6350000" y="2659063"/>
            <a:ext cx="817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Monthly Cost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558488" y="2643188"/>
            <a:ext cx="23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68A063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$0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50000" y="3321844"/>
            <a:ext cx="5365750" cy="7938"/>
          </a:xfrm>
          <a:custGeom>
            <a:avLst/>
            <a:gdLst/>
            <a:ahLst/>
            <a:cxnLst/>
            <a:rect l="l" t="t" r="r" b="b"/>
            <a:pathLst>
              <a:path w="5365750" h="7938">
                <a:moveTo>
                  <a:pt x="0" y="0"/>
                </a:moveTo>
                <a:lnTo>
                  <a:pt x="5365750" y="0"/>
                </a:lnTo>
                <a:lnTo>
                  <a:pt x="5365750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36" name="Text 34"/>
          <p:cNvSpPr/>
          <p:nvPr/>
        </p:nvSpPr>
        <p:spPr>
          <a:xfrm>
            <a:off x="6350000" y="3063875"/>
            <a:ext cx="706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Setup Time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334502" y="3063875"/>
            <a:ext cx="44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45 min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50000" y="3452813"/>
            <a:ext cx="555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849074" y="3468688"/>
            <a:ext cx="920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Auto-deploy, logs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33375" y="3992563"/>
            <a:ext cx="5699125" cy="2373313"/>
          </a:xfrm>
          <a:custGeom>
            <a:avLst/>
            <a:gdLst/>
            <a:ahLst/>
            <a:cxnLst/>
            <a:rect l="l" t="t" r="r" b="b"/>
            <a:pathLst>
              <a:path w="5699125" h="2373313">
                <a:moveTo>
                  <a:pt x="0" y="0"/>
                </a:moveTo>
                <a:lnTo>
                  <a:pt x="5699125" y="0"/>
                </a:lnTo>
                <a:lnTo>
                  <a:pt x="5699125" y="2373313"/>
                </a:lnTo>
                <a:lnTo>
                  <a:pt x="0" y="23733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333375" y="3992563"/>
            <a:ext cx="31750" cy="2373313"/>
          </a:xfrm>
          <a:custGeom>
            <a:avLst/>
            <a:gdLst/>
            <a:ahLst/>
            <a:cxnLst/>
            <a:rect l="l" t="t" r="r" b="b"/>
            <a:pathLst>
              <a:path w="31750" h="2373313">
                <a:moveTo>
                  <a:pt x="0" y="0"/>
                </a:moveTo>
                <a:lnTo>
                  <a:pt x="31750" y="0"/>
                </a:lnTo>
                <a:lnTo>
                  <a:pt x="31750" y="2373313"/>
                </a:lnTo>
                <a:lnTo>
                  <a:pt x="0" y="2373313"/>
                </a:lnTo>
                <a:lnTo>
                  <a:pt x="0" y="0"/>
                </a:lnTo>
                <a:close/>
              </a:path>
            </a:pathLst>
          </a:custGeom>
          <a:solidFill>
            <a:srgbClr val="47A248"/>
          </a:solidFill>
          <a:ln/>
        </p:spPr>
      </p:sp>
      <p:sp>
        <p:nvSpPr>
          <p:cNvPr id="42" name="Shape 40"/>
          <p:cNvSpPr/>
          <p:nvPr/>
        </p:nvSpPr>
        <p:spPr>
          <a:xfrm>
            <a:off x="543719" y="424656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47A248"/>
          </a:solidFill>
          <a:ln/>
        </p:spPr>
      </p:sp>
      <p:sp>
        <p:nvSpPr>
          <p:cNvPr id="43" name="Text 41"/>
          <p:cNvSpPr/>
          <p:nvPr/>
        </p:nvSpPr>
        <p:spPr>
          <a:xfrm>
            <a:off x="841375" y="4151313"/>
            <a:ext cx="849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Database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41375" y="4373563"/>
            <a:ext cx="825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8A4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MongoDB Atlas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08000" y="5012531"/>
            <a:ext cx="5365750" cy="7938"/>
          </a:xfrm>
          <a:custGeom>
            <a:avLst/>
            <a:gdLst/>
            <a:ahLst/>
            <a:cxnLst/>
            <a:rect l="l" t="t" r="r" b="b"/>
            <a:pathLst>
              <a:path w="5365750" h="7938">
                <a:moveTo>
                  <a:pt x="0" y="0"/>
                </a:moveTo>
                <a:lnTo>
                  <a:pt x="5365750" y="0"/>
                </a:lnTo>
                <a:lnTo>
                  <a:pt x="5365750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46" name="Text 44"/>
          <p:cNvSpPr/>
          <p:nvPr/>
        </p:nvSpPr>
        <p:spPr>
          <a:xfrm>
            <a:off x="508000" y="4738688"/>
            <a:ext cx="722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 Tier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334744" y="4722813"/>
            <a:ext cx="539750" cy="222250"/>
          </a:xfrm>
          <a:custGeom>
            <a:avLst/>
            <a:gdLst/>
            <a:ahLst/>
            <a:cxnLst/>
            <a:rect l="l" t="t" r="r" b="b"/>
            <a:pathLst>
              <a:path w="539750" h="222250">
                <a:moveTo>
                  <a:pt x="0" y="0"/>
                </a:moveTo>
                <a:lnTo>
                  <a:pt x="539750" y="0"/>
                </a:lnTo>
                <a:lnTo>
                  <a:pt x="539750" y="222250"/>
                </a:lnTo>
                <a:lnTo>
                  <a:pt x="0" y="222250"/>
                </a:lnTo>
                <a:lnTo>
                  <a:pt x="0" y="0"/>
                </a:lnTo>
                <a:close/>
              </a:path>
            </a:pathLst>
          </a:custGeom>
          <a:solidFill>
            <a:srgbClr val="47A248">
              <a:alpha val="1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5334744" y="4722813"/>
            <a:ext cx="595313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M0 Free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08000" y="5433219"/>
            <a:ext cx="5365750" cy="7938"/>
          </a:xfrm>
          <a:custGeom>
            <a:avLst/>
            <a:gdLst/>
            <a:ahLst/>
            <a:cxnLst/>
            <a:rect l="l" t="t" r="r" b="b"/>
            <a:pathLst>
              <a:path w="5365750" h="7938">
                <a:moveTo>
                  <a:pt x="0" y="0"/>
                </a:moveTo>
                <a:lnTo>
                  <a:pt x="5365750" y="0"/>
                </a:lnTo>
                <a:lnTo>
                  <a:pt x="5365750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50" name="Text 48"/>
          <p:cNvSpPr/>
          <p:nvPr/>
        </p:nvSpPr>
        <p:spPr>
          <a:xfrm>
            <a:off x="508000" y="5159375"/>
            <a:ext cx="817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Monthly Cost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716488" y="5143500"/>
            <a:ext cx="23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7A24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$0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08000" y="5822156"/>
            <a:ext cx="5365750" cy="7938"/>
          </a:xfrm>
          <a:custGeom>
            <a:avLst/>
            <a:gdLst/>
            <a:ahLst/>
            <a:cxnLst/>
            <a:rect l="l" t="t" r="r" b="b"/>
            <a:pathLst>
              <a:path w="5365750" h="7938">
                <a:moveTo>
                  <a:pt x="0" y="0"/>
                </a:moveTo>
                <a:lnTo>
                  <a:pt x="5365750" y="0"/>
                </a:lnTo>
                <a:lnTo>
                  <a:pt x="5365750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53" name="Text 51"/>
          <p:cNvSpPr/>
          <p:nvPr/>
        </p:nvSpPr>
        <p:spPr>
          <a:xfrm>
            <a:off x="508000" y="5564188"/>
            <a:ext cx="706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Setup Time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485681" y="5564188"/>
            <a:ext cx="452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 min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08000" y="5953125"/>
            <a:ext cx="555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861843" y="5969000"/>
            <a:ext cx="1063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512MB, auto-backup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175375" y="3992563"/>
            <a:ext cx="5699125" cy="2373313"/>
          </a:xfrm>
          <a:custGeom>
            <a:avLst/>
            <a:gdLst/>
            <a:ahLst/>
            <a:cxnLst/>
            <a:rect l="l" t="t" r="r" b="b"/>
            <a:pathLst>
              <a:path w="5699125" h="2373313">
                <a:moveTo>
                  <a:pt x="0" y="0"/>
                </a:moveTo>
                <a:lnTo>
                  <a:pt x="5699125" y="0"/>
                </a:lnTo>
                <a:lnTo>
                  <a:pt x="5699125" y="2373313"/>
                </a:lnTo>
                <a:lnTo>
                  <a:pt x="0" y="23733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6175375" y="3992563"/>
            <a:ext cx="31750" cy="2373313"/>
          </a:xfrm>
          <a:custGeom>
            <a:avLst/>
            <a:gdLst/>
            <a:ahLst/>
            <a:cxnLst/>
            <a:rect l="l" t="t" r="r" b="b"/>
            <a:pathLst>
              <a:path w="31750" h="2373313">
                <a:moveTo>
                  <a:pt x="0" y="0"/>
                </a:moveTo>
                <a:lnTo>
                  <a:pt x="31750" y="0"/>
                </a:lnTo>
                <a:lnTo>
                  <a:pt x="31750" y="2373313"/>
                </a:lnTo>
                <a:lnTo>
                  <a:pt x="0" y="2373313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59" name="Shape 57"/>
          <p:cNvSpPr/>
          <p:nvPr/>
        </p:nvSpPr>
        <p:spPr>
          <a:xfrm>
            <a:off x="6373813" y="42465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60" name="Text 58"/>
          <p:cNvSpPr/>
          <p:nvPr/>
        </p:nvSpPr>
        <p:spPr>
          <a:xfrm>
            <a:off x="6683375" y="4151313"/>
            <a:ext cx="1008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A4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SSL Certificate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683375" y="4373563"/>
            <a:ext cx="984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8A4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Let's Encrypt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50000" y="5012531"/>
            <a:ext cx="5365750" cy="7938"/>
          </a:xfrm>
          <a:custGeom>
            <a:avLst/>
            <a:gdLst/>
            <a:ahLst/>
            <a:cxnLst/>
            <a:rect l="l" t="t" r="r" b="b"/>
            <a:pathLst>
              <a:path w="5365750" h="7938">
                <a:moveTo>
                  <a:pt x="0" y="0"/>
                </a:moveTo>
                <a:lnTo>
                  <a:pt x="5365750" y="0"/>
                </a:lnTo>
                <a:lnTo>
                  <a:pt x="5365750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63" name="Text 61"/>
          <p:cNvSpPr/>
          <p:nvPr/>
        </p:nvSpPr>
        <p:spPr>
          <a:xfrm>
            <a:off x="6350000" y="4738688"/>
            <a:ext cx="722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 Tier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11368980" y="4722813"/>
            <a:ext cx="349250" cy="222250"/>
          </a:xfrm>
          <a:custGeom>
            <a:avLst/>
            <a:gdLst/>
            <a:ahLst/>
            <a:cxnLst/>
            <a:rect l="l" t="t" r="r" b="b"/>
            <a:pathLst>
              <a:path w="349250" h="222250">
                <a:moveTo>
                  <a:pt x="0" y="0"/>
                </a:moveTo>
                <a:lnTo>
                  <a:pt x="349250" y="0"/>
                </a:lnTo>
                <a:lnTo>
                  <a:pt x="349250" y="222250"/>
                </a:lnTo>
                <a:lnTo>
                  <a:pt x="0" y="222250"/>
                </a:lnTo>
                <a:lnTo>
                  <a:pt x="0" y="0"/>
                </a:lnTo>
                <a:close/>
              </a:path>
            </a:pathLst>
          </a:custGeom>
          <a:solidFill>
            <a:srgbClr val="C8A48C">
              <a:alpha val="10196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11368980" y="4722813"/>
            <a:ext cx="404813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Free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50000" y="5433219"/>
            <a:ext cx="5365750" cy="7938"/>
          </a:xfrm>
          <a:custGeom>
            <a:avLst/>
            <a:gdLst/>
            <a:ahLst/>
            <a:cxnLst/>
            <a:rect l="l" t="t" r="r" b="b"/>
            <a:pathLst>
              <a:path w="5365750" h="7938">
                <a:moveTo>
                  <a:pt x="0" y="0"/>
                </a:moveTo>
                <a:lnTo>
                  <a:pt x="5365750" y="0"/>
                </a:lnTo>
                <a:lnTo>
                  <a:pt x="5365750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67" name="Text 65"/>
          <p:cNvSpPr/>
          <p:nvPr/>
        </p:nvSpPr>
        <p:spPr>
          <a:xfrm>
            <a:off x="6350000" y="5159375"/>
            <a:ext cx="817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Monthly Cost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1558488" y="5143500"/>
            <a:ext cx="23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8A48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$0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350000" y="5822156"/>
            <a:ext cx="5365750" cy="7938"/>
          </a:xfrm>
          <a:custGeom>
            <a:avLst/>
            <a:gdLst/>
            <a:ahLst/>
            <a:cxnLst/>
            <a:rect l="l" t="t" r="r" b="b"/>
            <a:pathLst>
              <a:path w="5365750" h="7938">
                <a:moveTo>
                  <a:pt x="0" y="0"/>
                </a:moveTo>
                <a:lnTo>
                  <a:pt x="5365750" y="0"/>
                </a:lnTo>
                <a:lnTo>
                  <a:pt x="5365750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70" name="Text 68"/>
          <p:cNvSpPr/>
          <p:nvPr/>
        </p:nvSpPr>
        <p:spPr>
          <a:xfrm>
            <a:off x="6350000" y="5564188"/>
            <a:ext cx="706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Setup Time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1350749" y="5564188"/>
            <a:ext cx="42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 min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350000" y="5953125"/>
            <a:ext cx="555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Features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11051108" y="5969000"/>
            <a:ext cx="72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A9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Auto-renewal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317500" y="6492875"/>
            <a:ext cx="11557000" cy="730250"/>
          </a:xfrm>
          <a:custGeom>
            <a:avLst/>
            <a:gdLst/>
            <a:ahLst/>
            <a:cxnLst/>
            <a:rect l="l" t="t" r="r" b="b"/>
            <a:pathLst>
              <a:path w="11557000" h="730250">
                <a:moveTo>
                  <a:pt x="0" y="0"/>
                </a:moveTo>
                <a:lnTo>
                  <a:pt x="11557000" y="0"/>
                </a:lnTo>
                <a:lnTo>
                  <a:pt x="11557000" y="730250"/>
                </a:lnTo>
                <a:lnTo>
                  <a:pt x="0" y="730250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75" name="Shape 73"/>
          <p:cNvSpPr/>
          <p:nvPr/>
        </p:nvSpPr>
        <p:spPr>
          <a:xfrm>
            <a:off x="520898" y="6738938"/>
            <a:ext cx="148828" cy="238125"/>
          </a:xfrm>
          <a:custGeom>
            <a:avLst/>
            <a:gdLst/>
            <a:ahLst/>
            <a:cxnLst/>
            <a:rect l="l" t="t" r="r" b="b"/>
            <a:pathLst>
              <a:path w="148828" h="238125">
                <a:moveTo>
                  <a:pt x="63252" y="11162"/>
                </a:moveTo>
                <a:cubicBezTo>
                  <a:pt x="63252" y="4976"/>
                  <a:pt x="68228" y="0"/>
                  <a:pt x="74414" y="0"/>
                </a:cubicBezTo>
                <a:cubicBezTo>
                  <a:pt x="80600" y="0"/>
                  <a:pt x="85576" y="4976"/>
                  <a:pt x="85576" y="11162"/>
                </a:cubicBezTo>
                <a:lnTo>
                  <a:pt x="85576" y="29766"/>
                </a:lnTo>
                <a:lnTo>
                  <a:pt x="111621" y="29766"/>
                </a:lnTo>
                <a:cubicBezTo>
                  <a:pt x="119853" y="29766"/>
                  <a:pt x="126504" y="36416"/>
                  <a:pt x="126504" y="44648"/>
                </a:cubicBezTo>
                <a:cubicBezTo>
                  <a:pt x="126504" y="52880"/>
                  <a:pt x="119853" y="59531"/>
                  <a:pt x="111621" y="59531"/>
                </a:cubicBezTo>
                <a:lnTo>
                  <a:pt x="58182" y="59531"/>
                </a:lnTo>
                <a:cubicBezTo>
                  <a:pt x="46602" y="59531"/>
                  <a:pt x="37207" y="68926"/>
                  <a:pt x="37207" y="80507"/>
                </a:cubicBezTo>
                <a:cubicBezTo>
                  <a:pt x="37207" y="90971"/>
                  <a:pt x="44881" y="99808"/>
                  <a:pt x="55206" y="101296"/>
                </a:cubicBezTo>
                <a:lnTo>
                  <a:pt x="97808" y="107389"/>
                </a:lnTo>
                <a:cubicBezTo>
                  <a:pt x="122830" y="110970"/>
                  <a:pt x="141387" y="132364"/>
                  <a:pt x="141387" y="157618"/>
                </a:cubicBezTo>
                <a:cubicBezTo>
                  <a:pt x="141387" y="185663"/>
                  <a:pt x="118644" y="208359"/>
                  <a:pt x="90646" y="208359"/>
                </a:cubicBezTo>
                <a:lnTo>
                  <a:pt x="85576" y="208359"/>
                </a:lnTo>
                <a:lnTo>
                  <a:pt x="85576" y="226963"/>
                </a:lnTo>
                <a:cubicBezTo>
                  <a:pt x="85576" y="233149"/>
                  <a:pt x="80600" y="238125"/>
                  <a:pt x="74414" y="238125"/>
                </a:cubicBezTo>
                <a:cubicBezTo>
                  <a:pt x="68228" y="238125"/>
                  <a:pt x="63252" y="233149"/>
                  <a:pt x="63252" y="226963"/>
                </a:cubicBezTo>
                <a:lnTo>
                  <a:pt x="63252" y="208359"/>
                </a:lnTo>
                <a:lnTo>
                  <a:pt x="29766" y="208359"/>
                </a:lnTo>
                <a:cubicBezTo>
                  <a:pt x="21534" y="208359"/>
                  <a:pt x="14883" y="201709"/>
                  <a:pt x="14883" y="193477"/>
                </a:cubicBezTo>
                <a:cubicBezTo>
                  <a:pt x="14883" y="185245"/>
                  <a:pt x="21534" y="178594"/>
                  <a:pt x="29766" y="178594"/>
                </a:cubicBezTo>
                <a:lnTo>
                  <a:pt x="90646" y="178594"/>
                </a:lnTo>
                <a:cubicBezTo>
                  <a:pt x="102226" y="178594"/>
                  <a:pt x="111621" y="169199"/>
                  <a:pt x="111621" y="157618"/>
                </a:cubicBezTo>
                <a:cubicBezTo>
                  <a:pt x="111621" y="147154"/>
                  <a:pt x="103947" y="138317"/>
                  <a:pt x="93622" y="136829"/>
                </a:cubicBezTo>
                <a:lnTo>
                  <a:pt x="51020" y="130736"/>
                </a:lnTo>
                <a:cubicBezTo>
                  <a:pt x="25998" y="127202"/>
                  <a:pt x="7441" y="105761"/>
                  <a:pt x="7441" y="80507"/>
                </a:cubicBezTo>
                <a:cubicBezTo>
                  <a:pt x="7441" y="52508"/>
                  <a:pt x="30184" y="29766"/>
                  <a:pt x="58182" y="29766"/>
                </a:cubicBezTo>
                <a:lnTo>
                  <a:pt x="63252" y="29766"/>
                </a:lnTo>
                <a:lnTo>
                  <a:pt x="63252" y="11162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76" name="Text 74"/>
          <p:cNvSpPr/>
          <p:nvPr/>
        </p:nvSpPr>
        <p:spPr>
          <a:xfrm>
            <a:off x="869156" y="6651625"/>
            <a:ext cx="380206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Total Infrastructure Cost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869156" y="6905625"/>
            <a:ext cx="3778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8F5F2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Optional custom domain adds $10-15/year. All core services completely free.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11200185" y="6619875"/>
            <a:ext cx="54768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250" b="1" dirty="0">
                <a:solidFill>
                  <a:srgbClr val="C8A48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$0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11287497" y="6937375"/>
            <a:ext cx="460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F8F5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Monthly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6395bfb3693b2c1877dacfa4c6bb311f8a96ac18.jpg">    </p:cNvPr>
          <p:cNvPicPr>
            <a:picLocks noChangeAspect="1"/>
          </p:cNvPicPr>
          <p:nvPr/>
        </p:nvPicPr>
        <p:blipFill>
          <a:blip r:embed="rId1"/>
          <a:srcRect l="0" r="0" t="7880" b="788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A4A4A">
                  <a:alpha val="95000"/>
                </a:srgbClr>
              </a:gs>
              <a:gs pos="50000">
                <a:srgbClr val="4A4A4A">
                  <a:alpha val="80000"/>
                </a:srgbClr>
              </a:gs>
              <a:gs pos="100000">
                <a:srgbClr val="4A4A4A">
                  <a:alpha val="60000"/>
                </a:srgbClr>
              </a:gs>
            </a:gsLst>
            <a:lin ang="162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38800" y="90488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5" name="Text 2"/>
          <p:cNvSpPr/>
          <p:nvPr/>
        </p:nvSpPr>
        <p:spPr>
          <a:xfrm>
            <a:off x="2295525" y="357188"/>
            <a:ext cx="76009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Project Success Factors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390775" y="1157288"/>
            <a:ext cx="74104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8F5F2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focused approach to delivering a secure, functional e-commerce MVP within severe constraints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238250" y="2081212"/>
            <a:ext cx="3076575" cy="1981200"/>
          </a:xfrm>
          <a:custGeom>
            <a:avLst/>
            <a:gdLst/>
            <a:ahLst/>
            <a:cxnLst/>
            <a:rect l="l" t="t" r="r" b="b"/>
            <a:pathLst>
              <a:path w="3076575" h="1981200">
                <a:moveTo>
                  <a:pt x="0" y="0"/>
                </a:moveTo>
                <a:lnTo>
                  <a:pt x="3076575" y="0"/>
                </a:lnTo>
                <a:lnTo>
                  <a:pt x="3076575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F8F5F2">
              <a:alpha val="10196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1238250" y="2081212"/>
            <a:ext cx="38100" cy="1981200"/>
          </a:xfrm>
          <a:custGeom>
            <a:avLst/>
            <a:gdLst/>
            <a:ahLst/>
            <a:cxnLst/>
            <a:rect l="l" t="t" r="r" b="b"/>
            <a:pathLst>
              <a:path w="38100" h="1981200">
                <a:moveTo>
                  <a:pt x="0" y="0"/>
                </a:moveTo>
                <a:lnTo>
                  <a:pt x="38100" y="0"/>
                </a:lnTo>
                <a:lnTo>
                  <a:pt x="38100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9" name="Shape 6"/>
          <p:cNvSpPr/>
          <p:nvPr/>
        </p:nvSpPr>
        <p:spPr>
          <a:xfrm>
            <a:off x="2616101" y="2309813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00038" y="171450"/>
                </a:moveTo>
                <a:cubicBezTo>
                  <a:pt x="300038" y="100481"/>
                  <a:pt x="242419" y="42863"/>
                  <a:pt x="171450" y="42863"/>
                </a:cubicBezTo>
                <a:cubicBezTo>
                  <a:pt x="100481" y="42863"/>
                  <a:pt x="42863" y="100481"/>
                  <a:pt x="42863" y="171450"/>
                </a:cubicBezTo>
                <a:cubicBezTo>
                  <a:pt x="42863" y="242419"/>
                  <a:pt x="100481" y="300038"/>
                  <a:pt x="171450" y="300038"/>
                </a:cubicBezTo>
                <a:cubicBezTo>
                  <a:pt x="242419" y="300038"/>
                  <a:pt x="300038" y="242419"/>
                  <a:pt x="300038" y="171450"/>
                </a:cubicBezTo>
                <a:close/>
                <a:moveTo>
                  <a:pt x="0" y="171450"/>
                </a:moveTo>
                <a:cubicBezTo>
                  <a:pt x="0" y="76824"/>
                  <a:pt x="76824" y="0"/>
                  <a:pt x="171450" y="0"/>
                </a:cubicBezTo>
                <a:cubicBezTo>
                  <a:pt x="266076" y="0"/>
                  <a:pt x="342900" y="76824"/>
                  <a:pt x="342900" y="171450"/>
                </a:cubicBezTo>
                <a:cubicBezTo>
                  <a:pt x="342900" y="266076"/>
                  <a:pt x="266076" y="342900"/>
                  <a:pt x="171450" y="342900"/>
                </a:cubicBezTo>
                <a:cubicBezTo>
                  <a:pt x="76824" y="342900"/>
                  <a:pt x="0" y="266076"/>
                  <a:pt x="0" y="171450"/>
                </a:cubicBezTo>
                <a:close/>
                <a:moveTo>
                  <a:pt x="171450" y="225028"/>
                </a:moveTo>
                <a:cubicBezTo>
                  <a:pt x="201021" y="225028"/>
                  <a:pt x="225028" y="201021"/>
                  <a:pt x="225028" y="171450"/>
                </a:cubicBezTo>
                <a:cubicBezTo>
                  <a:pt x="225028" y="141879"/>
                  <a:pt x="201021" y="117872"/>
                  <a:pt x="171450" y="117872"/>
                </a:cubicBezTo>
                <a:cubicBezTo>
                  <a:pt x="141879" y="117872"/>
                  <a:pt x="117872" y="141879"/>
                  <a:pt x="117872" y="171450"/>
                </a:cubicBezTo>
                <a:cubicBezTo>
                  <a:pt x="117872" y="201021"/>
                  <a:pt x="141879" y="225028"/>
                  <a:pt x="171450" y="225028"/>
                </a:cubicBezTo>
                <a:close/>
                <a:moveTo>
                  <a:pt x="171450" y="75009"/>
                </a:moveTo>
                <a:cubicBezTo>
                  <a:pt x="224677" y="75009"/>
                  <a:pt x="267891" y="118223"/>
                  <a:pt x="267891" y="171450"/>
                </a:cubicBezTo>
                <a:cubicBezTo>
                  <a:pt x="267891" y="224677"/>
                  <a:pt x="224677" y="267891"/>
                  <a:pt x="171450" y="267891"/>
                </a:cubicBezTo>
                <a:cubicBezTo>
                  <a:pt x="118223" y="267891"/>
                  <a:pt x="75009" y="224677"/>
                  <a:pt x="75009" y="171450"/>
                </a:cubicBezTo>
                <a:cubicBezTo>
                  <a:pt x="75009" y="118223"/>
                  <a:pt x="118223" y="75009"/>
                  <a:pt x="171450" y="75009"/>
                </a:cubicBezTo>
                <a:close/>
                <a:moveTo>
                  <a:pt x="150019" y="171450"/>
                </a:moveTo>
                <a:cubicBezTo>
                  <a:pt x="150019" y="159622"/>
                  <a:pt x="159622" y="150019"/>
                  <a:pt x="171450" y="150019"/>
                </a:cubicBezTo>
                <a:cubicBezTo>
                  <a:pt x="183278" y="150019"/>
                  <a:pt x="192881" y="159622"/>
                  <a:pt x="192881" y="171450"/>
                </a:cubicBezTo>
                <a:cubicBezTo>
                  <a:pt x="192881" y="183278"/>
                  <a:pt x="183278" y="192881"/>
                  <a:pt x="171450" y="192881"/>
                </a:cubicBezTo>
                <a:cubicBezTo>
                  <a:pt x="159622" y="192881"/>
                  <a:pt x="150019" y="183278"/>
                  <a:pt x="150019" y="171450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10" name="Text 7"/>
          <p:cNvSpPr/>
          <p:nvPr/>
        </p:nvSpPr>
        <p:spPr>
          <a:xfrm>
            <a:off x="1438275" y="2805113"/>
            <a:ext cx="2695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Strict Prioritization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47800" y="3148013"/>
            <a:ext cx="2676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5F2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"sell-and-manage" functionality delivered first, ensuring business value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65600" y="2081212"/>
            <a:ext cx="3076575" cy="1981200"/>
          </a:xfrm>
          <a:custGeom>
            <a:avLst/>
            <a:gdLst/>
            <a:ahLst/>
            <a:cxnLst/>
            <a:rect l="l" t="t" r="r" b="b"/>
            <a:pathLst>
              <a:path w="3076575" h="1981200">
                <a:moveTo>
                  <a:pt x="0" y="0"/>
                </a:moveTo>
                <a:lnTo>
                  <a:pt x="3076575" y="0"/>
                </a:lnTo>
                <a:lnTo>
                  <a:pt x="3076575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F8F5F2">
              <a:alpha val="10196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4565600" y="2081212"/>
            <a:ext cx="38100" cy="1981200"/>
          </a:xfrm>
          <a:custGeom>
            <a:avLst/>
            <a:gdLst/>
            <a:ahLst/>
            <a:cxnLst/>
            <a:rect l="l" t="t" r="r" b="b"/>
            <a:pathLst>
              <a:path w="38100" h="1981200">
                <a:moveTo>
                  <a:pt x="0" y="0"/>
                </a:moveTo>
                <a:lnTo>
                  <a:pt x="38100" y="0"/>
                </a:lnTo>
                <a:lnTo>
                  <a:pt x="38100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14" name="Shape 11"/>
          <p:cNvSpPr/>
          <p:nvPr/>
        </p:nvSpPr>
        <p:spPr>
          <a:xfrm>
            <a:off x="5943451" y="2309813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21536" y="128588"/>
                </a:moveTo>
                <a:lnTo>
                  <a:pt x="326827" y="128588"/>
                </a:lnTo>
                <a:cubicBezTo>
                  <a:pt x="335734" y="128588"/>
                  <a:pt x="342900" y="121421"/>
                  <a:pt x="342900" y="112514"/>
                </a:cubicBezTo>
                <a:lnTo>
                  <a:pt x="342900" y="16073"/>
                </a:lnTo>
                <a:cubicBezTo>
                  <a:pt x="342900" y="9577"/>
                  <a:pt x="339016" y="3683"/>
                  <a:pt x="332988" y="1206"/>
                </a:cubicBezTo>
                <a:cubicBezTo>
                  <a:pt x="326961" y="-1272"/>
                  <a:pt x="320062" y="134"/>
                  <a:pt x="315441" y="4688"/>
                </a:cubicBezTo>
                <a:lnTo>
                  <a:pt x="280816" y="39380"/>
                </a:lnTo>
                <a:cubicBezTo>
                  <a:pt x="251147" y="14801"/>
                  <a:pt x="212973" y="0"/>
                  <a:pt x="171450" y="0"/>
                </a:cubicBezTo>
                <a:cubicBezTo>
                  <a:pt x="85055" y="0"/>
                  <a:pt x="13595" y="63892"/>
                  <a:pt x="1741" y="147005"/>
                </a:cubicBezTo>
                <a:cubicBezTo>
                  <a:pt x="67" y="158725"/>
                  <a:pt x="8171" y="169575"/>
                  <a:pt x="19891" y="171249"/>
                </a:cubicBezTo>
                <a:cubicBezTo>
                  <a:pt x="31611" y="172923"/>
                  <a:pt x="42461" y="164753"/>
                  <a:pt x="44135" y="153099"/>
                </a:cubicBezTo>
                <a:cubicBezTo>
                  <a:pt x="53042" y="90748"/>
                  <a:pt x="106687" y="42863"/>
                  <a:pt x="171450" y="42863"/>
                </a:cubicBezTo>
                <a:cubicBezTo>
                  <a:pt x="201186" y="42863"/>
                  <a:pt x="228511" y="52908"/>
                  <a:pt x="250277" y="69852"/>
                </a:cubicBezTo>
                <a:lnTo>
                  <a:pt x="219001" y="101129"/>
                </a:lnTo>
                <a:cubicBezTo>
                  <a:pt x="214379" y="105750"/>
                  <a:pt x="213040" y="112648"/>
                  <a:pt x="215518" y="118676"/>
                </a:cubicBezTo>
                <a:cubicBezTo>
                  <a:pt x="217996" y="124703"/>
                  <a:pt x="223890" y="128588"/>
                  <a:pt x="230386" y="128588"/>
                </a:cubicBezTo>
                <a:lnTo>
                  <a:pt x="321536" y="128588"/>
                </a:lnTo>
                <a:close/>
                <a:moveTo>
                  <a:pt x="341226" y="195895"/>
                </a:moveTo>
                <a:cubicBezTo>
                  <a:pt x="342900" y="184175"/>
                  <a:pt x="334729" y="173325"/>
                  <a:pt x="323076" y="171651"/>
                </a:cubicBezTo>
                <a:cubicBezTo>
                  <a:pt x="311423" y="169977"/>
                  <a:pt x="300506" y="178147"/>
                  <a:pt x="298832" y="189801"/>
                </a:cubicBezTo>
                <a:cubicBezTo>
                  <a:pt x="289925" y="252085"/>
                  <a:pt x="236280" y="299971"/>
                  <a:pt x="171517" y="299971"/>
                </a:cubicBezTo>
                <a:cubicBezTo>
                  <a:pt x="141781" y="299971"/>
                  <a:pt x="114456" y="289925"/>
                  <a:pt x="92690" y="272981"/>
                </a:cubicBezTo>
                <a:lnTo>
                  <a:pt x="123899" y="241771"/>
                </a:lnTo>
                <a:cubicBezTo>
                  <a:pt x="128521" y="237150"/>
                  <a:pt x="129860" y="230252"/>
                  <a:pt x="127382" y="224224"/>
                </a:cubicBezTo>
                <a:cubicBezTo>
                  <a:pt x="124904" y="218197"/>
                  <a:pt x="119010" y="214313"/>
                  <a:pt x="112514" y="214313"/>
                </a:cubicBezTo>
                <a:lnTo>
                  <a:pt x="16073" y="214313"/>
                </a:lnTo>
                <a:cubicBezTo>
                  <a:pt x="7166" y="214313"/>
                  <a:pt x="0" y="221479"/>
                  <a:pt x="0" y="230386"/>
                </a:cubicBezTo>
                <a:lnTo>
                  <a:pt x="0" y="326827"/>
                </a:lnTo>
                <a:cubicBezTo>
                  <a:pt x="0" y="333323"/>
                  <a:pt x="3884" y="339217"/>
                  <a:pt x="9912" y="341694"/>
                </a:cubicBezTo>
                <a:cubicBezTo>
                  <a:pt x="15939" y="344172"/>
                  <a:pt x="22838" y="342766"/>
                  <a:pt x="27459" y="338212"/>
                </a:cubicBezTo>
                <a:lnTo>
                  <a:pt x="62151" y="303520"/>
                </a:lnTo>
                <a:cubicBezTo>
                  <a:pt x="91753" y="328099"/>
                  <a:pt x="129927" y="342900"/>
                  <a:pt x="171450" y="342900"/>
                </a:cubicBezTo>
                <a:cubicBezTo>
                  <a:pt x="257845" y="342900"/>
                  <a:pt x="329305" y="279008"/>
                  <a:pt x="341159" y="195895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15" name="Text 12"/>
          <p:cNvSpPr/>
          <p:nvPr/>
        </p:nvSpPr>
        <p:spPr>
          <a:xfrm>
            <a:off x="4765625" y="2805113"/>
            <a:ext cx="2695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Agile Micro-Sprints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775150" y="3148013"/>
            <a:ext cx="26765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5F2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Rapid iteration with 10-hour sprints enables quick adaptation and feedback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892951" y="2081212"/>
            <a:ext cx="3076575" cy="1981200"/>
          </a:xfrm>
          <a:custGeom>
            <a:avLst/>
            <a:gdLst/>
            <a:ahLst/>
            <a:cxnLst/>
            <a:rect l="l" t="t" r="r" b="b"/>
            <a:pathLst>
              <a:path w="3076575" h="1981200">
                <a:moveTo>
                  <a:pt x="0" y="0"/>
                </a:moveTo>
                <a:lnTo>
                  <a:pt x="3076575" y="0"/>
                </a:lnTo>
                <a:lnTo>
                  <a:pt x="3076575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F8F5F2">
              <a:alpha val="10196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7892951" y="2081212"/>
            <a:ext cx="38100" cy="1981200"/>
          </a:xfrm>
          <a:custGeom>
            <a:avLst/>
            <a:gdLst/>
            <a:ahLst/>
            <a:cxnLst/>
            <a:rect l="l" t="t" r="r" b="b"/>
            <a:pathLst>
              <a:path w="38100" h="1981200">
                <a:moveTo>
                  <a:pt x="0" y="0"/>
                </a:moveTo>
                <a:lnTo>
                  <a:pt x="38100" y="0"/>
                </a:lnTo>
                <a:lnTo>
                  <a:pt x="38100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19" name="Shape 16"/>
          <p:cNvSpPr/>
          <p:nvPr/>
        </p:nvSpPr>
        <p:spPr>
          <a:xfrm>
            <a:off x="9249519" y="2309813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241637" y="804"/>
                </a:moveTo>
                <a:cubicBezTo>
                  <a:pt x="230252" y="-2478"/>
                  <a:pt x="218398" y="4152"/>
                  <a:pt x="215116" y="15538"/>
                </a:cubicBezTo>
                <a:lnTo>
                  <a:pt x="129391" y="315575"/>
                </a:lnTo>
                <a:cubicBezTo>
                  <a:pt x="126110" y="326961"/>
                  <a:pt x="132740" y="338815"/>
                  <a:pt x="144125" y="342096"/>
                </a:cubicBezTo>
                <a:cubicBezTo>
                  <a:pt x="155511" y="345378"/>
                  <a:pt x="167365" y="338748"/>
                  <a:pt x="170646" y="327362"/>
                </a:cubicBezTo>
                <a:lnTo>
                  <a:pt x="256371" y="27325"/>
                </a:lnTo>
                <a:cubicBezTo>
                  <a:pt x="259653" y="15939"/>
                  <a:pt x="253023" y="4085"/>
                  <a:pt x="241637" y="804"/>
                </a:cubicBezTo>
                <a:close/>
                <a:moveTo>
                  <a:pt x="284902" y="91953"/>
                </a:moveTo>
                <a:cubicBezTo>
                  <a:pt x="276530" y="100325"/>
                  <a:pt x="276530" y="113920"/>
                  <a:pt x="284902" y="122292"/>
                </a:cubicBezTo>
                <a:lnTo>
                  <a:pt x="334060" y="171450"/>
                </a:lnTo>
                <a:lnTo>
                  <a:pt x="284902" y="220608"/>
                </a:lnTo>
                <a:cubicBezTo>
                  <a:pt x="276530" y="228980"/>
                  <a:pt x="276530" y="242575"/>
                  <a:pt x="284902" y="250947"/>
                </a:cubicBezTo>
                <a:cubicBezTo>
                  <a:pt x="293273" y="259318"/>
                  <a:pt x="306869" y="259318"/>
                  <a:pt x="315240" y="250947"/>
                </a:cubicBezTo>
                <a:lnTo>
                  <a:pt x="379534" y="186653"/>
                </a:lnTo>
                <a:cubicBezTo>
                  <a:pt x="387906" y="178281"/>
                  <a:pt x="387906" y="164686"/>
                  <a:pt x="379534" y="156314"/>
                </a:cubicBezTo>
                <a:lnTo>
                  <a:pt x="315240" y="92020"/>
                </a:lnTo>
                <a:cubicBezTo>
                  <a:pt x="306869" y="83649"/>
                  <a:pt x="293273" y="83649"/>
                  <a:pt x="284902" y="92020"/>
                </a:cubicBezTo>
                <a:close/>
                <a:moveTo>
                  <a:pt x="100928" y="91953"/>
                </a:moveTo>
                <a:cubicBezTo>
                  <a:pt x="92556" y="83582"/>
                  <a:pt x="78961" y="83582"/>
                  <a:pt x="70589" y="91953"/>
                </a:cubicBezTo>
                <a:lnTo>
                  <a:pt x="6295" y="156247"/>
                </a:lnTo>
                <a:cubicBezTo>
                  <a:pt x="-2076" y="164619"/>
                  <a:pt x="-2076" y="178214"/>
                  <a:pt x="6295" y="186586"/>
                </a:cubicBezTo>
                <a:lnTo>
                  <a:pt x="70589" y="250880"/>
                </a:lnTo>
                <a:cubicBezTo>
                  <a:pt x="78961" y="259251"/>
                  <a:pt x="92556" y="259251"/>
                  <a:pt x="100928" y="250880"/>
                </a:cubicBezTo>
                <a:cubicBezTo>
                  <a:pt x="109299" y="242508"/>
                  <a:pt x="109299" y="228913"/>
                  <a:pt x="100928" y="220541"/>
                </a:cubicBezTo>
                <a:lnTo>
                  <a:pt x="51770" y="171450"/>
                </a:lnTo>
                <a:lnTo>
                  <a:pt x="100861" y="122292"/>
                </a:lnTo>
                <a:cubicBezTo>
                  <a:pt x="109232" y="113920"/>
                  <a:pt x="109232" y="100325"/>
                  <a:pt x="100861" y="91953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20" name="Text 17"/>
          <p:cNvSpPr/>
          <p:nvPr/>
        </p:nvSpPr>
        <p:spPr>
          <a:xfrm>
            <a:off x="8092976" y="2805113"/>
            <a:ext cx="2695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Skill-Aligned Stack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102501" y="3148013"/>
            <a:ext cx="26765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5F2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MERN technologies matched to 70-75% team proficiency maximize efficiency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238250" y="4291013"/>
            <a:ext cx="3076575" cy="1981200"/>
          </a:xfrm>
          <a:custGeom>
            <a:avLst/>
            <a:gdLst/>
            <a:ahLst/>
            <a:cxnLst/>
            <a:rect l="l" t="t" r="r" b="b"/>
            <a:pathLst>
              <a:path w="3076575" h="1981200">
                <a:moveTo>
                  <a:pt x="0" y="0"/>
                </a:moveTo>
                <a:lnTo>
                  <a:pt x="3076575" y="0"/>
                </a:lnTo>
                <a:lnTo>
                  <a:pt x="3076575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F8F5F2">
              <a:alpha val="10196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238250" y="4291013"/>
            <a:ext cx="38100" cy="1981200"/>
          </a:xfrm>
          <a:custGeom>
            <a:avLst/>
            <a:gdLst/>
            <a:ahLst/>
            <a:cxnLst/>
            <a:rect l="l" t="t" r="r" b="b"/>
            <a:pathLst>
              <a:path w="38100" h="1981200">
                <a:moveTo>
                  <a:pt x="0" y="0"/>
                </a:moveTo>
                <a:lnTo>
                  <a:pt x="38100" y="0"/>
                </a:lnTo>
                <a:lnTo>
                  <a:pt x="38100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24" name="Shape 21"/>
          <p:cNvSpPr/>
          <p:nvPr/>
        </p:nvSpPr>
        <p:spPr>
          <a:xfrm>
            <a:off x="2616101" y="4519613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0"/>
                </a:moveTo>
                <a:cubicBezTo>
                  <a:pt x="174531" y="0"/>
                  <a:pt x="177611" y="670"/>
                  <a:pt x="180424" y="1942"/>
                </a:cubicBezTo>
                <a:lnTo>
                  <a:pt x="306601" y="55453"/>
                </a:lnTo>
                <a:cubicBezTo>
                  <a:pt x="321335" y="61682"/>
                  <a:pt x="332318" y="76215"/>
                  <a:pt x="332251" y="93762"/>
                </a:cubicBezTo>
                <a:cubicBezTo>
                  <a:pt x="331916" y="160199"/>
                  <a:pt x="304592" y="281754"/>
                  <a:pt x="189198" y="337006"/>
                </a:cubicBezTo>
                <a:cubicBezTo>
                  <a:pt x="178013" y="342364"/>
                  <a:pt x="165021" y="342364"/>
                  <a:pt x="153836" y="337006"/>
                </a:cubicBezTo>
                <a:cubicBezTo>
                  <a:pt x="38375" y="281754"/>
                  <a:pt x="11117" y="160199"/>
                  <a:pt x="10783" y="93762"/>
                </a:cubicBezTo>
                <a:cubicBezTo>
                  <a:pt x="10716" y="76215"/>
                  <a:pt x="21699" y="61682"/>
                  <a:pt x="36433" y="55453"/>
                </a:cubicBezTo>
                <a:lnTo>
                  <a:pt x="162543" y="1942"/>
                </a:lnTo>
                <a:cubicBezTo>
                  <a:pt x="165355" y="670"/>
                  <a:pt x="168369" y="0"/>
                  <a:pt x="171450" y="0"/>
                </a:cubicBezTo>
                <a:close/>
                <a:moveTo>
                  <a:pt x="171450" y="44738"/>
                </a:moveTo>
                <a:lnTo>
                  <a:pt x="171450" y="297961"/>
                </a:lnTo>
                <a:cubicBezTo>
                  <a:pt x="263872" y="253224"/>
                  <a:pt x="288719" y="154104"/>
                  <a:pt x="289322" y="94766"/>
                </a:cubicBezTo>
                <a:lnTo>
                  <a:pt x="171450" y="44805"/>
                </a:lnTo>
                <a:lnTo>
                  <a:pt x="171450" y="44805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25" name="Text 22"/>
          <p:cNvSpPr/>
          <p:nvPr/>
        </p:nvSpPr>
        <p:spPr>
          <a:xfrm>
            <a:off x="1438275" y="5014913"/>
            <a:ext cx="2695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Security-First Design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447800" y="5357813"/>
            <a:ext cx="2676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5F2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JWT authentication, input validation, and data protection from day one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565600" y="4291013"/>
            <a:ext cx="3076575" cy="1981200"/>
          </a:xfrm>
          <a:custGeom>
            <a:avLst/>
            <a:gdLst/>
            <a:ahLst/>
            <a:cxnLst/>
            <a:rect l="l" t="t" r="r" b="b"/>
            <a:pathLst>
              <a:path w="3076575" h="1981200">
                <a:moveTo>
                  <a:pt x="0" y="0"/>
                </a:moveTo>
                <a:lnTo>
                  <a:pt x="3076575" y="0"/>
                </a:lnTo>
                <a:lnTo>
                  <a:pt x="3076575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F8F5F2">
              <a:alpha val="10196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4565600" y="4291013"/>
            <a:ext cx="38100" cy="1981200"/>
          </a:xfrm>
          <a:custGeom>
            <a:avLst/>
            <a:gdLst/>
            <a:ahLst/>
            <a:cxnLst/>
            <a:rect l="l" t="t" r="r" b="b"/>
            <a:pathLst>
              <a:path w="38100" h="1981200">
                <a:moveTo>
                  <a:pt x="0" y="0"/>
                </a:moveTo>
                <a:lnTo>
                  <a:pt x="38100" y="0"/>
                </a:lnTo>
                <a:lnTo>
                  <a:pt x="38100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29" name="Shape 26"/>
          <p:cNvSpPr/>
          <p:nvPr/>
        </p:nvSpPr>
        <p:spPr>
          <a:xfrm>
            <a:off x="5943451" y="4519613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85725" y="214313"/>
                </a:moveTo>
                <a:lnTo>
                  <a:pt x="16408" y="214313"/>
                </a:lnTo>
                <a:cubicBezTo>
                  <a:pt x="-268" y="214313"/>
                  <a:pt x="-10515" y="196163"/>
                  <a:pt x="-1942" y="181831"/>
                </a:cubicBezTo>
                <a:lnTo>
                  <a:pt x="33486" y="122761"/>
                </a:lnTo>
                <a:cubicBezTo>
                  <a:pt x="39313" y="113050"/>
                  <a:pt x="49761" y="107156"/>
                  <a:pt x="61079" y="107156"/>
                </a:cubicBezTo>
                <a:lnTo>
                  <a:pt x="124703" y="107156"/>
                </a:lnTo>
                <a:cubicBezTo>
                  <a:pt x="175669" y="20828"/>
                  <a:pt x="251683" y="16475"/>
                  <a:pt x="302515" y="23909"/>
                </a:cubicBezTo>
                <a:cubicBezTo>
                  <a:pt x="311088" y="25182"/>
                  <a:pt x="317785" y="31879"/>
                  <a:pt x="318991" y="40385"/>
                </a:cubicBezTo>
                <a:cubicBezTo>
                  <a:pt x="326425" y="91217"/>
                  <a:pt x="322072" y="167231"/>
                  <a:pt x="235744" y="218197"/>
                </a:cubicBezTo>
                <a:lnTo>
                  <a:pt x="235744" y="281821"/>
                </a:lnTo>
                <a:cubicBezTo>
                  <a:pt x="235744" y="293139"/>
                  <a:pt x="229850" y="303587"/>
                  <a:pt x="220139" y="309414"/>
                </a:cubicBezTo>
                <a:lnTo>
                  <a:pt x="161069" y="344842"/>
                </a:lnTo>
                <a:cubicBezTo>
                  <a:pt x="146804" y="353415"/>
                  <a:pt x="128588" y="343101"/>
                  <a:pt x="128588" y="326492"/>
                </a:cubicBezTo>
                <a:lnTo>
                  <a:pt x="128588" y="257175"/>
                </a:lnTo>
                <a:cubicBezTo>
                  <a:pt x="128588" y="233534"/>
                  <a:pt x="109366" y="214313"/>
                  <a:pt x="85725" y="214313"/>
                </a:cubicBezTo>
                <a:lnTo>
                  <a:pt x="85658" y="214313"/>
                </a:lnTo>
                <a:close/>
                <a:moveTo>
                  <a:pt x="267891" y="107156"/>
                </a:moveTo>
                <a:cubicBezTo>
                  <a:pt x="267891" y="89414"/>
                  <a:pt x="253486" y="75009"/>
                  <a:pt x="235744" y="75009"/>
                </a:cubicBezTo>
                <a:cubicBezTo>
                  <a:pt x="218001" y="75009"/>
                  <a:pt x="203597" y="89414"/>
                  <a:pt x="203597" y="107156"/>
                </a:cubicBezTo>
                <a:cubicBezTo>
                  <a:pt x="203597" y="124899"/>
                  <a:pt x="218001" y="139303"/>
                  <a:pt x="235744" y="139303"/>
                </a:cubicBezTo>
                <a:cubicBezTo>
                  <a:pt x="253486" y="139303"/>
                  <a:pt x="267891" y="124899"/>
                  <a:pt x="267891" y="107156"/>
                </a:cubicBez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30" name="Text 27"/>
          <p:cNvSpPr/>
          <p:nvPr/>
        </p:nvSpPr>
        <p:spPr>
          <a:xfrm>
            <a:off x="4765625" y="5014913"/>
            <a:ext cx="2695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Zero-Cost Deploy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4775150" y="5357813"/>
            <a:ext cx="26765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5F2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Free-tier infrastructure enables immediate launch without budget barriers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7892951" y="4291013"/>
            <a:ext cx="3076575" cy="1981200"/>
          </a:xfrm>
          <a:custGeom>
            <a:avLst/>
            <a:gdLst/>
            <a:ahLst/>
            <a:cxnLst/>
            <a:rect l="l" t="t" r="r" b="b"/>
            <a:pathLst>
              <a:path w="3076575" h="1981200">
                <a:moveTo>
                  <a:pt x="0" y="0"/>
                </a:moveTo>
                <a:lnTo>
                  <a:pt x="3076575" y="0"/>
                </a:lnTo>
                <a:lnTo>
                  <a:pt x="3076575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F8F5F2">
              <a:alpha val="10196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7892951" y="4291013"/>
            <a:ext cx="38100" cy="1981200"/>
          </a:xfrm>
          <a:custGeom>
            <a:avLst/>
            <a:gdLst/>
            <a:ahLst/>
            <a:cxnLst/>
            <a:rect l="l" t="t" r="r" b="b"/>
            <a:pathLst>
              <a:path w="38100" h="1981200">
                <a:moveTo>
                  <a:pt x="0" y="0"/>
                </a:moveTo>
                <a:lnTo>
                  <a:pt x="38100" y="0"/>
                </a:lnTo>
                <a:lnTo>
                  <a:pt x="38100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34" name="Shape 31"/>
          <p:cNvSpPr/>
          <p:nvPr/>
        </p:nvSpPr>
        <p:spPr>
          <a:xfrm>
            <a:off x="9270950" y="4519613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42863" y="42863"/>
                </a:moveTo>
                <a:cubicBezTo>
                  <a:pt x="42863" y="31008"/>
                  <a:pt x="33285" y="21431"/>
                  <a:pt x="21431" y="21431"/>
                </a:cubicBezTo>
                <a:cubicBezTo>
                  <a:pt x="9577" y="21431"/>
                  <a:pt x="0" y="31008"/>
                  <a:pt x="0" y="42863"/>
                </a:cubicBezTo>
                <a:lnTo>
                  <a:pt x="0" y="267891"/>
                </a:lnTo>
                <a:cubicBezTo>
                  <a:pt x="0" y="297493"/>
                  <a:pt x="23976" y="321469"/>
                  <a:pt x="53578" y="321469"/>
                </a:cubicBezTo>
                <a:lnTo>
                  <a:pt x="321469" y="321469"/>
                </a:lnTo>
                <a:cubicBezTo>
                  <a:pt x="333323" y="321469"/>
                  <a:pt x="342900" y="311892"/>
                  <a:pt x="342900" y="300038"/>
                </a:cubicBezTo>
                <a:cubicBezTo>
                  <a:pt x="342900" y="288183"/>
                  <a:pt x="333323" y="278606"/>
                  <a:pt x="321469" y="278606"/>
                </a:cubicBezTo>
                <a:lnTo>
                  <a:pt x="53578" y="278606"/>
                </a:lnTo>
                <a:cubicBezTo>
                  <a:pt x="47685" y="278606"/>
                  <a:pt x="42863" y="273784"/>
                  <a:pt x="42863" y="267891"/>
                </a:cubicBezTo>
                <a:lnTo>
                  <a:pt x="42863" y="42863"/>
                </a:lnTo>
                <a:close/>
                <a:moveTo>
                  <a:pt x="315173" y="100861"/>
                </a:moveTo>
                <a:cubicBezTo>
                  <a:pt x="323545" y="92489"/>
                  <a:pt x="323545" y="78894"/>
                  <a:pt x="315173" y="70522"/>
                </a:cubicBezTo>
                <a:cubicBezTo>
                  <a:pt x="306802" y="62151"/>
                  <a:pt x="293206" y="62151"/>
                  <a:pt x="284835" y="70522"/>
                </a:cubicBezTo>
                <a:lnTo>
                  <a:pt x="214313" y="141111"/>
                </a:lnTo>
                <a:lnTo>
                  <a:pt x="175870" y="102736"/>
                </a:lnTo>
                <a:cubicBezTo>
                  <a:pt x="167499" y="94364"/>
                  <a:pt x="153903" y="94364"/>
                  <a:pt x="145532" y="102736"/>
                </a:cubicBezTo>
                <a:lnTo>
                  <a:pt x="81238" y="167030"/>
                </a:lnTo>
                <a:cubicBezTo>
                  <a:pt x="72866" y="175401"/>
                  <a:pt x="72866" y="188997"/>
                  <a:pt x="81238" y="197368"/>
                </a:cubicBezTo>
                <a:cubicBezTo>
                  <a:pt x="89609" y="205740"/>
                  <a:pt x="103205" y="205740"/>
                  <a:pt x="111576" y="197368"/>
                </a:cubicBezTo>
                <a:lnTo>
                  <a:pt x="160734" y="148210"/>
                </a:lnTo>
                <a:lnTo>
                  <a:pt x="199177" y="186653"/>
                </a:lnTo>
                <a:cubicBezTo>
                  <a:pt x="207548" y="195024"/>
                  <a:pt x="221144" y="195024"/>
                  <a:pt x="229515" y="186653"/>
                </a:cubicBezTo>
                <a:lnTo>
                  <a:pt x="315240" y="100928"/>
                </a:lnTo>
                <a:close/>
              </a:path>
            </a:pathLst>
          </a:custGeom>
          <a:solidFill>
            <a:srgbClr val="C8A48C"/>
          </a:solidFill>
          <a:ln/>
        </p:spPr>
      </p:sp>
      <p:sp>
        <p:nvSpPr>
          <p:cNvPr id="35" name="Text 32"/>
          <p:cNvSpPr/>
          <p:nvPr/>
        </p:nvSpPr>
        <p:spPr>
          <a:xfrm>
            <a:off x="8092976" y="5014913"/>
            <a:ext cx="2695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Scalable Foundation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8102501" y="5357813"/>
            <a:ext cx="2676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5F2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designed for future growth and feature expansion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4563814" y="6577013"/>
            <a:ext cx="3067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5F2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Fashion Boutique Online Store MVP | October 2023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Fashion Boutique Online Store - MVP Development Project</dc:title>
  <dc:subject>Fashion Boutique Online Store - MVP Development Project</dc:subject>
  <dc:creator>Kimi</dc:creator>
  <cp:lastModifiedBy>Kimi</cp:lastModifiedBy>
  <cp:revision>1</cp:revision>
  <dcterms:created xsi:type="dcterms:W3CDTF">2026-02-05T20:12:51Z</dcterms:created>
  <dcterms:modified xsi:type="dcterms:W3CDTF">2026-02-05T20:12:51Z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{"Label":"Fashion Boutique Online Store - MVP Development Project","ContentProducer":"001191110108MACG2KBH8F10000","ProduceID":"19c2f6ad-bc02-8cbc-8000-0000083690ab","ReservedCode1":"","ContentPropagator":"001191110108MACG2KBH8F20000","PropagateID":"19c2f6ad-bc02-8cbc-8000-0000083690ab","ReservedCode2":""}</vt:lpwstr>
  </property>
</Properties>
</file>